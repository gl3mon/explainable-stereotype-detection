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99" r:id="rId17"/>
    <p:sldId id="300" r:id="rId18"/>
    <p:sldId id="301" r:id="rId19"/>
    <p:sldId id="302" r:id="rId20"/>
    <p:sldId id="303" r:id="rId21"/>
    <p:sldId id="304" r:id="rId22"/>
    <p:sldId id="305" r:id="rId23"/>
    <p:sldId id="306" r:id="rId24"/>
    <p:sldId id="307" r:id="rId25"/>
    <p:sldId id="308" r:id="rId26"/>
    <p:sldId id="309" r:id="rId27"/>
    <p:sldId id="310" r:id="rId28"/>
    <p:sldId id="311" r:id="rId29"/>
    <p:sldId id="312" r:id="rId30"/>
    <p:sldId id="313" r:id="rId31"/>
    <p:sldId id="314" r:id="rId32"/>
    <p:sldId id="315" r:id="rId33"/>
    <p:sldId id="316" r:id="rId34"/>
    <p:sldId id="317" r:id="rId35"/>
    <p:sldId id="318" r:id="rId36"/>
    <p:sldId id="319" r:id="rId37"/>
    <p:sldId id="320" r:id="rId38"/>
    <p:sldId id="321" r:id="rId39"/>
    <p:sldId id="322"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7317" autoAdjust="0"/>
  </p:normalViewPr>
  <p:slideViewPr>
    <p:cSldViewPr snapToGrid="0">
      <p:cViewPr varScale="1">
        <p:scale>
          <a:sx n="96" d="100"/>
          <a:sy n="96" d="100"/>
        </p:scale>
        <p:origin x="1704"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c:v>
                </c:pt>
              </c:strCache>
            </c:strRef>
          </c:tx>
          <c:spPr>
            <a:solidFill>
              <a:srgbClr val="BCCCE8"/>
            </a:solidFill>
            <a:ln>
              <a:noFill/>
            </a:ln>
          </c:spPr>
          <c:cat>
            <c:strRef>
              <c:f>Sheet1!$A$2:$A$3</c:f>
              <c:strCache>
                <c:ptCount val="2"/>
                <c:pt idx="0">
                  <c:v>Accuracy</c:v>
                </c:pt>
                <c:pt idx="1">
                  <c:v>Macro F1</c:v>
                </c:pt>
              </c:strCache>
            </c:strRef>
          </c:cat>
          <c:val>
            <c:numRef>
              <c:f>Sheet1!$B$2:$B$3</c:f>
              <c:numCache>
                <c:formatCode>General</c:formatCode>
                <c:ptCount val="2"/>
                <c:pt idx="0">
                  <c:v>33.54430379746836</c:v>
                </c:pt>
                <c:pt idx="1">
                  <c:v>27.62751272962536</c:v>
                </c:pt>
              </c:numCache>
            </c:numRef>
          </c:val>
        </c:ser>
        <c:ser>
          <c:idx val="1"/>
          <c:order val="1"/>
          <c:tx>
            <c:strRef>
              <c:f>Sheet1!$C$1</c:f>
              <c:strCache>
                <c:ptCount val="1"/>
                <c:pt idx="0">
                  <c:v>Fine-tuned</c:v>
                </c:pt>
              </c:strCache>
            </c:strRef>
          </c:tx>
          <c:spPr>
            <a:solidFill>
              <a:srgbClr val="76A98B"/>
            </a:solidFill>
            <a:ln>
              <a:noFill/>
            </a:ln>
          </c:spPr>
          <c:cat>
            <c:strRef>
              <c:f>Sheet1!$A$2:$A$3</c:f>
              <c:strCache>
                <c:ptCount val="2"/>
                <c:pt idx="0">
                  <c:v>Accuracy</c:v>
                </c:pt>
                <c:pt idx="1">
                  <c:v>Macro F1</c:v>
                </c:pt>
              </c:strCache>
            </c:strRef>
          </c:cat>
          <c:val>
            <c:numRef>
              <c:f>Sheet1!$C$2:$C$3</c:f>
              <c:numCache>
                <c:formatCode>General</c:formatCode>
                <c:ptCount val="2"/>
                <c:pt idx="0">
                  <c:v>95.512082853855</c:v>
                </c:pt>
                <c:pt idx="1">
                  <c:v>95.5501984393447</c:v>
                </c:pt>
              </c:numCache>
            </c:numRef>
          </c:val>
        </c:ser>
        <c:dLbls>
          <c:numFmt formatCode="0.00&quot;%&quot;" sourceLinked="0"/>
          <c:txPr>
            <a:bodyPr/>
            <a:lstStyle/>
            <a:p>
              <a:pPr>
                <a:defRPr sz="1500">
                  <a:solidFill>
                    <a:srgbClr val="263343"/>
                  </a:solidFill>
                  <a:latin typeface="Calibri"/>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txPr>
          <a:bodyPr/>
          <a:lstStyle/>
          <a:p>
            <a:pPr>
              <a:defRPr sz="1700">
                <a:latin typeface="Calibri"/>
              </a:defRPr>
            </a:pPr>
          </a:p>
        </c:txPr>
        <c:crossAx val="-2113994440"/>
        <c:crosses val="autoZero"/>
        <c:auto val="1"/>
        <c:lblAlgn val="ctr"/>
        <c:lblOffset val="100"/>
        <c:noMultiLvlLbl val="0"/>
      </c:catAx>
      <c:valAx>
        <c:axId val="-2113994440"/>
        <c:scaling>
          <c:max val="100.0"/>
          <c:min val="0.0"/>
        </c:scaling>
        <c:delete val="0"/>
        <c:axPos val="l"/>
        <c:majorGridlines>
          <c:spPr>
            <a:ln>
              <a:solidFill>
                <a:srgbClr val="E7ECF1"/>
              </a:solidFill>
            </a:ln>
          </c:spPr>
        </c:majorGridlines>
        <c:numFmt formatCode="0&quot;%&quot;" sourceLinked="0"/>
        <c:majorTickMark val="out"/>
        <c:minorTickMark val="none"/>
        <c:tickLblPos val="nextTo"/>
        <c:txPr>
          <a:bodyPr/>
          <a:lstStyle/>
          <a:p>
            <a:pPr>
              <a:defRPr sz="1200"/>
            </a:pPr>
          </a:p>
        </c:txPr>
        <c:crossAx val="-2068027336"/>
        <c:crosses val="autoZero"/>
        <c:majorUnit val="25.0"/>
      </c:valAx>
    </c:plotArea>
    <c:legend>
      <c:legendPos val="b"/>
      <c:overlay val="0"/>
      <c:txPr>
        <a:bodyPr/>
        <a:lstStyle/>
        <a:p>
          <a:pPr>
            <a:defRPr sz="1600">
              <a:latin typeface="Calibri"/>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c:v>
                </c:pt>
              </c:strCache>
            </c:strRef>
          </c:tx>
          <c:spPr>
            <a:solidFill>
              <a:srgbClr val="BCCCE8"/>
            </a:solidFill>
            <a:ln>
              <a:noFill/>
            </a:ln>
          </c:spPr>
          <c:cat>
            <c:strRef>
              <c:f>Sheet1!$A$2:$A$3</c:f>
              <c:strCache>
                <c:ptCount val="2"/>
                <c:pt idx="0">
                  <c:v>Label accuracy</c:v>
                </c:pt>
                <c:pt idx="1">
                  <c:v>Label macro F1</c:v>
                </c:pt>
              </c:strCache>
            </c:strRef>
          </c:cat>
          <c:val>
            <c:numRef>
              <c:f>Sheet1!$B$2:$B$3</c:f>
              <c:numCache>
                <c:formatCode>General</c:formatCode>
                <c:ptCount val="2"/>
                <c:pt idx="0">
                  <c:v>34.46490218642118</c:v>
                </c:pt>
                <c:pt idx="1">
                  <c:v>28.082187698611015</c:v>
                </c:pt>
              </c:numCache>
            </c:numRef>
          </c:val>
        </c:ser>
        <c:ser>
          <c:idx val="1"/>
          <c:order val="1"/>
          <c:tx>
            <c:strRef>
              <c:f>Sheet1!$C$1</c:f>
              <c:strCache>
                <c:ptCount val="1"/>
                <c:pt idx="0">
                  <c:v>Fine-tuned</c:v>
                </c:pt>
              </c:strCache>
            </c:strRef>
          </c:tx>
          <c:spPr>
            <a:solidFill>
              <a:srgbClr val="76A98B"/>
            </a:solidFill>
            <a:ln>
              <a:noFill/>
            </a:ln>
          </c:spPr>
          <c:cat>
            <c:strRef>
              <c:f>Sheet1!$A$2:$A$3</c:f>
              <c:strCache>
                <c:ptCount val="2"/>
                <c:pt idx="0">
                  <c:v>Label accuracy</c:v>
                </c:pt>
                <c:pt idx="1">
                  <c:v>Label macro F1</c:v>
                </c:pt>
              </c:strCache>
            </c:strRef>
          </c:cat>
          <c:val>
            <c:numRef>
              <c:f>Sheet1!$C$2:$C$3</c:f>
              <c:numCache>
                <c:formatCode>General</c:formatCode>
                <c:ptCount val="2"/>
                <c:pt idx="0">
                  <c:v>93.61334867663982</c:v>
                </c:pt>
                <c:pt idx="1">
                  <c:v>93.64342638738864</c:v>
                </c:pt>
              </c:numCache>
            </c:numRef>
          </c:val>
        </c:ser>
        <c:dLbls>
          <c:numFmt formatCode="0.00&quot;%&quot;" sourceLinked="0"/>
          <c:txPr>
            <a:bodyPr/>
            <a:lstStyle/>
            <a:p>
              <a:pPr>
                <a:defRPr sz="1500">
                  <a:solidFill>
                    <a:srgbClr val="263343"/>
                  </a:solidFill>
                  <a:latin typeface="Calibri"/>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txPr>
          <a:bodyPr/>
          <a:lstStyle/>
          <a:p>
            <a:pPr>
              <a:defRPr sz="1700">
                <a:latin typeface="Calibri"/>
              </a:defRPr>
            </a:pPr>
          </a:p>
        </c:txPr>
        <c:crossAx val="-2113994440"/>
        <c:crosses val="autoZero"/>
        <c:auto val="1"/>
        <c:lblAlgn val="ctr"/>
        <c:lblOffset val="100"/>
        <c:noMultiLvlLbl val="0"/>
      </c:catAx>
      <c:valAx>
        <c:axId val="-2113994440"/>
        <c:scaling>
          <c:max val="100.0"/>
          <c:min val="0.0"/>
        </c:scaling>
        <c:delete val="0"/>
        <c:axPos val="l"/>
        <c:majorGridlines>
          <c:spPr>
            <a:ln>
              <a:solidFill>
                <a:srgbClr val="E7ECF1"/>
              </a:solidFill>
            </a:ln>
          </c:spPr>
        </c:majorGridlines>
        <c:numFmt formatCode="0&quot;%&quot;" sourceLinked="0"/>
        <c:majorTickMark val="out"/>
        <c:minorTickMark val="none"/>
        <c:tickLblPos val="nextTo"/>
        <c:txPr>
          <a:bodyPr/>
          <a:lstStyle/>
          <a:p>
            <a:pPr>
              <a:defRPr sz="1200"/>
            </a:pPr>
          </a:p>
        </c:txPr>
        <c:crossAx val="-2068027336"/>
        <c:crosses val="autoZero"/>
        <c:majorUnit val="25.0"/>
      </c:valAx>
    </c:plotArea>
    <c:legend>
      <c:legendPos val="b"/>
      <c:overlay val="0"/>
      <c:txPr>
        <a:bodyPr/>
        <a:lstStyle/>
        <a:p>
          <a:pPr>
            <a:defRPr sz="1600">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1FFFB8-1DD6-4435-808E-1D76E7AD0590}" type="datetimeFigureOut">
              <a:rPr lang="en-IN" smtClean="0"/>
              <a:t>24/09/26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892A09-5F36-416A-89C0-E370DBF6CA5C}" type="slidenum">
              <a:rPr lang="en-IN" smtClean="0"/>
              <a:t>‹#›</a:t>
            </a:fld>
            <a:endParaRPr lang="en-IN"/>
          </a:p>
        </p:txBody>
      </p:sp>
    </p:spTree>
    <p:extLst>
      <p:ext uri="{BB962C8B-B14F-4D97-AF65-F5344CB8AC3E}">
        <p14:creationId xmlns:p14="http://schemas.microsoft.com/office/powerpoint/2010/main" val="1336730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title is a working title. The presenter will add the approved title, student names, roll numbers, and guide name. The supplied template logo and institution footer are retained.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StereoDetect as a benchmark-based project. The dataset and definitions are prior work; this project compares model families, task adaptation, structured output, and diagnostic explanations.</a:t>
            </a:r>
          </a:p>
          <a:p/>
          <a:p>
            <a:r>
              <a:t>Sources:</a:t>
            </a:r>
          </a:p>
          <a:p>
            <a:r>
              <a:t>https://aclanthology.org/2025.findings-emnlp.216/</a:t>
            </a:r>
          </a:p>
          <a:p>
            <a:r>
              <a:t>data/README.md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StereoDetect supplies the five-class task and benchmark definitions. HEARTS supplies a related ALBERT-based binary stereotype detection and explainability approach. Its task and dataset differ from this project; its published scores are not mixed into the local comparison.</a:t>
            </a:r>
          </a:p>
          <a:p/>
          <a:p>
            <a:r>
              <a:t>Sources:</a:t>
            </a:r>
          </a:p>
          <a:p>
            <a:r>
              <a:t>https://aclanthology.org/2025.findings-emnlp.216/</a:t>
            </a:r>
          </a:p>
          <a:p>
            <a:r>
              <a:t>https://aclanthology.org/2025.ijcnlp-long.1/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describes public model backbones. The exact classifier fitting details for the MiniLM and Qwen3-Embedding baseline runs are not present in the supplied code; their scores are reported from DL-Review-2.docx. Later diagrams mark those task heads as schematic.</a:t>
            </a:r>
          </a:p>
          <a:p/>
          <a:p>
            <a:r>
              <a:t>Sources:</a:t>
            </a:r>
          </a:p>
          <a:p>
            <a:r>
              <a:t>https://arxiv.org/abs/1909.11942</a:t>
            </a:r>
          </a:p>
          <a:p>
            <a:r>
              <a:t>https://arxiv.org/abs/2412.13663</a:t>
            </a:r>
          </a:p>
          <a:p>
            <a:r>
              <a:t>https://arxiv.org/abs/2002.10957</a:t>
            </a:r>
          </a:p>
          <a:p>
            <a:r>
              <a:t>https://huggingface.co/sentence-transformers/all-MiniLM-L6-v2</a:t>
            </a:r>
          </a:p>
          <a:p>
            <a:r>
              <a:t>https://arxiv.org/abs/2506.05176</a:t>
            </a:r>
          </a:p>
          <a:p>
            <a:r>
              <a:t>https://huggingface.co/Qwen/Qwen3.5-2B</a:t>
            </a:r>
          </a:p>
          <a:p>
            <a:r>
              <a:t>https://arxiv.org/abs/2106.09685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these as project questions, not as claims that no earlier work exists. Dataset-specific label meanings make task adaptation worth measuring. The richer-input label task and sentence-only JSON task must be interpreted separately.</a:t>
            </a:r>
          </a:p>
          <a:p/>
          <a:p>
            <a:r>
              <a:t>Sources:</a:t>
            </a:r>
          </a:p>
          <a:p>
            <a:r>
              <a:t>https://aclanthology.org/2025.findings-emnlp.216/</a:t>
            </a:r>
          </a:p>
          <a:p>
            <a:r>
              <a:t>outputs/eval/qwen35_2b_base_nothinking_20261022_173617/labels/evaluation.json</a:t>
            </a:r>
          </a:p>
          <a:p>
            <a:r>
              <a:t>outputs/eval/qwen35_2b_base_nothinking_20261022_173617/json/evaluation.json</a:t>
            </a:r>
          </a:p>
          <a:p>
            <a:r>
              <a:t>outputs/eval/adapter_test/evaluation.json</a:t>
            </a:r>
          </a:p>
          <a:p>
            <a:r>
              <a:t>outputs/eval/json_test/evaluation.json</a:t>
            </a:r>
          </a:p>
          <a:p>
            <a:r>
              <a:t>outputs/albert_stereodetect/evaluation.json</a:t>
            </a:r>
          </a:p>
          <a:p>
            <a:r>
              <a:t>outputs/modernbert_large_lr3e5_warmup30_wd001_ep3_seed3407/evaluation.json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label task is conditioned on Category, Target, and Sentence. The structured task only sees Sentence and predicts all three output fields. Category and target are never fed as gold inputs in JSON generation. All model evaluation uses the existing 1,738-example test split. Base denotes the named Qwen checkpoint without a task-specific LoRA adapter.</a:t>
            </a:r>
          </a:p>
          <a:p/>
          <a:p>
            <a:r>
              <a:t>Sources:</a:t>
            </a:r>
          </a:p>
          <a:p>
            <a:r>
              <a:t>outputs/eval/qwen35_2b_base_nothinking_20261022_173617/labels/evaluation.json</a:t>
            </a:r>
          </a:p>
          <a:p>
            <a:r>
              <a:t>outputs/eval/adapter_test/evaluation.json</a:t>
            </a:r>
          </a:p>
          <a:p>
            <a:r>
              <a:t>outputs/eval/qwen35_2b_base_nothinking_20261022_173617/json/evaluation.json</a:t>
            </a:r>
          </a:p>
          <a:p>
            <a:r>
              <a:t>outputs/eval/json_test/evaluation.json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is split before model training. Validation selects checkpoints; held-out test evaluation reports task-specific scores. Explanations are produced for saved ALBERT and ModernBERT-large classifiers. Public-backbone baseline scores are retained from the review document.</a:t>
            </a:r>
          </a:p>
          <a:p/>
          <a:p>
            <a:r>
              <a:t>Sources:</a:t>
            </a:r>
          </a:p>
          <a:p>
            <a:r>
              <a:t>src/stereodetect/</a:t>
            </a:r>
          </a:p>
          <a:p>
            <a:r>
              <a:t>data/README.md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published all-MiniLM-L6-v2 backbone uses six transformer layers, 384-dimensional hidden states, mean pooling, and normalized sentence embeddings. The dashed task stage is schematic: the supplied review records its five-class score, but does not include the downstream classifier implementation. Do not imply that a particular classifier or training recipe was verified.</a:t>
            </a:r>
          </a:p>
          <a:p/>
          <a:p>
            <a:r>
              <a:t>Sources:</a:t>
            </a:r>
          </a:p>
          <a:p>
            <a:r>
              <a:t>https://arxiv.org/abs/2002.10957</a:t>
            </a:r>
          </a:p>
          <a:p>
            <a:r>
              <a:t>https://huggingface.co/sentence-transformers/all-MiniLM-L6-v2</a:t>
            </a:r>
          </a:p>
          <a:p>
            <a:r>
              <a:t>presentation/DL-Review-2.docx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Qwen3-Embedding-0.6B uses a dense Qwen3 decoder backbone with 28 layers. Its official model extracts a final-token representation and supports an embedding dimension up to 1,024. The supplied materials report a five-class baseline score but omit the downstream classifier details, so that stage is explicitly schematic.</a:t>
            </a:r>
          </a:p>
          <a:p/>
          <a:p>
            <a:r>
              <a:t>Sources:</a:t>
            </a:r>
          </a:p>
          <a:p>
            <a:r>
              <a:t>https://arxiv.org/abs/2506.05176</a:t>
            </a:r>
          </a:p>
          <a:p>
            <a:r>
              <a:t>https://huggingface.co/Qwen/Qwen3-Embedding-0.6B</a:t>
            </a:r>
          </a:p>
          <a:p>
            <a:r>
              <a:t>presentation/DL-Review-2.docx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ALBERT factorizes token embeddings and shares parameters across repeated transformer layers. The local classifier consumes Sentence only, applies the ALBERT pooler to the classification token, and produces five label logits. Category and Target are metadata, not model inputs. This differs from the wording in one row of the supplied review document; the diagram follows the actual code and run configuration.</a:t>
            </a:r>
          </a:p>
          <a:p/>
          <a:p>
            <a:r>
              <a:t>Sources:</a:t>
            </a:r>
          </a:p>
          <a:p>
            <a:r>
              <a:t>https://arxiv.org/abs/1909.11942</a:t>
            </a:r>
          </a:p>
          <a:p>
            <a:r>
              <a:t>src/stereodetect/training/albert.py</a:t>
            </a:r>
          </a:p>
          <a:p>
            <a:r>
              <a:t>outputs/albert_stereodetect/model/config.json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the large variant is used throughout this deck. The saved configuration has 28 encoder layers, hidden width 1,024, local attention width 128, and global attention every third layer. The classification pooler is mean pooling in the saved configuration; it is not a CLS-only head. RoPE and GeGLU are public backbone design features. The training settings shown are for the additional saved large-model run, rather than an inferred recipe for the earlier review score.</a:t>
            </a:r>
          </a:p>
          <a:p/>
          <a:p>
            <a:r>
              <a:t>Sources:</a:t>
            </a:r>
          </a:p>
          <a:p>
            <a:r>
              <a:t>https://arxiv.org/abs/2412.13663</a:t>
            </a:r>
          </a:p>
          <a:p>
            <a:r>
              <a:t>outputs/modernbert_large_lr3e5_warmup30_wd001_ep3_seed3407/model/config.json</a:t>
            </a:r>
          </a:p>
          <a:p>
            <a:r>
              <a:t>src/stereodetect/training/modernbert.py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uses only the language path of the conditional-generation model. The official 2B text configuration contains 24 layers arranged in six repetitions of three linear-attention layers followed by one full-attention layer. Gated DeltaNet is used for the linear-attention path. LoRA is trained separately for the label and JSON tasks; the adapters are not interchangeable. Rank 16, alpha 32, dropout 0.05 are taken from the implementation. No vision input is used.</a:t>
            </a:r>
          </a:p>
          <a:p/>
          <a:p>
            <a:r>
              <a:t>Sources:</a:t>
            </a:r>
          </a:p>
          <a:p>
            <a:r>
              <a:t>https://huggingface.co/Qwen/Qwen3.5-2B</a:t>
            </a:r>
          </a:p>
          <a:p>
            <a:r>
              <a:t>https://huggingface.co/Qwen/Qwen3.5-2B/raw/main/config.json</a:t>
            </a:r>
          </a:p>
          <a:p>
            <a:r>
              <a:t>https://arxiv.org/abs/2106.09685</a:t>
            </a:r>
          </a:p>
          <a:p>
            <a:r>
              <a:t>src/stereodetect/models/qwen/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explainers treat each word occurrence as a feature and replace absent words with the tokenizer mask token. LIME uses 1,000 perturbations. Kernel SHAP uses an all-masked baseline and up to 512 coalitions with no L1 feature selection. Predictions are made on the same perturbed strings by the saved encoder classifier. Explanations concern class probabilities, not moral judgments about words or calibrated prediction confidence. The 100-example sample is deliberately diagnostic and not representative test statistics.</a:t>
            </a:r>
          </a:p>
          <a:p/>
          <a:p>
            <a:r>
              <a:t>Sources:</a:t>
            </a:r>
          </a:p>
          <a:p>
            <a:r>
              <a:t>https://aclanthology.org/2025.ijcnlp-long.1/</a:t>
            </a:r>
          </a:p>
          <a:p>
            <a:r>
              <a:t>https://arxiv.org/abs/1602.04938</a:t>
            </a:r>
          </a:p>
          <a:p>
            <a:r>
              <a:t>https://arxiv.org/abs/1705.07874</a:t>
            </a:r>
          </a:p>
          <a:p>
            <a:r>
              <a:t>src/stereodetect/explanations/encoder.py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local comparisons use the same stored train/validation/test splits. The test file hash matches the new base benchmark. Training configurations below are for runs that have saved artifacts, including the additional ModernBERT-large run. Earlier review-only embedding baselines have no supplied fitting recipe. Fine-tuned checkpoints are selected using validation data. Base runs use vLLM; fine-tuned standalone evaluations use Transformers/PEFT. Runtime and throughput are therefore not compared as controlled measurements.</a:t>
            </a:r>
          </a:p>
          <a:p/>
          <a:p>
            <a:r>
              <a:t>Sources:</a:t>
            </a:r>
          </a:p>
          <a:p>
            <a:r>
              <a:t>data/train.csv</a:t>
            </a:r>
          </a:p>
          <a:p>
            <a:r>
              <a:t>data/val.csv</a:t>
            </a:r>
          </a:p>
          <a:p>
            <a:r>
              <a:t>data/test.csv</a:t>
            </a:r>
          </a:p>
          <a:p>
            <a:r>
              <a:t>outputs/albert_stereodetect/run_config.json</a:t>
            </a:r>
          </a:p>
          <a:p>
            <a:r>
              <a:t>outputs/modernbert_large_lr3e5_warmup30_wd001_ep3_seed3407/run_config.json</a:t>
            </a:r>
          </a:p>
          <a:p>
            <a:r>
              <a:t>src/stereodetect/training/qwen_labels.py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MiniLM, Qwen3-Embedding and the first ModernBERT-large row are the rounded figures in DL-Review-2.docx. The user identifies that review model as ModernBERT-large. The second ModernBERT-large row is a different, independently saved run, not a replacement for the review score. ALBERT and Qwen values are from standalone saved evaluations. The highest numerical score uses Category and Target as inputs, so this is a descriptive table and not an input-matched model ranking. All percentages are rounded to two decimals.</a:t>
            </a:r>
          </a:p>
          <a:p/>
          <a:p>
            <a:r>
              <a:t>Sources:</a:t>
            </a:r>
          </a:p>
          <a:p>
            <a:r>
              <a:t>presentation/DL-Review-2.docx</a:t>
            </a:r>
          </a:p>
          <a:p>
            <a:r>
              <a:t>outputs/eval/qwen35_2b_base_nothinking_20261022_173617/labels/evaluation.json</a:t>
            </a:r>
          </a:p>
          <a:p>
            <a:r>
              <a:t>outputs/eval/qwen35_2b_base_nothinking_20261022_173617/json/evaluation.json</a:t>
            </a:r>
          </a:p>
          <a:p>
            <a:r>
              <a:t>outputs/eval/adapter_test/evaluation.json</a:t>
            </a:r>
          </a:p>
          <a:p>
            <a:r>
              <a:t>outputs/eval/json_test/evaluation.json</a:t>
            </a:r>
          </a:p>
          <a:p>
            <a:r>
              <a:t>outputs/albert_stereodetect/evaluation.json</a:t>
            </a:r>
          </a:p>
          <a:p>
            <a:r>
              <a:t>outputs/modernbert_large_lr3e5_warmup30_wd001_ep3_seed3407/evaluation.json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runs use Category, Target and Sentence, and choose among the five numeric label-token logits. The base benchmark evaluates the Qwen/Qwen3.5-2B checkpoint without a task adapter; the fine-tuned run loads outputs/qwen35_2b_stereodetect/adapter. Accuracy gain is computed in percentage points, not relative percent. Engines differ (vLLM versus Transformers/PEFT), so this is an observed task-adaptation comparison rather than an isolated engine-controlled ablation.</a:t>
            </a:r>
          </a:p>
          <a:p/>
          <a:p>
            <a:r>
              <a:t>Sources:</a:t>
            </a:r>
          </a:p>
          <a:p>
            <a:r>
              <a:t>outputs/eval/qwen35_2b_base_nothinking_20261022_173617/labels/evaluation.json</a:t>
            </a:r>
          </a:p>
          <a:p>
            <a:r>
              <a:t>outputs/eval/adapter_test/evaluation.json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runs receive only Sentence and generate category, target and label JSON. This chart scores the label field only; it does not mean all fields are correct. Greedy generation and a 96-token cap are used in the saved task configuration. The base run has 599 correct labels, the adapter run 1,627. Both saved evaluations record zero invalid labels. The distinct complete-JSON result appears on the next slide.</a:t>
            </a:r>
          </a:p>
          <a:p/>
          <a:p>
            <a:r>
              <a:t>Sources:</a:t>
            </a:r>
          </a:p>
          <a:p>
            <a:r>
              <a:t>outputs/eval/qwen35_2b_base_nothinking_20261022_173617/json/evaluation.json</a:t>
            </a:r>
          </a:p>
          <a:p>
            <a:r>
              <a:t>outputs/eval/json_test/evaluation.json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saved completion is aligned with its source test row. Category is compared after trimming, case folding and collapsing whitespace. Target uses exact string comparison, including capitalization and underscores. Label must be an integer matching the gold label. Complete JSON accuracy requires all three fields to be correct for the same example. Both sets contain valid JSON objects for all 1,738 rows, so low base accuracy is semantic rather than just JSON formatting. The fine-tuned all-field count agrees with the existing field_validation.json. Base field metrics were computed from saved completions while preparing this deck; no model was rerun.</a:t>
            </a:r>
          </a:p>
          <a:p/>
          <a:p>
            <a:r>
              <a:t>Sources:</a:t>
            </a:r>
          </a:p>
          <a:p>
            <a:r>
              <a:t>outputs/eval/qwen35_2b_base_nothinking_20261022_173617/json/completions.jsonl</a:t>
            </a:r>
          </a:p>
          <a:p>
            <a:r>
              <a:t>outputs/eval/json_test/completions.jsonl</a:t>
            </a:r>
          </a:p>
          <a:p>
            <a:r>
              <a:t>outputs/eval/json_test/field_validation.json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classes have lower F1 than the neutrality and bias classes in all three of these saved runs. In the fine-tuned label model, 25 anti-stereotype examples become stereotype predictions, and 48 stereotypes become anti-stereotype predictions: 73 of the 78 test mistakes are swaps between these classes. This is a count from the saved confusion matrix, not a linguistic causal explanation. The ModernBERT-large column uses the saved additional run, not the earlier review score.</a:t>
            </a:r>
          </a:p>
          <a:p/>
          <a:p>
            <a:r>
              <a:t>Sources:</a:t>
            </a:r>
          </a:p>
          <a:p>
            <a:r>
              <a:t>outputs/eval/adapter_test/evaluation.json</a:t>
            </a:r>
          </a:p>
          <a:p>
            <a:r>
              <a:t>outputs/eval/json_test/evaluation.json</a:t>
            </a:r>
          </a:p>
          <a:p>
            <a:r>
              <a:t>outputs/modernbert_large_lr3e5_warmup30_wd001_ep3_seed3407/evaluation.json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demonstration replays saved responses for test index 0 and is not a fresh model inference. Dataset annotation: Category Neutral, Target Neutral, Label 2. The base model instead targets dog and predicts class 3. The task adapter recovers the annotated neutral target and class 2. This is a single illustration rather than an estimate of overall accuracy.</a:t>
            </a:r>
          </a:p>
          <a:p/>
          <a:p>
            <a:r>
              <a:t>Sources:</a:t>
            </a:r>
          </a:p>
          <a:p>
            <a:r>
              <a:t>outputs/eval/qwen35_2b_base_nothinking_20261022_173617/json/completions.jsonl</a:t>
            </a:r>
          </a:p>
          <a:p>
            <a:r>
              <a:t>outputs/eval/json_test/completions.jsonl</a:t>
            </a:r>
          </a:p>
          <a:p>
            <a:r>
              <a:t>data/test.csv</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saved diagnostic example: test index 1713, Producers are businesslike. Both gold label and prediction are class 1 (Stereotype). Bars use the saved LIME and SHAP scores for that predicted class. These are different explanation methods on the same word positions, not independent word probabilities. SHAP contribution for businesslike is 0.6305265 and LIME weight 0.6884328. Removing the top-ranked word drops the class score by 0.5773495. Raw softmax scores are uncalibrated; no correctness confidence is inferred. A hand-selected example is not a population benchmark.</a:t>
            </a:r>
          </a:p>
          <a:p/>
          <a:p>
            <a:r>
              <a:t>Sources:</a:t>
            </a:r>
          </a:p>
          <a:p>
            <a:r>
              <a:t>outputs/modernbert_large_lr3e5_warmup30_wd001_ep3_seed3407/explanations/explanations.jsonl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measured outcomes without implying an input-controlled ranking between label and JSON tasks. Qwen label accuracy is 95.51% with Category and Target supplied; JSON label accuracy is 93.61% from Sentence only. Complete-JSON accuracy is 92.87%. Fine-tuning substantially improves both tasks over the no-adapter checkpoint in these recorded runs. Future work should use matched engines, repeated seeds, calibration, error analysis of class 0/1, and external-domain evaluation. Word-level attribution is a diagnostic and does not certify label correctness.</a:t>
            </a:r>
          </a:p>
          <a:p/>
          <a:p>
            <a:r>
              <a:t>Sources:</a:t>
            </a:r>
          </a:p>
          <a:p>
            <a:r>
              <a:t>outputs/eval/qwen35_2b_base_nothinking_20261022_173617/labels/evaluation.json</a:t>
            </a:r>
          </a:p>
          <a:p>
            <a:r>
              <a:t>outputs/eval/adapter_test/evaluation.json</a:t>
            </a:r>
          </a:p>
          <a:p>
            <a:r>
              <a:t>outputs/eval/qwen35_2b_base_nothinking_20261022_173617/json/evaluation.json</a:t>
            </a:r>
          </a:p>
          <a:p>
            <a:r>
              <a:t>outputs/eval/json_test/evaluation.json</a:t>
            </a:r>
          </a:p>
          <a:p>
            <a:r>
              <a:t>outputs/modernbert_large_lr3e5_warmup30_wd001_ep3_seed3407/explanations/explanations.jsonl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model descriptions are separated from local experimental results. Local results are traceable to repository paths in the corresponding speaker notes. All public links were consulted on October 22, 2026.</a:t>
            </a:r>
          </a:p>
          <a:p/>
          <a:p>
            <a:r>
              <a:t>Sources:</a:t>
            </a:r>
          </a:p>
          <a:p>
            <a:r>
              <a:t>https://aclanthology.org/2025.findings-emnlp.216/</a:t>
            </a:r>
          </a:p>
          <a:p>
            <a:r>
              <a:t>https://aclanthology.org/2025.ijcnlp-long.1/</a:t>
            </a:r>
          </a:p>
          <a:p>
            <a:r>
              <a:t>https://arxiv.org/abs/1909.11942</a:t>
            </a:r>
          </a:p>
          <a:p>
            <a:r>
              <a:t>https://arxiv.org/abs/2412.13663</a:t>
            </a:r>
          </a:p>
          <a:p>
            <a:r>
              <a:t>https://arxiv.org/abs/2002.10957</a:t>
            </a:r>
          </a:p>
          <a:p>
            <a:r>
              <a:t>https://huggingface.co/sentence-transformers/all-MiniLM-L6-v2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model descriptions are separated from local experimental results. Local results are traceable to repository paths in the corresponding speaker notes. All public links were consulted on October 22, 2026.</a:t>
            </a:r>
          </a:p>
          <a:p/>
          <a:p>
            <a:r>
              <a:t>Sources:</a:t>
            </a:r>
          </a:p>
          <a:p>
            <a:r>
              <a:t>https://arxiv.org/abs/2506.05176</a:t>
            </a:r>
          </a:p>
          <a:p>
            <a:r>
              <a:t>https://huggingface.co/Qwen/Qwen3.5-2B</a:t>
            </a:r>
          </a:p>
          <a:p>
            <a:r>
              <a:t>https://arxiv.org/abs/2106.09685</a:t>
            </a:r>
          </a:p>
          <a:p>
            <a:r>
              <a:t>https://arxiv.org/abs/1602.04938</a:t>
            </a:r>
          </a:p>
          <a:p>
            <a:r>
              <a:t>https://arxiv.org/abs/1705.07874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9B47E-7FD2-4F7F-9381-C4308D2587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112F421-AC29-47BD-8892-41909CF195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79CFB46-51B2-43F8-B3E5-F10413A22C4E}"/>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5" name="Footer Placeholder 4">
            <a:extLst>
              <a:ext uri="{FF2B5EF4-FFF2-40B4-BE49-F238E27FC236}">
                <a16:creationId xmlns:a16="http://schemas.microsoft.com/office/drawing/2014/main" id="{1E93CC8D-DF4F-4537-888A-8EE6EA88B2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83F124-D10F-42EF-94F2-7FBC9565EAF7}"/>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2897035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FAF84-1226-4033-A36F-9CBF8F50CB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0402083-37E7-4972-9BD5-DD44F1A3C5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32F544-050C-4AB9-9095-D9D49AAD20A4}"/>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5" name="Footer Placeholder 4">
            <a:extLst>
              <a:ext uri="{FF2B5EF4-FFF2-40B4-BE49-F238E27FC236}">
                <a16:creationId xmlns:a16="http://schemas.microsoft.com/office/drawing/2014/main" id="{39DA83C4-112A-4972-9490-E0C0BFDA0B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97559D-8902-4FE2-8DC9-183BD5B086A1}"/>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3100233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1EF2A-5C6B-4555-B136-8C1C3CF3E7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BA2A057-50B5-4DD0-8F0A-F2D8D5D2BC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C4B264-D1AA-42A0-AFED-4F6CAB8BF12D}"/>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5" name="Footer Placeholder 4">
            <a:extLst>
              <a:ext uri="{FF2B5EF4-FFF2-40B4-BE49-F238E27FC236}">
                <a16:creationId xmlns:a16="http://schemas.microsoft.com/office/drawing/2014/main" id="{0207B74F-FC03-4A6C-A8E2-A0A5389178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1910F8-597D-4792-BAC8-A78F4A425F79}"/>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3767809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D0B0B-FB76-4571-8977-8B3C08C5D6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F7BF79-B272-4FC4-9106-632C8D23CA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08AF5FA-67E8-4EBE-A468-53B751D6CD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37AA619-C884-49E4-BAB7-9893F9220280}"/>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6" name="Footer Placeholder 5">
            <a:extLst>
              <a:ext uri="{FF2B5EF4-FFF2-40B4-BE49-F238E27FC236}">
                <a16:creationId xmlns:a16="http://schemas.microsoft.com/office/drawing/2014/main" id="{2075F6F1-CD3D-4683-B56A-CA4563B568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C63B8C-7D18-4E19-8978-D5C6EBA98754}"/>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3472600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77B01-8C23-4336-B1C3-FF72D68AADC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BB695C1-E1E9-4A98-937E-ED1C020AD2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D75512-181D-4D77-8CAF-A5144E14BF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C35E4DC-DF2F-4F4A-8F3F-9A0A93E622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2C58E7-FA62-4552-96A3-2A99033860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998AE32-9603-437D-8BF7-0E77546FC8D6}"/>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8" name="Footer Placeholder 7">
            <a:extLst>
              <a:ext uri="{FF2B5EF4-FFF2-40B4-BE49-F238E27FC236}">
                <a16:creationId xmlns:a16="http://schemas.microsoft.com/office/drawing/2014/main" id="{A701969E-3CD1-4F9E-A7E7-B9B4EF8A0C4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597F010-A6F0-4DF8-A842-5E31FC018D46}"/>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43196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E5A20-2A9F-4D6C-943E-3346E4B8802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866C692-C827-4E55-AFA5-76012CD1DAFF}"/>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4" name="Footer Placeholder 3">
            <a:extLst>
              <a:ext uri="{FF2B5EF4-FFF2-40B4-BE49-F238E27FC236}">
                <a16:creationId xmlns:a16="http://schemas.microsoft.com/office/drawing/2014/main" id="{C49F3284-9696-48B8-984D-EF44AFF57AF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E3B2182-6056-4315-85AF-6B170A3BD3F2}"/>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1171896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3127D1-DB28-4E2E-AB99-81CE7B31D5D9}"/>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3" name="Footer Placeholder 2">
            <a:extLst>
              <a:ext uri="{FF2B5EF4-FFF2-40B4-BE49-F238E27FC236}">
                <a16:creationId xmlns:a16="http://schemas.microsoft.com/office/drawing/2014/main" id="{B6D74E91-7F9D-445A-9D5A-D936D47F613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F7EE57-433A-40AE-9D93-D33BBB3E714A}"/>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2411966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5A1A1-4F5E-44F9-B94A-C250BE5551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90D6C8D-A700-4FCE-B56C-3A9ABC2F10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410EC8-7B17-4C9B-9964-44916E0219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220A7F-94E3-4E5B-BFA0-48322E2FCDBF}"/>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6" name="Footer Placeholder 5">
            <a:extLst>
              <a:ext uri="{FF2B5EF4-FFF2-40B4-BE49-F238E27FC236}">
                <a16:creationId xmlns:a16="http://schemas.microsoft.com/office/drawing/2014/main" id="{27E378A7-2C2A-4383-8653-F4DA3178C6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88D93A-9480-4E63-8798-CD24AF0A91EF}"/>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671447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F6621-ECC8-4152-9057-81E2FDAEC2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93B2BEA-9AD4-4A0C-A422-54C36BB840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6126CA7-371A-43DB-8F97-FAC204E225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1BBC57-3C07-4506-B4A1-832FDC2AC2BA}"/>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6" name="Footer Placeholder 5">
            <a:extLst>
              <a:ext uri="{FF2B5EF4-FFF2-40B4-BE49-F238E27FC236}">
                <a16:creationId xmlns:a16="http://schemas.microsoft.com/office/drawing/2014/main" id="{751FE5C9-2CC7-4F1D-BC56-0A551A41B6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8682B3-FAFE-491A-8C8A-4FCDBD771F21}"/>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961868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54D76-6DBE-44B7-BA10-CABAE4DC19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D751C6-4C65-4D0C-803C-D873E75728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E3335A-CD1D-48A4-BBF1-DFE274F90F02}"/>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5" name="Footer Placeholder 4">
            <a:extLst>
              <a:ext uri="{FF2B5EF4-FFF2-40B4-BE49-F238E27FC236}">
                <a16:creationId xmlns:a16="http://schemas.microsoft.com/office/drawing/2014/main" id="{C2ED7192-B6E0-4D23-B0F4-2ED81C2414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E35068-BFD5-4BFC-983A-200964FB6DC1}"/>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3679487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EE84AD-9F49-48BE-9C47-E797DEF6033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AD3D05-FE87-4F0F-8AD2-D3A0256B3B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5D02F6-DF5D-4A18-81E3-7798A49C0063}"/>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5" name="Footer Placeholder 4">
            <a:extLst>
              <a:ext uri="{FF2B5EF4-FFF2-40B4-BE49-F238E27FC236}">
                <a16:creationId xmlns:a16="http://schemas.microsoft.com/office/drawing/2014/main" id="{CAB3DD7E-1A38-4F0A-8410-AFE04DC7FD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FA0932-B146-44C0-800B-F7D153BAA7DD}"/>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403258513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695D76-3F76-4440-BE44-E11DC8D099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A57BFB-E7FD-43C8-A3D2-454449D5C4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D78B87-4569-4FAE-AC1E-60B780FF43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9F855A-7651-4E31-8BB5-9B7BFCF86767}" type="datetimeFigureOut">
              <a:rPr lang="en-IN" smtClean="0"/>
              <a:t>24/09/26</a:t>
            </a:fld>
            <a:endParaRPr lang="en-IN"/>
          </a:p>
        </p:txBody>
      </p:sp>
      <p:sp>
        <p:nvSpPr>
          <p:cNvPr id="5" name="Footer Placeholder 4">
            <a:extLst>
              <a:ext uri="{FF2B5EF4-FFF2-40B4-BE49-F238E27FC236}">
                <a16:creationId xmlns:a16="http://schemas.microsoft.com/office/drawing/2014/main" id="{D429C498-524F-43DB-8E60-5093D891D8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ACA8424-BFE9-4B1D-B213-4F570AB349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8702D1-3802-43A1-9CC1-AD6315A316D9}" type="slidenum">
              <a:rPr lang="en-IN" smtClean="0"/>
              <a:t>‹#›</a:t>
            </a:fld>
            <a:endParaRPr lang="en-IN"/>
          </a:p>
        </p:txBody>
      </p:sp>
    </p:spTree>
    <p:extLst>
      <p:ext uri="{BB962C8B-B14F-4D97-AF65-F5344CB8AC3E}">
        <p14:creationId xmlns:p14="http://schemas.microsoft.com/office/powerpoint/2010/main" val="74050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6.xml"/><Relationship Id="rId4" Type="http://schemas.openxmlformats.org/officeDocument/2006/relationships/chart" Target="../charts/char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7.xml"/><Relationship Id="rId4" Type="http://schemas.openxmlformats.org/officeDocument/2006/relationships/chart" Target="../charts/char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3.xml"/><Relationship Id="rId4" Type="http://schemas.openxmlformats.org/officeDocument/2006/relationships/hyperlink" Target="https://aclanthology.org/2025.findings-emnlp.216/" TargetMode="External"/><Relationship Id="rId5" Type="http://schemas.openxmlformats.org/officeDocument/2006/relationships/hyperlink" Target="https://aclanthology.org/2025.ijcnlp-long.1/" TargetMode="External"/><Relationship Id="rId6" Type="http://schemas.openxmlformats.org/officeDocument/2006/relationships/hyperlink" Target="https://arxiv.org/abs/1909.11942" TargetMode="External"/><Relationship Id="rId7" Type="http://schemas.openxmlformats.org/officeDocument/2006/relationships/hyperlink" Target="https://arxiv.org/abs/2412.13663" TargetMode="External"/><Relationship Id="rId8" Type="http://schemas.openxmlformats.org/officeDocument/2006/relationships/hyperlink" Target="https://arxiv.org/abs/2002.10957" TargetMode="External"/><Relationship Id="rId9" Type="http://schemas.openxmlformats.org/officeDocument/2006/relationships/hyperlink" Target="https://huggingface.co/sentence-transformers/all-MiniLM-L6-v2"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4.xml"/><Relationship Id="rId4" Type="http://schemas.openxmlformats.org/officeDocument/2006/relationships/hyperlink" Target="https://arxiv.org/abs/2506.05176" TargetMode="External"/><Relationship Id="rId5" Type="http://schemas.openxmlformats.org/officeDocument/2006/relationships/hyperlink" Target="https://huggingface.co/Qwen/Qwen3.5-2B" TargetMode="External"/><Relationship Id="rId6" Type="http://schemas.openxmlformats.org/officeDocument/2006/relationships/hyperlink" Target="https://arxiv.org/abs/2106.09685" TargetMode="External"/><Relationship Id="rId7" Type="http://schemas.openxmlformats.org/officeDocument/2006/relationships/hyperlink" Target="https://arxiv.org/abs/1602.04938" TargetMode="External"/><Relationship Id="rId8" Type="http://schemas.openxmlformats.org/officeDocument/2006/relationships/hyperlink" Target="https://arxiv.org/abs/1705.07874" TargetMode="Externa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3600">
                <a:latin typeface="Calibri"/>
              </a:defRPr>
            </a:pPr>
            <a:r>
              <a:t>StereoDetect</a:t>
            </a:r>
            <a:br/>
            <a:r>
              <a:t>Explainable Stereotype Detection</a:t>
            </a:r>
          </a:p>
        </p:txBody>
      </p:sp>
      <p:sp>
        <p:nvSpPr>
          <p:cNvPr id="3" name="Subtitle 2"/>
          <p:cNvSpPr>
            <a:spLocks noGrp="1"/>
          </p:cNvSpPr>
          <p:nvPr>
            <p:ph type="subTitle" idx="1"/>
          </p:nvPr>
        </p:nvSpPr>
        <p:spPr/>
        <p:txBody>
          <a:bodyPr/>
          <a:lstStyle/>
          <a:p>
            <a:pPr>
              <a:defRPr sz="2400">
                <a:latin typeface="Calibri"/>
              </a:defRPr>
            </a:pPr>
            <a:r>
              <a:t>BY</a:t>
            </a:r>
            <a:br/>
            <a:r>
              <a:t>[Student names and roll numbers]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23813"/>
            <a:ext cx="1751379" cy="815788"/>
          </a:xfrm>
          <a:prstGeom prst="rect">
            <a:avLst/>
          </a:prstGeom>
        </p:spPr>
      </p:pic>
      <p:sp>
        <p:nvSpPr>
          <p:cNvPr id="7" name="Footer Placeholder 6"/>
          <p:cNvSpPr>
            <a:spLocks noGrp="1"/>
          </p:cNvSpPr>
          <p:nvPr>
            <p:ph type="ftr" sz="quarter" idx="11"/>
          </p:nvPr>
        </p:nvSpPr>
        <p:spPr/>
        <p:txBody>
          <a:bodyPr/>
          <a:lstStyle/>
          <a:p>
            <a:r>
              <a:rPr lang="en-US"/>
              <a:t>Indian Institute of Information Technology Kottayam</a:t>
            </a:r>
          </a:p>
        </p:txBody>
      </p:sp>
      <p:sp>
        <p:nvSpPr>
          <p:cNvPr id="6" name="Subtitle 2"/>
          <p:cNvSpPr txBox="1">
            <a:spLocks/>
          </p:cNvSpPr>
          <p:nvPr/>
        </p:nvSpPr>
        <p:spPr>
          <a:xfrm>
            <a:off x="7865175" y="5443347"/>
            <a:ext cx="3474492" cy="102910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defRPr sz="2200">
                <a:latin typeface="Calibri"/>
              </a:defRPr>
            </a:pPr>
            <a:r>
              <a:t>Guided By,</a:t>
            </a:r>
            <a:br/>
            <a:r>
              <a:t>[Guide name]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Five labels capture different forms of group-related language</a:t>
            </a:r>
          </a:p>
        </p:txBody>
      </p:sp>
      <p:sp>
        <p:nvSpPr>
          <p:cNvPr id="12" name="Rounded Rectangle 11"/>
          <p:cNvSpPr/>
          <p:nvPr/>
        </p:nvSpPr>
        <p:spPr>
          <a:xfrm>
            <a:off x="932688" y="1901952"/>
            <a:ext cx="4992624" cy="1700784"/>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2048256"/>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Why this task matters</a:t>
            </a:r>
          </a:p>
        </p:txBody>
      </p:sp>
      <p:sp>
        <p:nvSpPr>
          <p:cNvPr id="14" name="TextBox 13"/>
          <p:cNvSpPr txBox="1"/>
          <p:nvPr/>
        </p:nvSpPr>
        <p:spPr>
          <a:xfrm>
            <a:off x="1115568" y="2624328"/>
            <a:ext cx="4626864" cy="859536"/>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Group references and generalizations require context-sensitive classification.</a:t>
            </a:r>
          </a:p>
        </p:txBody>
      </p:sp>
      <p:sp>
        <p:nvSpPr>
          <p:cNvPr id="15" name="Rounded Rectangle 14"/>
          <p:cNvSpPr/>
          <p:nvPr/>
        </p:nvSpPr>
        <p:spPr>
          <a:xfrm>
            <a:off x="6144768" y="1901952"/>
            <a:ext cx="5093208" cy="1700784"/>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7648" y="2048256"/>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Project focus</a:t>
            </a:r>
          </a:p>
        </p:txBody>
      </p:sp>
      <p:sp>
        <p:nvSpPr>
          <p:cNvPr id="17" name="TextBox 16"/>
          <p:cNvSpPr txBox="1"/>
          <p:nvPr/>
        </p:nvSpPr>
        <p:spPr>
          <a:xfrm>
            <a:off x="6327648" y="2624328"/>
            <a:ext cx="4727448" cy="859536"/>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Compare model predictions and inspect the words influencing their decisions.</a:t>
            </a:r>
          </a:p>
        </p:txBody>
      </p:sp>
      <p:sp>
        <p:nvSpPr>
          <p:cNvPr id="18" name="Rounded Rectangle 17"/>
          <p:cNvSpPr/>
          <p:nvPr/>
        </p:nvSpPr>
        <p:spPr>
          <a:xfrm>
            <a:off x="941832" y="3950208"/>
            <a:ext cx="1825142" cy="1307592"/>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4984" y="4059936"/>
            <a:ext cx="1678838" cy="1124712"/>
          </a:xfrm>
          <a:prstGeom prst="rect">
            <a:avLst/>
          </a:prstGeom>
          <a:noFill/>
        </p:spPr>
        <p:txBody>
          <a:bodyPr wrap="square" lIns="0" rIns="0" tIns="0" bIns="0" anchor="ctr">
            <a:spAutoFit/>
          </a:bodyPr>
          <a:lstStyle/>
          <a:p>
            <a:pPr algn="ctr">
              <a:spcBef>
                <a:spcPts val="0"/>
              </a:spcBef>
              <a:spcAft>
                <a:spcPts val="500"/>
              </a:spcAft>
              <a:defRPr sz="1800" b="1">
                <a:solidFill>
                  <a:srgbClr val="263343"/>
                </a:solidFill>
                <a:latin typeface="Calibri"/>
              </a:defRPr>
            </a:pPr>
            <a:r>
              <a:t>0</a:t>
            </a:r>
          </a:p>
          <a:p>
            <a:pPr algn="ctr">
              <a:spcBef>
                <a:spcPts val="0"/>
              </a:spcBef>
              <a:spcAft>
                <a:spcPts val="500"/>
              </a:spcAft>
              <a:defRPr sz="1800" b="1">
                <a:solidFill>
                  <a:srgbClr val="263343"/>
                </a:solidFill>
                <a:latin typeface="Calibri"/>
              </a:defRPr>
            </a:pPr>
            <a:r>
              <a:t>Anti-stereotype</a:t>
            </a:r>
          </a:p>
        </p:txBody>
      </p:sp>
      <p:sp>
        <p:nvSpPr>
          <p:cNvPr id="20" name="Rounded Rectangle 19"/>
          <p:cNvSpPr/>
          <p:nvPr/>
        </p:nvSpPr>
        <p:spPr>
          <a:xfrm>
            <a:off x="3059582" y="3950208"/>
            <a:ext cx="1825142" cy="1307592"/>
          </a:xfrm>
          <a:prstGeom prst="roundRect">
            <a:avLst>
              <a:gd name="adj" fmla="val 7000"/>
            </a:avLst>
          </a:prstGeom>
          <a:solidFill>
            <a:srgbClr val="FBF6E9"/>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32734" y="4059936"/>
            <a:ext cx="1678838" cy="1124712"/>
          </a:xfrm>
          <a:prstGeom prst="rect">
            <a:avLst/>
          </a:prstGeom>
          <a:noFill/>
        </p:spPr>
        <p:txBody>
          <a:bodyPr wrap="square" lIns="0" rIns="0" tIns="0" bIns="0" anchor="ctr">
            <a:spAutoFit/>
          </a:bodyPr>
          <a:lstStyle/>
          <a:p>
            <a:pPr algn="ctr">
              <a:spcBef>
                <a:spcPts val="0"/>
              </a:spcBef>
              <a:spcAft>
                <a:spcPts val="500"/>
              </a:spcAft>
              <a:defRPr sz="1800" b="1">
                <a:solidFill>
                  <a:srgbClr val="263343"/>
                </a:solidFill>
                <a:latin typeface="Calibri"/>
              </a:defRPr>
            </a:pPr>
            <a:r>
              <a:t>1</a:t>
            </a:r>
          </a:p>
          <a:p>
            <a:pPr algn="ctr">
              <a:spcBef>
                <a:spcPts val="0"/>
              </a:spcBef>
              <a:spcAft>
                <a:spcPts val="500"/>
              </a:spcAft>
              <a:defRPr sz="1800" b="1">
                <a:solidFill>
                  <a:srgbClr val="263343"/>
                </a:solidFill>
                <a:latin typeface="Calibri"/>
              </a:defRPr>
            </a:pPr>
            <a:r>
              <a:t>Stereotype</a:t>
            </a:r>
          </a:p>
        </p:txBody>
      </p:sp>
      <p:sp>
        <p:nvSpPr>
          <p:cNvPr id="22" name="Rounded Rectangle 21"/>
          <p:cNvSpPr/>
          <p:nvPr/>
        </p:nvSpPr>
        <p:spPr>
          <a:xfrm>
            <a:off x="5177332" y="3950208"/>
            <a:ext cx="1825142" cy="1307592"/>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0484" y="4059936"/>
            <a:ext cx="1678838" cy="1124712"/>
          </a:xfrm>
          <a:prstGeom prst="rect">
            <a:avLst/>
          </a:prstGeom>
          <a:noFill/>
        </p:spPr>
        <p:txBody>
          <a:bodyPr wrap="square" lIns="0" rIns="0" tIns="0" bIns="0" anchor="ctr">
            <a:spAutoFit/>
          </a:bodyPr>
          <a:lstStyle/>
          <a:p>
            <a:pPr algn="ctr">
              <a:spcBef>
                <a:spcPts val="0"/>
              </a:spcBef>
              <a:spcAft>
                <a:spcPts val="500"/>
              </a:spcAft>
              <a:defRPr sz="1800" b="1">
                <a:solidFill>
                  <a:srgbClr val="263343"/>
                </a:solidFill>
                <a:latin typeface="Calibri"/>
              </a:defRPr>
            </a:pPr>
            <a:r>
              <a:t>2</a:t>
            </a:r>
          </a:p>
          <a:p>
            <a:pPr algn="ctr">
              <a:spcBef>
                <a:spcPts val="0"/>
              </a:spcBef>
              <a:spcAft>
                <a:spcPts val="500"/>
              </a:spcAft>
              <a:defRPr sz="1800" b="1">
                <a:solidFill>
                  <a:srgbClr val="263343"/>
                </a:solidFill>
                <a:latin typeface="Calibri"/>
              </a:defRPr>
            </a:pPr>
            <a:r>
              <a:t>Neutral without</a:t>
            </a:r>
          </a:p>
          <a:p>
            <a:pPr algn="ctr">
              <a:spcBef>
                <a:spcPts val="0"/>
              </a:spcBef>
              <a:spcAft>
                <a:spcPts val="500"/>
              </a:spcAft>
              <a:defRPr sz="1800" b="1">
                <a:solidFill>
                  <a:srgbClr val="263343"/>
                </a:solidFill>
                <a:latin typeface="Calibri"/>
              </a:defRPr>
            </a:pPr>
            <a:r>
              <a:t>target term</a:t>
            </a:r>
          </a:p>
        </p:txBody>
      </p:sp>
      <p:sp>
        <p:nvSpPr>
          <p:cNvPr id="24" name="Rounded Rectangle 23"/>
          <p:cNvSpPr/>
          <p:nvPr/>
        </p:nvSpPr>
        <p:spPr>
          <a:xfrm>
            <a:off x="7295083" y="3950208"/>
            <a:ext cx="1825142" cy="1307592"/>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68235" y="4059936"/>
            <a:ext cx="1678838" cy="1124712"/>
          </a:xfrm>
          <a:prstGeom prst="rect">
            <a:avLst/>
          </a:prstGeom>
          <a:noFill/>
        </p:spPr>
        <p:txBody>
          <a:bodyPr wrap="square" lIns="0" rIns="0" tIns="0" bIns="0" anchor="ctr">
            <a:spAutoFit/>
          </a:bodyPr>
          <a:lstStyle/>
          <a:p>
            <a:pPr algn="ctr">
              <a:spcBef>
                <a:spcPts val="0"/>
              </a:spcBef>
              <a:spcAft>
                <a:spcPts val="500"/>
              </a:spcAft>
              <a:defRPr sz="1800" b="1">
                <a:solidFill>
                  <a:srgbClr val="263343"/>
                </a:solidFill>
                <a:latin typeface="Calibri"/>
              </a:defRPr>
            </a:pPr>
            <a:r>
              <a:t>3</a:t>
            </a:r>
          </a:p>
          <a:p>
            <a:pPr algn="ctr">
              <a:spcBef>
                <a:spcPts val="0"/>
              </a:spcBef>
              <a:spcAft>
                <a:spcPts val="500"/>
              </a:spcAft>
              <a:defRPr sz="1800" b="1">
                <a:solidFill>
                  <a:srgbClr val="263343"/>
                </a:solidFill>
                <a:latin typeface="Calibri"/>
              </a:defRPr>
            </a:pPr>
            <a:r>
              <a:t>Neutral with</a:t>
            </a:r>
          </a:p>
          <a:p>
            <a:pPr algn="ctr">
              <a:spcBef>
                <a:spcPts val="0"/>
              </a:spcBef>
              <a:spcAft>
                <a:spcPts val="500"/>
              </a:spcAft>
              <a:defRPr sz="1800" b="1">
                <a:solidFill>
                  <a:srgbClr val="263343"/>
                </a:solidFill>
                <a:latin typeface="Calibri"/>
              </a:defRPr>
            </a:pPr>
            <a:r>
              <a:t>target term</a:t>
            </a:r>
          </a:p>
        </p:txBody>
      </p:sp>
      <p:sp>
        <p:nvSpPr>
          <p:cNvPr id="26" name="Rounded Rectangle 25"/>
          <p:cNvSpPr/>
          <p:nvPr/>
        </p:nvSpPr>
        <p:spPr>
          <a:xfrm>
            <a:off x="9412833" y="3950208"/>
            <a:ext cx="1825142" cy="1307592"/>
          </a:xfrm>
          <a:prstGeom prst="roundRect">
            <a:avLst>
              <a:gd name="adj" fmla="val 7000"/>
            </a:avLst>
          </a:prstGeom>
          <a:solidFill>
            <a:srgbClr val="F8EFEF"/>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85985" y="4059936"/>
            <a:ext cx="1678838" cy="1124712"/>
          </a:xfrm>
          <a:prstGeom prst="rect">
            <a:avLst/>
          </a:prstGeom>
          <a:noFill/>
        </p:spPr>
        <p:txBody>
          <a:bodyPr wrap="square" lIns="0" rIns="0" tIns="0" bIns="0" anchor="ctr">
            <a:spAutoFit/>
          </a:bodyPr>
          <a:lstStyle/>
          <a:p>
            <a:pPr algn="ctr">
              <a:spcBef>
                <a:spcPts val="0"/>
              </a:spcBef>
              <a:spcAft>
                <a:spcPts val="500"/>
              </a:spcAft>
              <a:defRPr sz="1800" b="1">
                <a:solidFill>
                  <a:srgbClr val="263343"/>
                </a:solidFill>
                <a:latin typeface="Calibri"/>
              </a:defRPr>
            </a:pPr>
            <a:r>
              <a:t>4</a:t>
            </a:r>
          </a:p>
          <a:p>
            <a:pPr algn="ctr">
              <a:spcBef>
                <a:spcPts val="0"/>
              </a:spcBef>
              <a:spcAft>
                <a:spcPts val="500"/>
              </a:spcAft>
              <a:defRPr sz="1800" b="1">
                <a:solidFill>
                  <a:srgbClr val="263343"/>
                </a:solidFill>
                <a:latin typeface="Calibri"/>
              </a:defRPr>
            </a:pPr>
            <a:r>
              <a:t>Bias</a:t>
            </a:r>
          </a:p>
        </p:txBody>
      </p:sp>
      <p:sp>
        <p:nvSpPr>
          <p:cNvPr id="28" name="TextBox 2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Dataset definitions: StereoDetect [1]. Labels match the supplied CSV annotations.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Literature Review</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Dataset foundations and explainable stereotype detection</a:t>
            </a:r>
          </a:p>
        </p:txBody>
      </p:sp>
      <p:sp>
        <p:nvSpPr>
          <p:cNvPr id="12" name="Rounded Rectangle 11"/>
          <p:cNvSpPr/>
          <p:nvPr/>
        </p:nvSpPr>
        <p:spPr>
          <a:xfrm>
            <a:off x="932688" y="1938528"/>
            <a:ext cx="4992624" cy="3145536"/>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2084832"/>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StereoDetect · Shejole &amp; Bhattacharyya</a:t>
            </a:r>
          </a:p>
        </p:txBody>
      </p:sp>
      <p:sp>
        <p:nvSpPr>
          <p:cNvPr id="14" name="TextBox 13"/>
          <p:cNvSpPr txBox="1"/>
          <p:nvPr/>
        </p:nvSpPr>
        <p:spPr>
          <a:xfrm>
            <a:off x="1115568" y="2660904"/>
            <a:ext cx="4626864" cy="2304288"/>
          </a:xfrm>
          <a:prstGeom prst="rect">
            <a:avLst/>
          </a:prstGeom>
          <a:noFill/>
        </p:spPr>
        <p:txBody>
          <a:bodyPr wrap="square" lIns="0" rIns="0" tIns="0" bIns="0" anchor="t">
            <a:spAutoFit/>
          </a:bodyPr>
          <a:lstStyle/>
          <a:p>
            <a:pPr algn="l">
              <a:spcBef>
                <a:spcPts val="0"/>
              </a:spcBef>
              <a:spcAft>
                <a:spcPts val="500"/>
              </a:spcAft>
              <a:defRPr sz="2200" b="0">
                <a:solidFill>
                  <a:srgbClr val="263343"/>
                </a:solidFill>
                <a:latin typeface="Calibri"/>
              </a:defRPr>
            </a:pPr>
            <a:r>
              <a:t>Definition-aligned benchmark for stereotypes, anti-stereotypes, neutrality, and bias.</a:t>
            </a:r>
          </a:p>
          <a:p>
            <a:pPr algn="l">
              <a:spcBef>
                <a:spcPts val="0"/>
              </a:spcBef>
              <a:spcAft>
                <a:spcPts val="500"/>
              </a:spcAft>
              <a:defRPr sz="2200" b="0">
                <a:solidFill>
                  <a:srgbClr val="263343"/>
                </a:solidFill>
                <a:latin typeface="Calibri"/>
              </a:defRPr>
            </a:pPr>
          </a:p>
          <a:p>
            <a:pPr algn="l">
              <a:spcBef>
                <a:spcPts val="0"/>
              </a:spcBef>
              <a:spcAft>
                <a:spcPts val="500"/>
              </a:spcAft>
              <a:defRPr sz="2200" b="0">
                <a:solidFill>
                  <a:srgbClr val="263343"/>
                </a:solidFill>
                <a:latin typeface="Calibri"/>
              </a:defRPr>
            </a:pPr>
            <a:r>
              <a:t>Provides the five-class labels used in this project. [1]</a:t>
            </a:r>
          </a:p>
        </p:txBody>
      </p:sp>
      <p:sp>
        <p:nvSpPr>
          <p:cNvPr id="15" name="Rounded Rectangle 14"/>
          <p:cNvSpPr/>
          <p:nvPr/>
        </p:nvSpPr>
        <p:spPr>
          <a:xfrm>
            <a:off x="6144768" y="1938528"/>
            <a:ext cx="5093208" cy="3145536"/>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7648" y="2084832"/>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HEARTS · King et al.</a:t>
            </a:r>
          </a:p>
        </p:txBody>
      </p:sp>
      <p:sp>
        <p:nvSpPr>
          <p:cNvPr id="17" name="TextBox 16"/>
          <p:cNvSpPr txBox="1"/>
          <p:nvPr/>
        </p:nvSpPr>
        <p:spPr>
          <a:xfrm>
            <a:off x="6327648" y="2660904"/>
            <a:ext cx="4727448" cy="2304288"/>
          </a:xfrm>
          <a:prstGeom prst="rect">
            <a:avLst/>
          </a:prstGeom>
          <a:noFill/>
        </p:spPr>
        <p:txBody>
          <a:bodyPr wrap="square" lIns="0" rIns="0" tIns="0" bIns="0" anchor="t">
            <a:spAutoFit/>
          </a:bodyPr>
          <a:lstStyle/>
          <a:p>
            <a:pPr algn="l">
              <a:spcBef>
                <a:spcPts val="0"/>
              </a:spcBef>
              <a:spcAft>
                <a:spcPts val="500"/>
              </a:spcAft>
              <a:defRPr sz="2200" b="0">
                <a:solidFill>
                  <a:srgbClr val="263343"/>
                </a:solidFill>
                <a:latin typeface="Calibri"/>
              </a:defRPr>
            </a:pPr>
            <a:r>
              <a:t>Combines ALBERT-based stereotype detection with LIME/SHAP explanations.</a:t>
            </a:r>
          </a:p>
          <a:p>
            <a:pPr algn="l">
              <a:spcBef>
                <a:spcPts val="0"/>
              </a:spcBef>
              <a:spcAft>
                <a:spcPts val="500"/>
              </a:spcAft>
              <a:defRPr sz="2200" b="0">
                <a:solidFill>
                  <a:srgbClr val="263343"/>
                </a:solidFill>
                <a:latin typeface="Calibri"/>
              </a:defRPr>
            </a:pPr>
          </a:p>
          <a:p>
            <a:pPr algn="l">
              <a:spcBef>
                <a:spcPts val="0"/>
              </a:spcBef>
              <a:spcAft>
                <a:spcPts val="500"/>
              </a:spcAft>
              <a:defRPr sz="2200" b="0">
                <a:solidFill>
                  <a:srgbClr val="263343"/>
                </a:solidFill>
                <a:latin typeface="Calibri"/>
              </a:defRPr>
            </a:pPr>
            <a:r>
              <a:t>Motivates diagnostic word attribution for our five-class setting. [2]</a:t>
            </a:r>
          </a:p>
        </p:txBody>
      </p:sp>
      <p:sp>
        <p:nvSpPr>
          <p:cNvPr id="18" name="TextBox 1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The HEARTS binary task and StereoDetect five-class task use different evaluation settings.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Literature Review</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4</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Model families used in the comparison</a:t>
            </a:r>
          </a:p>
        </p:txBody>
      </p:sp>
      <p:graphicFrame>
        <p:nvGraphicFramePr>
          <p:cNvPr id="12" name="Table 11"/>
          <p:cNvGraphicFramePr>
            <a:graphicFrameLocks noGrp="1"/>
          </p:cNvGraphicFramePr>
          <p:nvPr/>
        </p:nvGraphicFramePr>
        <p:xfrm>
          <a:off x="932688" y="1938528"/>
          <a:ext cx="10287000" cy="3401568"/>
        </p:xfrm>
        <a:graphic>
          <a:graphicData uri="http://schemas.openxmlformats.org/drawingml/2006/table">
            <a:tbl>
              <a:tblPr firstRow="1" bandRow="1">
                <a:tableStyleId>{5C22544A-7EE6-4342-B048-85BDC9FD1C3A}</a:tableStyleId>
              </a:tblPr>
              <a:tblGrid>
                <a:gridCol w="2880360"/>
                <a:gridCol w="3886200"/>
                <a:gridCol w="3520440"/>
              </a:tblGrid>
              <a:tr h="566928">
                <a:tc>
                  <a:txBody>
                    <a:bodyPr/>
                    <a:lstStyle/>
                    <a:p>
                      <a:pPr algn="l">
                        <a:defRPr sz="1800" b="1">
                          <a:solidFill>
                            <a:srgbClr val="25354A"/>
                          </a:solidFill>
                          <a:latin typeface="Calibri"/>
                        </a:defRPr>
                      </a:pPr>
                      <a:r>
                        <a:t>Model family</a:t>
                      </a:r>
                    </a:p>
                  </a:txBody>
                  <a:tcPr marL="109728" marR="109728" marT="64008" marB="64008" anchor="ctr">
                    <a:solidFill>
                      <a:srgbClr val="EEF3FB"/>
                    </a:solidFill>
                  </a:tcPr>
                </a:tc>
                <a:tc>
                  <a:txBody>
                    <a:bodyPr/>
                    <a:lstStyle/>
                    <a:p>
                      <a:pPr algn="ctr">
                        <a:defRPr sz="1800" b="1">
                          <a:solidFill>
                            <a:srgbClr val="25354A"/>
                          </a:solidFill>
                          <a:latin typeface="Calibri"/>
                        </a:defRPr>
                      </a:pPr>
                      <a:r>
                        <a:t>Core idea</a:t>
                      </a:r>
                    </a:p>
                  </a:txBody>
                  <a:tcPr marL="109728" marR="109728" marT="64008" marB="64008" anchor="ctr">
                    <a:solidFill>
                      <a:srgbClr val="EEF3FB"/>
                    </a:solidFill>
                  </a:tcPr>
                </a:tc>
                <a:tc>
                  <a:txBody>
                    <a:bodyPr/>
                    <a:lstStyle/>
                    <a:p>
                      <a:pPr algn="ctr">
                        <a:defRPr sz="1800" b="1">
                          <a:solidFill>
                            <a:srgbClr val="25354A"/>
                          </a:solidFill>
                          <a:latin typeface="Calibri"/>
                        </a:defRPr>
                      </a:pPr>
                      <a:r>
                        <a:t>Role in this project</a:t>
                      </a:r>
                    </a:p>
                  </a:txBody>
                  <a:tcPr marL="109728" marR="109728" marT="64008" marB="64008" anchor="ctr">
                    <a:solidFill>
                      <a:srgbClr val="EEF3FB"/>
                    </a:solidFill>
                  </a:tcPr>
                </a:tc>
              </a:tr>
              <a:tr h="566928">
                <a:tc>
                  <a:txBody>
                    <a:bodyPr/>
                    <a:lstStyle/>
                    <a:p>
                      <a:pPr algn="l">
                        <a:defRPr sz="1800" b="0">
                          <a:solidFill>
                            <a:srgbClr val="263343"/>
                          </a:solidFill>
                          <a:latin typeface="Calibri"/>
                        </a:defRPr>
                      </a:pPr>
                      <a:r>
                        <a:t>MiniLM [5], [6]</a:t>
                      </a:r>
                    </a:p>
                  </a:txBody>
                  <a:tcPr marL="109728" marR="109728" marT="64008" marB="64008" anchor="ctr">
                    <a:solidFill>
                      <a:srgbClr val="F8FAFC"/>
                    </a:solidFill>
                  </a:tcPr>
                </a:tc>
                <a:tc>
                  <a:txBody>
                    <a:bodyPr/>
                    <a:lstStyle/>
                    <a:p>
                      <a:pPr algn="ctr">
                        <a:defRPr sz="1800" b="0">
                          <a:solidFill>
                            <a:srgbClr val="263343"/>
                          </a:solidFill>
                          <a:latin typeface="Calibri"/>
                        </a:defRPr>
                      </a:pPr>
                      <a:r>
                        <a:t>Distilled transformer embeddings</a:t>
                      </a:r>
                    </a:p>
                  </a:txBody>
                  <a:tcPr marL="109728" marR="109728" marT="64008" marB="64008" anchor="ctr">
                    <a:solidFill>
                      <a:srgbClr val="F8FAFC"/>
                    </a:solidFill>
                  </a:tcPr>
                </a:tc>
                <a:tc>
                  <a:txBody>
                    <a:bodyPr/>
                    <a:lstStyle/>
                    <a:p>
                      <a:pPr algn="ctr">
                        <a:defRPr sz="1800" b="0">
                          <a:solidFill>
                            <a:srgbClr val="263343"/>
                          </a:solidFill>
                          <a:latin typeface="Calibri"/>
                        </a:defRPr>
                      </a:pPr>
                      <a:r>
                        <a:t>Compact baseline</a:t>
                      </a:r>
                    </a:p>
                  </a:txBody>
                  <a:tcPr marL="109728" marR="109728" marT="64008" marB="64008" anchor="ctr">
                    <a:solidFill>
                      <a:srgbClr val="F8FAFC"/>
                    </a:solidFill>
                  </a:tcPr>
                </a:tc>
              </a:tr>
              <a:tr h="566928">
                <a:tc>
                  <a:txBody>
                    <a:bodyPr/>
                    <a:lstStyle/>
                    <a:p>
                      <a:pPr algn="l">
                        <a:defRPr sz="1800" b="0">
                          <a:solidFill>
                            <a:srgbClr val="263343"/>
                          </a:solidFill>
                          <a:latin typeface="Calibri"/>
                        </a:defRPr>
                      </a:pPr>
                      <a:r>
                        <a:t>Qwen3-Embedding [7]</a:t>
                      </a:r>
                    </a:p>
                  </a:txBody>
                  <a:tcPr marL="109728" marR="109728" marT="64008" marB="64008" anchor="ctr">
                    <a:solidFill>
                      <a:srgbClr val="FFFFFF"/>
                    </a:solidFill>
                  </a:tcPr>
                </a:tc>
                <a:tc>
                  <a:txBody>
                    <a:bodyPr/>
                    <a:lstStyle/>
                    <a:p>
                      <a:pPr algn="ctr">
                        <a:defRPr sz="1800" b="0">
                          <a:solidFill>
                            <a:srgbClr val="263343"/>
                          </a:solidFill>
                          <a:latin typeface="Calibri"/>
                        </a:defRPr>
                      </a:pPr>
                      <a:r>
                        <a:t>Decoder-derived text embeddings</a:t>
                      </a:r>
                    </a:p>
                  </a:txBody>
                  <a:tcPr marL="109728" marR="109728" marT="64008" marB="64008" anchor="ctr">
                    <a:solidFill>
                      <a:srgbClr val="FFFFFF"/>
                    </a:solidFill>
                  </a:tcPr>
                </a:tc>
                <a:tc>
                  <a:txBody>
                    <a:bodyPr/>
                    <a:lstStyle/>
                    <a:p>
                      <a:pPr algn="ctr">
                        <a:defRPr sz="1800" b="0">
                          <a:solidFill>
                            <a:srgbClr val="263343"/>
                          </a:solidFill>
                          <a:latin typeface="Calibri"/>
                        </a:defRPr>
                      </a:pPr>
                      <a:r>
                        <a:t>Embedding baseline</a:t>
                      </a:r>
                    </a:p>
                  </a:txBody>
                  <a:tcPr marL="109728" marR="109728" marT="64008" marB="64008" anchor="ctr">
                    <a:solidFill>
                      <a:srgbClr val="FFFFFF"/>
                    </a:solidFill>
                  </a:tcPr>
                </a:tc>
              </a:tr>
              <a:tr h="566928">
                <a:tc>
                  <a:txBody>
                    <a:bodyPr/>
                    <a:lstStyle/>
                    <a:p>
                      <a:pPr algn="l">
                        <a:defRPr sz="1800" b="0">
                          <a:solidFill>
                            <a:srgbClr val="263343"/>
                          </a:solidFill>
                          <a:latin typeface="Calibri"/>
                        </a:defRPr>
                      </a:pPr>
                      <a:r>
                        <a:t>ALBERT [3]</a:t>
                      </a:r>
                    </a:p>
                  </a:txBody>
                  <a:tcPr marL="109728" marR="109728" marT="64008" marB="64008" anchor="ctr">
                    <a:solidFill>
                      <a:srgbClr val="F8FAFC"/>
                    </a:solidFill>
                  </a:tcPr>
                </a:tc>
                <a:tc>
                  <a:txBody>
                    <a:bodyPr/>
                    <a:lstStyle/>
                    <a:p>
                      <a:pPr algn="ctr">
                        <a:defRPr sz="1800" b="0">
                          <a:solidFill>
                            <a:srgbClr val="263343"/>
                          </a:solidFill>
                          <a:latin typeface="Calibri"/>
                        </a:defRPr>
                      </a:pPr>
                      <a:r>
                        <a:t>Factorized embeddings; shared layers</a:t>
                      </a:r>
                    </a:p>
                  </a:txBody>
                  <a:tcPr marL="109728" marR="109728" marT="64008" marB="64008" anchor="ctr">
                    <a:solidFill>
                      <a:srgbClr val="F8FAFC"/>
                    </a:solidFill>
                  </a:tcPr>
                </a:tc>
                <a:tc>
                  <a:txBody>
                    <a:bodyPr/>
                    <a:lstStyle/>
                    <a:p>
                      <a:pPr algn="ctr">
                        <a:defRPr sz="1800" b="0">
                          <a:solidFill>
                            <a:srgbClr val="263343"/>
                          </a:solidFill>
                          <a:latin typeface="Calibri"/>
                        </a:defRPr>
                      </a:pPr>
                      <a:r>
                        <a:t>Sentence classifier</a:t>
                      </a:r>
                    </a:p>
                  </a:txBody>
                  <a:tcPr marL="109728" marR="109728" marT="64008" marB="64008" anchor="ctr">
                    <a:solidFill>
                      <a:srgbClr val="F8FAFC"/>
                    </a:solidFill>
                  </a:tcPr>
                </a:tc>
              </a:tr>
              <a:tr h="566928">
                <a:tc>
                  <a:txBody>
                    <a:bodyPr/>
                    <a:lstStyle/>
                    <a:p>
                      <a:pPr algn="l">
                        <a:defRPr sz="1800" b="0">
                          <a:solidFill>
                            <a:srgbClr val="263343"/>
                          </a:solidFill>
                          <a:latin typeface="Calibri"/>
                        </a:defRPr>
                      </a:pPr>
                      <a:r>
                        <a:t>ModernBERT-large [4]</a:t>
                      </a:r>
                    </a:p>
                  </a:txBody>
                  <a:tcPr marL="109728" marR="109728" marT="64008" marB="64008" anchor="ctr">
                    <a:solidFill>
                      <a:srgbClr val="FFFFFF"/>
                    </a:solidFill>
                  </a:tcPr>
                </a:tc>
                <a:tc>
                  <a:txBody>
                    <a:bodyPr/>
                    <a:lstStyle/>
                    <a:p>
                      <a:pPr algn="ctr">
                        <a:defRPr sz="1800" b="0">
                          <a:solidFill>
                            <a:srgbClr val="263343"/>
                          </a:solidFill>
                          <a:latin typeface="Calibri"/>
                        </a:defRPr>
                      </a:pPr>
                      <a:r>
                        <a:t>Local/global encoder attention</a:t>
                      </a:r>
                    </a:p>
                  </a:txBody>
                  <a:tcPr marL="109728" marR="109728" marT="64008" marB="64008" anchor="ctr">
                    <a:solidFill>
                      <a:srgbClr val="FFFFFF"/>
                    </a:solidFill>
                  </a:tcPr>
                </a:tc>
                <a:tc>
                  <a:txBody>
                    <a:bodyPr/>
                    <a:lstStyle/>
                    <a:p>
                      <a:pPr algn="ctr">
                        <a:defRPr sz="1800" b="0">
                          <a:solidFill>
                            <a:srgbClr val="263343"/>
                          </a:solidFill>
                          <a:latin typeface="Calibri"/>
                        </a:defRPr>
                      </a:pPr>
                      <a:r>
                        <a:t>Sentence classifier</a:t>
                      </a:r>
                    </a:p>
                  </a:txBody>
                  <a:tcPr marL="109728" marR="109728" marT="64008" marB="64008" anchor="ctr">
                    <a:solidFill>
                      <a:srgbClr val="FFFFFF"/>
                    </a:solidFill>
                  </a:tcPr>
                </a:tc>
              </a:tr>
              <a:tr h="566928">
                <a:tc>
                  <a:txBody>
                    <a:bodyPr/>
                    <a:lstStyle/>
                    <a:p>
                      <a:pPr algn="l">
                        <a:defRPr sz="1800" b="0">
                          <a:solidFill>
                            <a:srgbClr val="263343"/>
                          </a:solidFill>
                          <a:latin typeface="Calibri"/>
                        </a:defRPr>
                      </a:pPr>
                      <a:r>
                        <a:t>Qwen3.5-2B + LoRA [8], [9]</a:t>
                      </a:r>
                    </a:p>
                  </a:txBody>
                  <a:tcPr marL="109728" marR="109728" marT="64008" marB="64008" anchor="ctr">
                    <a:solidFill>
                      <a:srgbClr val="F8FAFC"/>
                    </a:solidFill>
                  </a:tcPr>
                </a:tc>
                <a:tc>
                  <a:txBody>
                    <a:bodyPr/>
                    <a:lstStyle/>
                    <a:p>
                      <a:pPr algn="ctr">
                        <a:defRPr sz="1800" b="0">
                          <a:solidFill>
                            <a:srgbClr val="263343"/>
                          </a:solidFill>
                          <a:latin typeface="Calibri"/>
                        </a:defRPr>
                      </a:pPr>
                      <a:r>
                        <a:t>Hybrid decoder; task adaptation</a:t>
                      </a:r>
                    </a:p>
                  </a:txBody>
                  <a:tcPr marL="109728" marR="109728" marT="64008" marB="64008" anchor="ctr">
                    <a:solidFill>
                      <a:srgbClr val="F8FAFC"/>
                    </a:solidFill>
                  </a:tcPr>
                </a:tc>
                <a:tc>
                  <a:txBody>
                    <a:bodyPr/>
                    <a:lstStyle/>
                    <a:p>
                      <a:pPr algn="ctr">
                        <a:defRPr sz="1800" b="0">
                          <a:solidFill>
                            <a:srgbClr val="263343"/>
                          </a:solidFill>
                          <a:latin typeface="Calibri"/>
                        </a:defRPr>
                      </a:pPr>
                      <a:r>
                        <a:t>Label or JSON output</a:t>
                      </a:r>
                    </a:p>
                  </a:txBody>
                  <a:tcPr marL="109728" marR="109728" marT="64008" marB="64008" anchor="ctr">
                    <a:solidFill>
                      <a:srgbClr val="F8FAFC"/>
                    </a:solidFill>
                  </a:tcPr>
                </a:tc>
              </a:tr>
            </a:tbl>
          </a:graphicData>
        </a:graphic>
      </p:graphicFrame>
      <p:sp>
        <p:nvSpPr>
          <p:cNvPr id="13" name="TextBox 12"/>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Architectures: original papers and official model cards [3]–[9].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Motivation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5</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Test both classification quality and the usefulness of the output</a:t>
            </a:r>
          </a:p>
        </p:txBody>
      </p:sp>
      <p:sp>
        <p:nvSpPr>
          <p:cNvPr id="12" name="Rounded Rectangle 11"/>
          <p:cNvSpPr/>
          <p:nvPr/>
        </p:nvSpPr>
        <p:spPr>
          <a:xfrm>
            <a:off x="932688" y="1975104"/>
            <a:ext cx="3291840" cy="333756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2121408"/>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1 · Adaptation</a:t>
            </a:r>
          </a:p>
        </p:txBody>
      </p:sp>
      <p:sp>
        <p:nvSpPr>
          <p:cNvPr id="14" name="TextBox 13"/>
          <p:cNvSpPr txBox="1"/>
          <p:nvPr/>
        </p:nvSpPr>
        <p:spPr>
          <a:xfrm>
            <a:off x="1115568" y="2697480"/>
            <a:ext cx="2926080" cy="2496312"/>
          </a:xfrm>
          <a:prstGeom prst="rect">
            <a:avLst/>
          </a:prstGeom>
          <a:noFill/>
        </p:spPr>
        <p:txBody>
          <a:bodyPr wrap="square" lIns="0" rIns="0" tIns="0" bIns="0" anchor="t">
            <a:spAutoFit/>
          </a:bodyPr>
          <a:lstStyle/>
          <a:p>
            <a:pPr algn="l">
              <a:spcBef>
                <a:spcPts val="0"/>
              </a:spcBef>
              <a:spcAft>
                <a:spcPts val="500"/>
              </a:spcAft>
              <a:defRPr sz="2300" b="0">
                <a:solidFill>
                  <a:srgbClr val="263343"/>
                </a:solidFill>
                <a:latin typeface="Calibri"/>
              </a:defRPr>
            </a:pPr>
            <a:r>
              <a:t>How much does task-specific fine-tuning improve the existing Qwen checkpoint?</a:t>
            </a:r>
          </a:p>
        </p:txBody>
      </p:sp>
      <p:sp>
        <p:nvSpPr>
          <p:cNvPr id="15" name="Rounded Rectangle 14"/>
          <p:cNvSpPr/>
          <p:nvPr/>
        </p:nvSpPr>
        <p:spPr>
          <a:xfrm>
            <a:off x="4434840" y="1975104"/>
            <a:ext cx="3291840" cy="333756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2121408"/>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2 · Output scope</a:t>
            </a:r>
          </a:p>
        </p:txBody>
      </p:sp>
      <p:sp>
        <p:nvSpPr>
          <p:cNvPr id="17" name="TextBox 16"/>
          <p:cNvSpPr txBox="1"/>
          <p:nvPr/>
        </p:nvSpPr>
        <p:spPr>
          <a:xfrm>
            <a:off x="4617720" y="2697480"/>
            <a:ext cx="2926080" cy="2496312"/>
          </a:xfrm>
          <a:prstGeom prst="rect">
            <a:avLst/>
          </a:prstGeom>
          <a:noFill/>
        </p:spPr>
        <p:txBody>
          <a:bodyPr wrap="square" lIns="0" rIns="0" tIns="0" bIns="0" anchor="t">
            <a:spAutoFit/>
          </a:bodyPr>
          <a:lstStyle/>
          <a:p>
            <a:pPr algn="l">
              <a:spcBef>
                <a:spcPts val="0"/>
              </a:spcBef>
              <a:spcAft>
                <a:spcPts val="500"/>
              </a:spcAft>
              <a:defRPr sz="2300" b="0">
                <a:solidFill>
                  <a:srgbClr val="263343"/>
                </a:solidFill>
                <a:latin typeface="Calibri"/>
              </a:defRPr>
            </a:pPr>
            <a:r>
              <a:t>Can one sentence produce the category, target group, and label together?</a:t>
            </a:r>
          </a:p>
        </p:txBody>
      </p:sp>
      <p:sp>
        <p:nvSpPr>
          <p:cNvPr id="18" name="Rounded Rectangle 17"/>
          <p:cNvSpPr/>
          <p:nvPr/>
        </p:nvSpPr>
        <p:spPr>
          <a:xfrm>
            <a:off x="7936992" y="1975104"/>
            <a:ext cx="3291840" cy="3337560"/>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19871" y="2121408"/>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3 · Explanation</a:t>
            </a:r>
          </a:p>
        </p:txBody>
      </p:sp>
      <p:sp>
        <p:nvSpPr>
          <p:cNvPr id="20" name="TextBox 19"/>
          <p:cNvSpPr txBox="1"/>
          <p:nvPr/>
        </p:nvSpPr>
        <p:spPr>
          <a:xfrm>
            <a:off x="8119871" y="2697480"/>
            <a:ext cx="2926080" cy="2496312"/>
          </a:xfrm>
          <a:prstGeom prst="rect">
            <a:avLst/>
          </a:prstGeom>
          <a:noFill/>
        </p:spPr>
        <p:txBody>
          <a:bodyPr wrap="square" lIns="0" rIns="0" tIns="0" bIns="0" anchor="t">
            <a:spAutoFit/>
          </a:bodyPr>
          <a:lstStyle/>
          <a:p>
            <a:pPr algn="l">
              <a:spcBef>
                <a:spcPts val="0"/>
              </a:spcBef>
              <a:spcAft>
                <a:spcPts val="500"/>
              </a:spcAft>
              <a:defRPr sz="2300" b="0">
                <a:solidFill>
                  <a:srgbClr val="263343"/>
                </a:solidFill>
                <a:latin typeface="Calibri"/>
              </a:defRPr>
            </a:pPr>
            <a:r>
              <a:t>Which words influence an encoder decision, including a wrong prediction?</a:t>
            </a:r>
          </a:p>
        </p:txBody>
      </p:sp>
      <p:sp>
        <p:nvSpPr>
          <p:cNvPr id="21" name="TextBox 20"/>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Project questions evaluated on the supplied StereoDetect splits.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Statement</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6</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Two Qwen task contracts, evaluated on the same held-out test split</a:t>
            </a:r>
          </a:p>
        </p:txBody>
      </p:sp>
      <p:sp>
        <p:nvSpPr>
          <p:cNvPr id="12" name="Rounded Rectangle 11"/>
          <p:cNvSpPr/>
          <p:nvPr/>
        </p:nvSpPr>
        <p:spPr>
          <a:xfrm>
            <a:off x="932688" y="1938528"/>
            <a:ext cx="4992624" cy="269748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2084832"/>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Task A · Label prediction</a:t>
            </a:r>
          </a:p>
        </p:txBody>
      </p:sp>
      <p:sp>
        <p:nvSpPr>
          <p:cNvPr id="14" name="TextBox 13"/>
          <p:cNvSpPr txBox="1"/>
          <p:nvPr/>
        </p:nvSpPr>
        <p:spPr>
          <a:xfrm>
            <a:off x="1115568" y="2660904"/>
            <a:ext cx="4626864" cy="1856232"/>
          </a:xfrm>
          <a:prstGeom prst="rect">
            <a:avLst/>
          </a:prstGeom>
          <a:noFill/>
        </p:spPr>
        <p:txBody>
          <a:bodyPr wrap="square" lIns="0" rIns="0" tIns="0" bIns="0" anchor="t">
            <a:spAutoFit/>
          </a:bodyPr>
          <a:lstStyle/>
          <a:p>
            <a:pPr algn="l">
              <a:spcBef>
                <a:spcPts val="0"/>
              </a:spcBef>
              <a:spcAft>
                <a:spcPts val="500"/>
              </a:spcAft>
              <a:defRPr sz="2200" b="0">
                <a:solidFill>
                  <a:srgbClr val="263343"/>
                </a:solidFill>
                <a:latin typeface="Calibri"/>
              </a:defRPr>
            </a:pPr>
            <a:r>
              <a:t>Input: Category + Target + Sentence</a:t>
            </a:r>
          </a:p>
          <a:p>
            <a:pPr algn="l">
              <a:spcBef>
                <a:spcPts val="0"/>
              </a:spcBef>
              <a:spcAft>
                <a:spcPts val="500"/>
              </a:spcAft>
              <a:defRPr sz="2200" b="0">
                <a:solidFill>
                  <a:srgbClr val="263343"/>
                </a:solidFill>
                <a:latin typeface="Calibri"/>
              </a:defRPr>
            </a:pPr>
          </a:p>
          <a:p>
            <a:pPr algn="l">
              <a:spcBef>
                <a:spcPts val="0"/>
              </a:spcBef>
              <a:spcAft>
                <a:spcPts val="500"/>
              </a:spcAft>
              <a:defRPr sz="2200" b="0">
                <a:solidFill>
                  <a:srgbClr val="263343"/>
                </a:solidFill>
                <a:latin typeface="Calibri"/>
              </a:defRPr>
            </a:pPr>
            <a:r>
              <a:t>Output: one integer label, 0–4</a:t>
            </a:r>
          </a:p>
          <a:p>
            <a:pPr algn="l">
              <a:spcBef>
                <a:spcPts val="0"/>
              </a:spcBef>
              <a:spcAft>
                <a:spcPts val="500"/>
              </a:spcAft>
              <a:defRPr sz="2200" b="0">
                <a:solidFill>
                  <a:srgbClr val="263343"/>
                </a:solidFill>
                <a:latin typeface="Calibri"/>
              </a:defRPr>
            </a:pPr>
          </a:p>
          <a:p>
            <a:pPr algn="l">
              <a:spcBef>
                <a:spcPts val="0"/>
              </a:spcBef>
              <a:spcAft>
                <a:spcPts val="500"/>
              </a:spcAft>
              <a:defRPr sz="2200" b="0">
                <a:solidFill>
                  <a:srgbClr val="263343"/>
                </a:solidFill>
                <a:latin typeface="Calibri"/>
              </a:defRPr>
            </a:pPr>
            <a:r>
              <a:t>Decision: highest-scoring label token</a:t>
            </a:r>
          </a:p>
        </p:txBody>
      </p:sp>
      <p:sp>
        <p:nvSpPr>
          <p:cNvPr id="15" name="Rounded Rectangle 14"/>
          <p:cNvSpPr/>
          <p:nvPr/>
        </p:nvSpPr>
        <p:spPr>
          <a:xfrm>
            <a:off x="6144768" y="1938528"/>
            <a:ext cx="5093208" cy="269748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7648" y="2084832"/>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Task B · All-field prediction</a:t>
            </a:r>
          </a:p>
        </p:txBody>
      </p:sp>
      <p:sp>
        <p:nvSpPr>
          <p:cNvPr id="17" name="TextBox 16"/>
          <p:cNvSpPr txBox="1"/>
          <p:nvPr/>
        </p:nvSpPr>
        <p:spPr>
          <a:xfrm>
            <a:off x="6327648" y="2660904"/>
            <a:ext cx="4727448" cy="1856232"/>
          </a:xfrm>
          <a:prstGeom prst="rect">
            <a:avLst/>
          </a:prstGeom>
          <a:noFill/>
        </p:spPr>
        <p:txBody>
          <a:bodyPr wrap="square" lIns="0" rIns="0" tIns="0" bIns="0" anchor="t">
            <a:spAutoFit/>
          </a:bodyPr>
          <a:lstStyle/>
          <a:p>
            <a:pPr algn="l">
              <a:spcBef>
                <a:spcPts val="0"/>
              </a:spcBef>
              <a:spcAft>
                <a:spcPts val="500"/>
              </a:spcAft>
              <a:defRPr sz="2200" b="0">
                <a:solidFill>
                  <a:srgbClr val="263343"/>
                </a:solidFill>
                <a:latin typeface="Calibri"/>
              </a:defRPr>
            </a:pPr>
            <a:r>
              <a:t>Input: Sentence only</a:t>
            </a:r>
          </a:p>
          <a:p>
            <a:pPr algn="l">
              <a:spcBef>
                <a:spcPts val="0"/>
              </a:spcBef>
              <a:spcAft>
                <a:spcPts val="500"/>
              </a:spcAft>
              <a:defRPr sz="2200" b="0">
                <a:solidFill>
                  <a:srgbClr val="263343"/>
                </a:solidFill>
                <a:latin typeface="Calibri"/>
              </a:defRPr>
            </a:pPr>
          </a:p>
          <a:p>
            <a:pPr algn="l">
              <a:spcBef>
                <a:spcPts val="0"/>
              </a:spcBef>
              <a:spcAft>
                <a:spcPts val="500"/>
              </a:spcAft>
              <a:defRPr sz="2200" b="0">
                <a:solidFill>
                  <a:srgbClr val="263343"/>
                </a:solidFill>
                <a:latin typeface="Calibri"/>
              </a:defRPr>
            </a:pPr>
            <a:r>
              <a:t>Output: category + target + label JSON</a:t>
            </a:r>
          </a:p>
          <a:p>
            <a:pPr algn="l">
              <a:spcBef>
                <a:spcPts val="0"/>
              </a:spcBef>
              <a:spcAft>
                <a:spcPts val="500"/>
              </a:spcAft>
              <a:defRPr sz="2200" b="0">
                <a:solidFill>
                  <a:srgbClr val="263343"/>
                </a:solidFill>
                <a:latin typeface="Calibri"/>
              </a:defRPr>
            </a:pPr>
          </a:p>
          <a:p>
            <a:pPr algn="l">
              <a:spcBef>
                <a:spcPts val="0"/>
              </a:spcBef>
              <a:spcAft>
                <a:spcPts val="500"/>
              </a:spcAft>
              <a:defRPr sz="2200" b="0">
                <a:solidFill>
                  <a:srgbClr val="263343"/>
                </a:solidFill>
                <a:latin typeface="Calibri"/>
              </a:defRPr>
            </a:pPr>
            <a:r>
              <a:t>Decision: greedy JSON generation</a:t>
            </a:r>
          </a:p>
        </p:txBody>
      </p:sp>
      <p:sp>
        <p:nvSpPr>
          <p:cNvPr id="18" name="Rounded Rectangle 17"/>
          <p:cNvSpPr/>
          <p:nvPr/>
        </p:nvSpPr>
        <p:spPr>
          <a:xfrm>
            <a:off x="932688" y="4882896"/>
            <a:ext cx="10305288" cy="694944"/>
          </a:xfrm>
          <a:prstGeom prst="roundRect">
            <a:avLst>
              <a:gd name="adj" fmla="val 7000"/>
            </a:avLst>
          </a:prstGeom>
          <a:solidFill>
            <a:srgbClr val="FBF6E9"/>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15568" y="5029200"/>
            <a:ext cx="9939528" cy="365760"/>
          </a:xfrm>
          <a:prstGeom prst="rect">
            <a:avLst/>
          </a:prstGeom>
          <a:noFill/>
        </p:spPr>
        <p:txBody>
          <a:bodyPr wrap="square" lIns="0" rIns="0" tIns="0" bIns="0" anchor="t">
            <a:spAutoFit/>
          </a:bodyPr>
          <a:lstStyle/>
          <a:p>
            <a:pPr algn="l">
              <a:spcBef>
                <a:spcPts val="0"/>
              </a:spcBef>
              <a:spcAft>
                <a:spcPts val="500"/>
              </a:spcAft>
              <a:defRPr sz="2100" b="1">
                <a:solidFill>
                  <a:srgbClr val="263343"/>
                </a:solidFill>
                <a:latin typeface="Calibri"/>
              </a:defRPr>
            </a:pPr>
            <a:r>
              <a:t>Compare base and fine-tuned runs within each task; their input information differs.</a:t>
            </a:r>
          </a:p>
        </p:txBody>
      </p:sp>
      <p:sp>
        <p:nvSpPr>
          <p:cNvPr id="20" name="TextBox 19"/>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Primary metrics: label accuracy and macro F1. Category/target accuracy is assessed separately.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7</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Overall experimental pipeline</a:t>
            </a:r>
          </a:p>
        </p:txBody>
      </p:sp>
      <p:sp>
        <p:nvSpPr>
          <p:cNvPr id="12" name="Rounded Rectangle 11"/>
          <p:cNvSpPr/>
          <p:nvPr/>
        </p:nvSpPr>
        <p:spPr>
          <a:xfrm>
            <a:off x="941832" y="2167128"/>
            <a:ext cx="1825142" cy="109728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2276856"/>
            <a:ext cx="1678838" cy="91440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StereoDetect</a:t>
            </a:r>
          </a:p>
          <a:p>
            <a:pPr algn="ctr">
              <a:spcBef>
                <a:spcPts val="0"/>
              </a:spcBef>
              <a:spcAft>
                <a:spcPts val="500"/>
              </a:spcAft>
              <a:defRPr sz="1900" b="1">
                <a:solidFill>
                  <a:srgbClr val="263343"/>
                </a:solidFill>
                <a:latin typeface="Calibri"/>
              </a:defRPr>
            </a:pPr>
            <a:r>
              <a:t>CSV splits</a:t>
            </a:r>
          </a:p>
        </p:txBody>
      </p:sp>
      <p:sp>
        <p:nvSpPr>
          <p:cNvPr id="14" name="Rounded Rectangle 13"/>
          <p:cNvSpPr/>
          <p:nvPr/>
        </p:nvSpPr>
        <p:spPr>
          <a:xfrm>
            <a:off x="3059582" y="2167128"/>
            <a:ext cx="1825142" cy="109728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32734" y="2276856"/>
            <a:ext cx="1678838" cy="91440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Task-specific</a:t>
            </a:r>
          </a:p>
          <a:p>
            <a:pPr algn="ctr">
              <a:spcBef>
                <a:spcPts val="0"/>
              </a:spcBef>
              <a:spcAft>
                <a:spcPts val="500"/>
              </a:spcAft>
              <a:defRPr sz="1900" b="1">
                <a:solidFill>
                  <a:srgbClr val="263343"/>
                </a:solidFill>
                <a:latin typeface="Calibri"/>
              </a:defRPr>
            </a:pPr>
            <a:r>
              <a:t>inputs</a:t>
            </a:r>
          </a:p>
        </p:txBody>
      </p:sp>
      <p:cxnSp>
        <p:nvCxnSpPr>
          <p:cNvPr id="16" name="Connector 15"/>
          <p:cNvCxnSpPr/>
          <p:nvPr/>
        </p:nvCxnSpPr>
        <p:spPr>
          <a:xfrm>
            <a:off x="2789834" y="271576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77332" y="2167128"/>
            <a:ext cx="1825142" cy="109728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0484" y="2276856"/>
            <a:ext cx="1678838" cy="91440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Model training</a:t>
            </a:r>
          </a:p>
          <a:p>
            <a:pPr algn="ctr">
              <a:spcBef>
                <a:spcPts val="0"/>
              </a:spcBef>
              <a:spcAft>
                <a:spcPts val="500"/>
              </a:spcAft>
              <a:defRPr sz="1900" b="1">
                <a:solidFill>
                  <a:srgbClr val="263343"/>
                </a:solidFill>
                <a:latin typeface="Calibri"/>
              </a:defRPr>
            </a:pPr>
            <a:r>
              <a:t>/ adaptation</a:t>
            </a:r>
          </a:p>
        </p:txBody>
      </p:sp>
      <p:cxnSp>
        <p:nvCxnSpPr>
          <p:cNvPr id="19" name="Connector 18"/>
          <p:cNvCxnSpPr/>
          <p:nvPr/>
        </p:nvCxnSpPr>
        <p:spPr>
          <a:xfrm>
            <a:off x="4907584" y="271576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5083" y="2167128"/>
            <a:ext cx="1825142" cy="109728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8235" y="2276856"/>
            <a:ext cx="1678838" cy="91440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Held-out</a:t>
            </a:r>
          </a:p>
          <a:p>
            <a:pPr algn="ctr">
              <a:spcBef>
                <a:spcPts val="0"/>
              </a:spcBef>
              <a:spcAft>
                <a:spcPts val="500"/>
              </a:spcAft>
              <a:defRPr sz="1900" b="1">
                <a:solidFill>
                  <a:srgbClr val="263343"/>
                </a:solidFill>
                <a:latin typeface="Calibri"/>
              </a:defRPr>
            </a:pPr>
            <a:r>
              <a:t>predictions</a:t>
            </a:r>
          </a:p>
        </p:txBody>
      </p:sp>
      <p:cxnSp>
        <p:nvCxnSpPr>
          <p:cNvPr id="22" name="Connector 21"/>
          <p:cNvCxnSpPr/>
          <p:nvPr/>
        </p:nvCxnSpPr>
        <p:spPr>
          <a:xfrm>
            <a:off x="7025335" y="271576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412833" y="2167128"/>
            <a:ext cx="1825142" cy="1097280"/>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5985" y="2276856"/>
            <a:ext cx="1678838" cy="91440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Metrics +</a:t>
            </a:r>
          </a:p>
          <a:p>
            <a:pPr algn="ctr">
              <a:spcBef>
                <a:spcPts val="0"/>
              </a:spcBef>
              <a:spcAft>
                <a:spcPts val="500"/>
              </a:spcAft>
              <a:defRPr sz="1900" b="1">
                <a:solidFill>
                  <a:srgbClr val="263343"/>
                </a:solidFill>
                <a:latin typeface="Calibri"/>
              </a:defRPr>
            </a:pPr>
            <a:r>
              <a:t>explanations</a:t>
            </a:r>
          </a:p>
        </p:txBody>
      </p:sp>
      <p:cxnSp>
        <p:nvCxnSpPr>
          <p:cNvPr id="25" name="Connector 24"/>
          <p:cNvCxnSpPr/>
          <p:nvPr/>
        </p:nvCxnSpPr>
        <p:spPr>
          <a:xfrm>
            <a:off x="9143085" y="271576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32688" y="3694176"/>
            <a:ext cx="3291840" cy="1655064"/>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15568" y="3840480"/>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Data</a:t>
            </a:r>
          </a:p>
        </p:txBody>
      </p:sp>
      <p:sp>
        <p:nvSpPr>
          <p:cNvPr id="28" name="TextBox 27"/>
          <p:cNvSpPr txBox="1"/>
          <p:nvPr/>
        </p:nvSpPr>
        <p:spPr>
          <a:xfrm>
            <a:off x="1115568" y="4416552"/>
            <a:ext cx="2926080" cy="813816"/>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Train 6,080 · validation 868</a:t>
            </a:r>
          </a:p>
          <a:p>
            <a:pPr algn="l">
              <a:spcBef>
                <a:spcPts val="0"/>
              </a:spcBef>
              <a:spcAft>
                <a:spcPts val="500"/>
              </a:spcAft>
              <a:defRPr sz="2000" b="0">
                <a:solidFill>
                  <a:srgbClr val="263343"/>
                </a:solidFill>
                <a:latin typeface="Calibri"/>
              </a:defRPr>
            </a:pPr>
            <a:r>
              <a:t>Test 1,738</a:t>
            </a:r>
          </a:p>
        </p:txBody>
      </p:sp>
      <p:sp>
        <p:nvSpPr>
          <p:cNvPr id="29" name="Rounded Rectangle 28"/>
          <p:cNvSpPr/>
          <p:nvPr/>
        </p:nvSpPr>
        <p:spPr>
          <a:xfrm>
            <a:off x="4434840" y="3694176"/>
            <a:ext cx="3291840" cy="1655064"/>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17720" y="3840480"/>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Outputs</a:t>
            </a:r>
          </a:p>
        </p:txBody>
      </p:sp>
      <p:sp>
        <p:nvSpPr>
          <p:cNvPr id="31" name="TextBox 30"/>
          <p:cNvSpPr txBox="1"/>
          <p:nvPr/>
        </p:nvSpPr>
        <p:spPr>
          <a:xfrm>
            <a:off x="4617720" y="4416552"/>
            <a:ext cx="2926080" cy="813816"/>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Five labels, or structured</a:t>
            </a:r>
          </a:p>
          <a:p>
            <a:pPr algn="l">
              <a:spcBef>
                <a:spcPts val="0"/>
              </a:spcBef>
              <a:spcAft>
                <a:spcPts val="500"/>
              </a:spcAft>
              <a:defRPr sz="2000" b="0">
                <a:solidFill>
                  <a:srgbClr val="263343"/>
                </a:solidFill>
                <a:latin typeface="Calibri"/>
              </a:defRPr>
            </a:pPr>
            <a:r>
              <a:t>category/target/label JSON</a:t>
            </a:r>
          </a:p>
        </p:txBody>
      </p:sp>
      <p:sp>
        <p:nvSpPr>
          <p:cNvPr id="32" name="Rounded Rectangle 31"/>
          <p:cNvSpPr/>
          <p:nvPr/>
        </p:nvSpPr>
        <p:spPr>
          <a:xfrm>
            <a:off x="7936992" y="3694176"/>
            <a:ext cx="3291840" cy="1655064"/>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9871" y="3840480"/>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Inspection</a:t>
            </a:r>
          </a:p>
        </p:txBody>
      </p:sp>
      <p:sp>
        <p:nvSpPr>
          <p:cNvPr id="34" name="TextBox 33"/>
          <p:cNvSpPr txBox="1"/>
          <p:nvPr/>
        </p:nvSpPr>
        <p:spPr>
          <a:xfrm>
            <a:off x="8119871" y="4416552"/>
            <a:ext cx="2926080" cy="813816"/>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Class-wise scores and</a:t>
            </a:r>
          </a:p>
          <a:p>
            <a:pPr algn="l">
              <a:spcBef>
                <a:spcPts val="0"/>
              </a:spcBef>
              <a:spcAft>
                <a:spcPts val="500"/>
              </a:spcAft>
              <a:defRPr sz="2000" b="0">
                <a:solidFill>
                  <a:srgbClr val="263343"/>
                </a:solidFill>
                <a:latin typeface="Calibri"/>
              </a:defRPr>
            </a:pPr>
            <a:r>
              <a:t>LIME/SHAP diagnostics</a:t>
            </a:r>
          </a:p>
        </p:txBody>
      </p:sp>
      <p:sp>
        <p:nvSpPr>
          <p:cNvPr id="35" name="TextBox 34"/>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Implementation: stereodetect package. Dataset split sizes are counted from local CSV files.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8</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all-MiniLM-L6-v2 · Compact sentence-embedding backbone</a:t>
            </a:r>
          </a:p>
        </p:txBody>
      </p:sp>
      <p:sp>
        <p:nvSpPr>
          <p:cNvPr id="12" name="Rounded Rectangle 11"/>
          <p:cNvSpPr/>
          <p:nvPr/>
        </p:nvSpPr>
        <p:spPr>
          <a:xfrm>
            <a:off x="94183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Sentence</a:t>
            </a:r>
          </a:p>
        </p:txBody>
      </p:sp>
      <p:sp>
        <p:nvSpPr>
          <p:cNvPr id="14" name="Rounded Rectangle 13"/>
          <p:cNvSpPr/>
          <p:nvPr/>
        </p:nvSpPr>
        <p:spPr>
          <a:xfrm>
            <a:off x="305958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3273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Tokenizer</a:t>
            </a:r>
          </a:p>
        </p:txBody>
      </p:sp>
      <p:cxnSp>
        <p:nvCxnSpPr>
          <p:cNvPr id="16" name="Connector 15"/>
          <p:cNvCxnSpPr/>
          <p:nvPr/>
        </p:nvCxnSpPr>
        <p:spPr>
          <a:xfrm>
            <a:off x="2789834"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7733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048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MiniLM encoder</a:t>
            </a:r>
          </a:p>
          <a:p>
            <a:pPr algn="ctr">
              <a:spcBef>
                <a:spcPts val="0"/>
              </a:spcBef>
              <a:spcAft>
                <a:spcPts val="500"/>
              </a:spcAft>
              <a:defRPr sz="1900" b="1">
                <a:solidFill>
                  <a:srgbClr val="263343"/>
                </a:solidFill>
                <a:latin typeface="Calibri"/>
              </a:defRPr>
            </a:pPr>
            <a:r>
              <a:t>6 layers</a:t>
            </a:r>
          </a:p>
        </p:txBody>
      </p:sp>
      <p:cxnSp>
        <p:nvCxnSpPr>
          <p:cNvPr id="19" name="Connector 18"/>
          <p:cNvCxnSpPr/>
          <p:nvPr/>
        </p:nvCxnSpPr>
        <p:spPr>
          <a:xfrm>
            <a:off x="4907584"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5083"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8235"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Mean pooling</a:t>
            </a:r>
          </a:p>
          <a:p>
            <a:pPr algn="ctr">
              <a:spcBef>
                <a:spcPts val="0"/>
              </a:spcBef>
              <a:spcAft>
                <a:spcPts val="500"/>
              </a:spcAft>
              <a:defRPr sz="1900" b="1">
                <a:solidFill>
                  <a:srgbClr val="263343"/>
                </a:solidFill>
                <a:latin typeface="Calibri"/>
              </a:defRPr>
            </a:pPr>
            <a:r>
              <a:t>+ normalize</a:t>
            </a:r>
          </a:p>
        </p:txBody>
      </p:sp>
      <p:cxnSp>
        <p:nvCxnSpPr>
          <p:cNvPr id="22" name="Connector 21"/>
          <p:cNvCxnSpPr/>
          <p:nvPr/>
        </p:nvCxnSpPr>
        <p:spPr>
          <a:xfrm>
            <a:off x="7025335"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412833"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5985"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384-D</a:t>
            </a:r>
          </a:p>
          <a:p>
            <a:pPr algn="ctr">
              <a:spcBef>
                <a:spcPts val="0"/>
              </a:spcBef>
              <a:spcAft>
                <a:spcPts val="500"/>
              </a:spcAft>
              <a:defRPr sz="1900" b="1">
                <a:solidFill>
                  <a:srgbClr val="263343"/>
                </a:solidFill>
                <a:latin typeface="Calibri"/>
              </a:defRPr>
            </a:pPr>
            <a:r>
              <a:t>embedding</a:t>
            </a:r>
          </a:p>
        </p:txBody>
      </p:sp>
      <p:cxnSp>
        <p:nvCxnSpPr>
          <p:cNvPr id="25" name="Connector 24"/>
          <p:cNvCxnSpPr/>
          <p:nvPr/>
        </p:nvCxnSpPr>
        <p:spPr>
          <a:xfrm>
            <a:off x="9143085"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323576" y="3401568"/>
            <a:ext cx="0" cy="786384"/>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8193024" y="4187952"/>
            <a:ext cx="2130552"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041648" y="3803904"/>
            <a:ext cx="4114800" cy="7772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78808" y="3959352"/>
            <a:ext cx="3840480" cy="411480"/>
          </a:xfrm>
          <a:prstGeom prst="rect">
            <a:avLst/>
          </a:prstGeom>
          <a:noFill/>
        </p:spPr>
        <p:txBody>
          <a:bodyPr wrap="square" lIns="0" rIns="0" tIns="0" bIns="0" anchor="t">
            <a:spAutoFit/>
          </a:bodyPr>
          <a:lstStyle/>
          <a:p>
            <a:pPr algn="ctr">
              <a:spcBef>
                <a:spcPts val="0"/>
              </a:spcBef>
              <a:spcAft>
                <a:spcPts val="500"/>
              </a:spcAft>
              <a:defRPr sz="2200" b="1">
                <a:solidFill>
                  <a:srgbClr val="263343"/>
                </a:solidFill>
                <a:latin typeface="Calibri"/>
              </a:defRPr>
            </a:pPr>
            <a:r>
              <a:t>Task classifier → five labels</a:t>
            </a:r>
          </a:p>
        </p:txBody>
      </p:sp>
      <p:sp>
        <p:nvSpPr>
          <p:cNvPr id="30" name="TextBox 29"/>
          <p:cNvSpPr txBox="1"/>
          <p:nvPr/>
        </p:nvSpPr>
        <p:spPr>
          <a:xfrm>
            <a:off x="1051560" y="4901184"/>
            <a:ext cx="10040112" cy="640080"/>
          </a:xfrm>
          <a:prstGeom prst="rect">
            <a:avLst/>
          </a:prstGeom>
          <a:noFill/>
        </p:spPr>
        <p:txBody>
          <a:bodyPr wrap="square" lIns="0" rIns="0" tIns="0" bIns="0" anchor="t">
            <a:spAutoFit/>
          </a:bodyPr>
          <a:lstStyle/>
          <a:p>
            <a:pPr algn="ctr">
              <a:spcBef>
                <a:spcPts val="0"/>
              </a:spcBef>
              <a:spcAft>
                <a:spcPts val="500"/>
              </a:spcAft>
              <a:defRPr sz="2100" b="0">
                <a:solidFill>
                  <a:srgbClr val="263343"/>
                </a:solidFill>
                <a:latin typeface="Calibri"/>
              </a:defRPr>
            </a:pPr>
            <a:r>
              <a:t>A compact sentence representation for the review baseline.</a:t>
            </a:r>
          </a:p>
          <a:p>
            <a:pPr algn="ctr">
              <a:spcBef>
                <a:spcPts val="0"/>
              </a:spcBef>
              <a:spcAft>
                <a:spcPts val="500"/>
              </a:spcAft>
              <a:defRPr sz="2100" b="0">
                <a:solidFill>
                  <a:srgbClr val="263343"/>
                </a:solidFill>
                <a:latin typeface="Calibri"/>
              </a:defRPr>
            </a:pPr>
            <a:r>
              <a:t>The embedding backbone is shown above; the classification stage is schematic.</a:t>
            </a:r>
          </a:p>
        </p:txBody>
      </p:sp>
      <p:sp>
        <p:nvSpPr>
          <p:cNvPr id="31" name="TextBox 30"/>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Backbone: MiniLM and official all-MiniLM-L6-v2 model card [5], [6]. Baseline result: review document.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9</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Qwen3-Embedding-0.6B · Decoder-derived sentence representation</a:t>
            </a:r>
          </a:p>
        </p:txBody>
      </p:sp>
      <p:sp>
        <p:nvSpPr>
          <p:cNvPr id="12" name="Rounded Rectangle 11"/>
          <p:cNvSpPr/>
          <p:nvPr/>
        </p:nvSpPr>
        <p:spPr>
          <a:xfrm>
            <a:off x="94183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Sentence</a:t>
            </a:r>
          </a:p>
        </p:txBody>
      </p:sp>
      <p:sp>
        <p:nvSpPr>
          <p:cNvPr id="14" name="Rounded Rectangle 13"/>
          <p:cNvSpPr/>
          <p:nvPr/>
        </p:nvSpPr>
        <p:spPr>
          <a:xfrm>
            <a:off x="305958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3273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Tokenizer</a:t>
            </a:r>
          </a:p>
        </p:txBody>
      </p:sp>
      <p:cxnSp>
        <p:nvCxnSpPr>
          <p:cNvPr id="16" name="Connector 15"/>
          <p:cNvCxnSpPr/>
          <p:nvPr/>
        </p:nvCxnSpPr>
        <p:spPr>
          <a:xfrm>
            <a:off x="2789834"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7733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048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Qwen3 decoder</a:t>
            </a:r>
          </a:p>
          <a:p>
            <a:pPr algn="ctr">
              <a:spcBef>
                <a:spcPts val="0"/>
              </a:spcBef>
              <a:spcAft>
                <a:spcPts val="500"/>
              </a:spcAft>
              <a:defRPr sz="1900" b="1">
                <a:solidFill>
                  <a:srgbClr val="263343"/>
                </a:solidFill>
                <a:latin typeface="Calibri"/>
              </a:defRPr>
            </a:pPr>
            <a:r>
              <a:t>28 layers</a:t>
            </a:r>
          </a:p>
        </p:txBody>
      </p:sp>
      <p:cxnSp>
        <p:nvCxnSpPr>
          <p:cNvPr id="19" name="Connector 18"/>
          <p:cNvCxnSpPr/>
          <p:nvPr/>
        </p:nvCxnSpPr>
        <p:spPr>
          <a:xfrm>
            <a:off x="4907584"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5083"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8235"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Final-token</a:t>
            </a:r>
          </a:p>
          <a:p>
            <a:pPr algn="ctr">
              <a:spcBef>
                <a:spcPts val="0"/>
              </a:spcBef>
              <a:spcAft>
                <a:spcPts val="500"/>
              </a:spcAft>
              <a:defRPr sz="1900" b="1">
                <a:solidFill>
                  <a:srgbClr val="263343"/>
                </a:solidFill>
                <a:latin typeface="Calibri"/>
              </a:defRPr>
            </a:pPr>
            <a:r>
              <a:t>pooling</a:t>
            </a:r>
          </a:p>
        </p:txBody>
      </p:sp>
      <p:cxnSp>
        <p:nvCxnSpPr>
          <p:cNvPr id="22" name="Connector 21"/>
          <p:cNvCxnSpPr/>
          <p:nvPr/>
        </p:nvCxnSpPr>
        <p:spPr>
          <a:xfrm>
            <a:off x="7025335"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412833"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5985"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Up to 1024-D</a:t>
            </a:r>
          </a:p>
          <a:p>
            <a:pPr algn="ctr">
              <a:spcBef>
                <a:spcPts val="0"/>
              </a:spcBef>
              <a:spcAft>
                <a:spcPts val="500"/>
              </a:spcAft>
              <a:defRPr sz="1900" b="1">
                <a:solidFill>
                  <a:srgbClr val="263343"/>
                </a:solidFill>
                <a:latin typeface="Calibri"/>
              </a:defRPr>
            </a:pPr>
            <a:r>
              <a:t>embedding</a:t>
            </a:r>
          </a:p>
        </p:txBody>
      </p:sp>
      <p:cxnSp>
        <p:nvCxnSpPr>
          <p:cNvPr id="25" name="Connector 24"/>
          <p:cNvCxnSpPr/>
          <p:nvPr/>
        </p:nvCxnSpPr>
        <p:spPr>
          <a:xfrm>
            <a:off x="9143085"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323576" y="3401568"/>
            <a:ext cx="0" cy="786384"/>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8193024" y="4187952"/>
            <a:ext cx="2130552"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041648" y="3803904"/>
            <a:ext cx="4114800" cy="7772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78808" y="3959352"/>
            <a:ext cx="3840480" cy="411480"/>
          </a:xfrm>
          <a:prstGeom prst="rect">
            <a:avLst/>
          </a:prstGeom>
          <a:noFill/>
        </p:spPr>
        <p:txBody>
          <a:bodyPr wrap="square" lIns="0" rIns="0" tIns="0" bIns="0" anchor="t">
            <a:spAutoFit/>
          </a:bodyPr>
          <a:lstStyle/>
          <a:p>
            <a:pPr algn="ctr">
              <a:spcBef>
                <a:spcPts val="0"/>
              </a:spcBef>
              <a:spcAft>
                <a:spcPts val="500"/>
              </a:spcAft>
              <a:defRPr sz="2200" b="1">
                <a:solidFill>
                  <a:srgbClr val="263343"/>
                </a:solidFill>
                <a:latin typeface="Calibri"/>
              </a:defRPr>
            </a:pPr>
            <a:r>
              <a:t>Task classifier → five labels</a:t>
            </a:r>
          </a:p>
        </p:txBody>
      </p:sp>
      <p:sp>
        <p:nvSpPr>
          <p:cNvPr id="30" name="TextBox 29"/>
          <p:cNvSpPr txBox="1"/>
          <p:nvPr/>
        </p:nvSpPr>
        <p:spPr>
          <a:xfrm>
            <a:off x="1051560" y="4901184"/>
            <a:ext cx="10040112" cy="640080"/>
          </a:xfrm>
          <a:prstGeom prst="rect">
            <a:avLst/>
          </a:prstGeom>
          <a:noFill/>
        </p:spPr>
        <p:txBody>
          <a:bodyPr wrap="square" lIns="0" rIns="0" tIns="0" bIns="0" anchor="t">
            <a:spAutoFit/>
          </a:bodyPr>
          <a:lstStyle/>
          <a:p>
            <a:pPr algn="ctr">
              <a:spcBef>
                <a:spcPts val="0"/>
              </a:spcBef>
              <a:spcAft>
                <a:spcPts val="500"/>
              </a:spcAft>
              <a:defRPr sz="2100" b="0">
                <a:solidFill>
                  <a:srgbClr val="263343"/>
                </a:solidFill>
                <a:latin typeface="Calibri"/>
              </a:defRPr>
            </a:pPr>
            <a:r>
              <a:t>A larger sentence representation for the review baseline.</a:t>
            </a:r>
          </a:p>
          <a:p>
            <a:pPr algn="ctr">
              <a:spcBef>
                <a:spcPts val="0"/>
              </a:spcBef>
              <a:spcAft>
                <a:spcPts val="500"/>
              </a:spcAft>
              <a:defRPr sz="2100" b="0">
                <a:solidFill>
                  <a:srgbClr val="263343"/>
                </a:solidFill>
                <a:latin typeface="Calibri"/>
              </a:defRPr>
            </a:pPr>
            <a:r>
              <a:t>The embedding backbone is shown above; the classification stage is schematic.</a:t>
            </a:r>
          </a:p>
        </p:txBody>
      </p:sp>
      <p:sp>
        <p:nvSpPr>
          <p:cNvPr id="31" name="TextBox 30"/>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Backbone: Qwen3 Embedding paper and official 0.6B model card [7]. Baseline result: review document.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10</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ALBERT-base-v2 · Sentence-only five-class classifier</a:t>
            </a:r>
          </a:p>
        </p:txBody>
      </p:sp>
      <p:sp>
        <p:nvSpPr>
          <p:cNvPr id="12" name="Rounded Rectangle 11"/>
          <p:cNvSpPr/>
          <p:nvPr/>
        </p:nvSpPr>
        <p:spPr>
          <a:xfrm>
            <a:off x="941832" y="2304288"/>
            <a:ext cx="1825142" cy="118872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2414016"/>
            <a:ext cx="1678838" cy="100584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Sentence</a:t>
            </a:r>
          </a:p>
          <a:p>
            <a:pPr algn="ctr">
              <a:spcBef>
                <a:spcPts val="0"/>
              </a:spcBef>
              <a:spcAft>
                <a:spcPts val="500"/>
              </a:spcAft>
              <a:defRPr sz="1900" b="1">
                <a:solidFill>
                  <a:srgbClr val="263343"/>
                </a:solidFill>
                <a:latin typeface="Calibri"/>
              </a:defRPr>
            </a:pPr>
            <a:r>
              <a:t>+ special tokens</a:t>
            </a:r>
          </a:p>
        </p:txBody>
      </p:sp>
      <p:sp>
        <p:nvSpPr>
          <p:cNvPr id="14" name="Rounded Rectangle 13"/>
          <p:cNvSpPr/>
          <p:nvPr/>
        </p:nvSpPr>
        <p:spPr>
          <a:xfrm>
            <a:off x="3059582" y="2304288"/>
            <a:ext cx="1825142" cy="118872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32734" y="2414016"/>
            <a:ext cx="1678838" cy="100584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Factorized</a:t>
            </a:r>
          </a:p>
          <a:p>
            <a:pPr algn="ctr">
              <a:spcBef>
                <a:spcPts val="0"/>
              </a:spcBef>
              <a:spcAft>
                <a:spcPts val="500"/>
              </a:spcAft>
              <a:defRPr sz="1900" b="1">
                <a:solidFill>
                  <a:srgbClr val="263343"/>
                </a:solidFill>
                <a:latin typeface="Calibri"/>
              </a:defRPr>
            </a:pPr>
            <a:r>
              <a:t>embeddings</a:t>
            </a:r>
          </a:p>
        </p:txBody>
      </p:sp>
      <p:cxnSp>
        <p:nvCxnSpPr>
          <p:cNvPr id="16" name="Connector 15"/>
          <p:cNvCxnSpPr/>
          <p:nvPr/>
        </p:nvCxnSpPr>
        <p:spPr>
          <a:xfrm>
            <a:off x="2789834" y="289864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77332" y="2304288"/>
            <a:ext cx="1825142" cy="118872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0484" y="2414016"/>
            <a:ext cx="1678838" cy="100584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Shared ALBERT</a:t>
            </a:r>
          </a:p>
          <a:p>
            <a:pPr algn="ctr">
              <a:spcBef>
                <a:spcPts val="0"/>
              </a:spcBef>
              <a:spcAft>
                <a:spcPts val="500"/>
              </a:spcAft>
              <a:defRPr sz="1900" b="1">
                <a:solidFill>
                  <a:srgbClr val="263343"/>
                </a:solidFill>
                <a:latin typeface="Calibri"/>
              </a:defRPr>
            </a:pPr>
            <a:r>
              <a:t>encoder ×12</a:t>
            </a:r>
          </a:p>
        </p:txBody>
      </p:sp>
      <p:cxnSp>
        <p:nvCxnSpPr>
          <p:cNvPr id="19" name="Connector 18"/>
          <p:cNvCxnSpPr/>
          <p:nvPr/>
        </p:nvCxnSpPr>
        <p:spPr>
          <a:xfrm>
            <a:off x="4907584" y="289864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5083" y="2304288"/>
            <a:ext cx="1825142" cy="118872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8235" y="2414016"/>
            <a:ext cx="1678838" cy="100584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[CLS] pooler</a:t>
            </a:r>
          </a:p>
          <a:p>
            <a:pPr algn="ctr">
              <a:spcBef>
                <a:spcPts val="0"/>
              </a:spcBef>
              <a:spcAft>
                <a:spcPts val="500"/>
              </a:spcAft>
              <a:defRPr sz="1900" b="1">
                <a:solidFill>
                  <a:srgbClr val="263343"/>
                </a:solidFill>
                <a:latin typeface="Calibri"/>
              </a:defRPr>
            </a:pPr>
            <a:r>
              <a:t>+ classifier</a:t>
            </a:r>
          </a:p>
        </p:txBody>
      </p:sp>
      <p:cxnSp>
        <p:nvCxnSpPr>
          <p:cNvPr id="22" name="Connector 21"/>
          <p:cNvCxnSpPr/>
          <p:nvPr/>
        </p:nvCxnSpPr>
        <p:spPr>
          <a:xfrm>
            <a:off x="7025335" y="289864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412833" y="2304288"/>
            <a:ext cx="1825142" cy="118872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5985" y="2414016"/>
            <a:ext cx="1678838" cy="100584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Five label</a:t>
            </a:r>
          </a:p>
          <a:p>
            <a:pPr algn="ctr">
              <a:spcBef>
                <a:spcPts val="0"/>
              </a:spcBef>
              <a:spcAft>
                <a:spcPts val="500"/>
              </a:spcAft>
              <a:defRPr sz="1900" b="1">
                <a:solidFill>
                  <a:srgbClr val="263343"/>
                </a:solidFill>
                <a:latin typeface="Calibri"/>
              </a:defRPr>
            </a:pPr>
            <a:r>
              <a:t>probabilities</a:t>
            </a:r>
          </a:p>
        </p:txBody>
      </p:sp>
      <p:cxnSp>
        <p:nvCxnSpPr>
          <p:cNvPr id="25" name="Connector 24"/>
          <p:cNvCxnSpPr/>
          <p:nvPr/>
        </p:nvCxnSpPr>
        <p:spPr>
          <a:xfrm>
            <a:off x="9143085" y="289864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32688" y="3886200"/>
            <a:ext cx="4992624" cy="15727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15568" y="4032504"/>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Parameter efficiency</a:t>
            </a:r>
          </a:p>
        </p:txBody>
      </p:sp>
      <p:sp>
        <p:nvSpPr>
          <p:cNvPr id="28" name="TextBox 27"/>
          <p:cNvSpPr txBox="1"/>
          <p:nvPr/>
        </p:nvSpPr>
        <p:spPr>
          <a:xfrm>
            <a:off x="1115568" y="4608576"/>
            <a:ext cx="4626864" cy="731519"/>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Embedding projection and cross-layer sharing reduce learned parameters.</a:t>
            </a:r>
          </a:p>
        </p:txBody>
      </p:sp>
      <p:sp>
        <p:nvSpPr>
          <p:cNvPr id="29" name="Rounded Rectangle 28"/>
          <p:cNvSpPr/>
          <p:nvPr/>
        </p:nvSpPr>
        <p:spPr>
          <a:xfrm>
            <a:off x="6144768" y="3886200"/>
            <a:ext cx="5093208" cy="1572768"/>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27648" y="4032504"/>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Local experiment</a:t>
            </a:r>
          </a:p>
        </p:txBody>
      </p:sp>
      <p:sp>
        <p:nvSpPr>
          <p:cNvPr id="31" name="TextBox 30"/>
          <p:cNvSpPr txBox="1"/>
          <p:nvPr/>
        </p:nvSpPr>
        <p:spPr>
          <a:xfrm>
            <a:off x="6327648" y="4608576"/>
            <a:ext cx="4727448" cy="731519"/>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Six epochs · effective batch 64</a:t>
            </a:r>
          </a:p>
          <a:p>
            <a:pPr algn="l">
              <a:spcBef>
                <a:spcPts val="0"/>
              </a:spcBef>
              <a:spcAft>
                <a:spcPts val="500"/>
              </a:spcAft>
              <a:defRPr sz="2100" b="0">
                <a:solidFill>
                  <a:srgbClr val="263343"/>
                </a:solidFill>
                <a:latin typeface="Calibri"/>
              </a:defRPr>
            </a:pPr>
            <a:r>
              <a:t>Learning rate 2 × 10⁻⁵</a:t>
            </a:r>
          </a:p>
        </p:txBody>
      </p:sp>
      <p:sp>
        <p:nvSpPr>
          <p:cNvPr id="32" name="TextBox 3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ALBERT [3]. Local task and head: saved configuration and training implementation.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11</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ModernBERT-large · Sentence-only five-class classifier</a:t>
            </a:r>
          </a:p>
        </p:txBody>
      </p:sp>
      <p:sp>
        <p:nvSpPr>
          <p:cNvPr id="12" name="Rounded Rectangle 11"/>
          <p:cNvSpPr/>
          <p:nvPr/>
        </p:nvSpPr>
        <p:spPr>
          <a:xfrm>
            <a:off x="94183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Sentence</a:t>
            </a:r>
          </a:p>
          <a:p>
            <a:pPr algn="ctr">
              <a:spcBef>
                <a:spcPts val="0"/>
              </a:spcBef>
              <a:spcAft>
                <a:spcPts val="500"/>
              </a:spcAft>
              <a:defRPr sz="1900" b="1">
                <a:solidFill>
                  <a:srgbClr val="263343"/>
                </a:solidFill>
                <a:latin typeface="Calibri"/>
              </a:defRPr>
            </a:pPr>
            <a:r>
              <a:t>+ tokenizer</a:t>
            </a:r>
          </a:p>
        </p:txBody>
      </p:sp>
      <p:sp>
        <p:nvSpPr>
          <p:cNvPr id="14" name="Rounded Rectangle 13"/>
          <p:cNvSpPr/>
          <p:nvPr/>
        </p:nvSpPr>
        <p:spPr>
          <a:xfrm>
            <a:off x="305958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3273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Token</a:t>
            </a:r>
          </a:p>
          <a:p>
            <a:pPr algn="ctr">
              <a:spcBef>
                <a:spcPts val="0"/>
              </a:spcBef>
              <a:spcAft>
                <a:spcPts val="500"/>
              </a:spcAft>
              <a:defRPr sz="1900" b="1">
                <a:solidFill>
                  <a:srgbClr val="263343"/>
                </a:solidFill>
                <a:latin typeface="Calibri"/>
              </a:defRPr>
            </a:pPr>
            <a:r>
              <a:t>embeddings</a:t>
            </a:r>
          </a:p>
        </p:txBody>
      </p:sp>
      <p:cxnSp>
        <p:nvCxnSpPr>
          <p:cNvPr id="16" name="Connector 15"/>
          <p:cNvCxnSpPr/>
          <p:nvPr/>
        </p:nvCxnSpPr>
        <p:spPr>
          <a:xfrm>
            <a:off x="2789834"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7733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048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Local/global</a:t>
            </a:r>
          </a:p>
          <a:p>
            <a:pPr algn="ctr">
              <a:spcBef>
                <a:spcPts val="0"/>
              </a:spcBef>
              <a:spcAft>
                <a:spcPts val="500"/>
              </a:spcAft>
              <a:defRPr sz="1900" b="1">
                <a:solidFill>
                  <a:srgbClr val="263343"/>
                </a:solidFill>
                <a:latin typeface="Calibri"/>
              </a:defRPr>
            </a:pPr>
            <a:r>
              <a:t>encoder ×28</a:t>
            </a:r>
          </a:p>
        </p:txBody>
      </p:sp>
      <p:cxnSp>
        <p:nvCxnSpPr>
          <p:cNvPr id="19" name="Connector 18"/>
          <p:cNvCxnSpPr/>
          <p:nvPr/>
        </p:nvCxnSpPr>
        <p:spPr>
          <a:xfrm>
            <a:off x="4907584"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5083"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8235"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Mean pooling</a:t>
            </a:r>
          </a:p>
          <a:p>
            <a:pPr algn="ctr">
              <a:spcBef>
                <a:spcPts val="0"/>
              </a:spcBef>
              <a:spcAft>
                <a:spcPts val="500"/>
              </a:spcAft>
              <a:defRPr sz="1900" b="1">
                <a:solidFill>
                  <a:srgbClr val="263343"/>
                </a:solidFill>
                <a:latin typeface="Calibri"/>
              </a:defRPr>
            </a:pPr>
            <a:r>
              <a:t>+ classifier</a:t>
            </a:r>
          </a:p>
        </p:txBody>
      </p:sp>
      <p:cxnSp>
        <p:nvCxnSpPr>
          <p:cNvPr id="22" name="Connector 21"/>
          <p:cNvCxnSpPr/>
          <p:nvPr/>
        </p:nvCxnSpPr>
        <p:spPr>
          <a:xfrm>
            <a:off x="7025335"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412833"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5985"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Five label</a:t>
            </a:r>
          </a:p>
          <a:p>
            <a:pPr algn="ctr">
              <a:spcBef>
                <a:spcPts val="0"/>
              </a:spcBef>
              <a:spcAft>
                <a:spcPts val="500"/>
              </a:spcAft>
              <a:defRPr sz="1900" b="1">
                <a:solidFill>
                  <a:srgbClr val="263343"/>
                </a:solidFill>
                <a:latin typeface="Calibri"/>
              </a:defRPr>
            </a:pPr>
            <a:r>
              <a:t>probabilities</a:t>
            </a:r>
          </a:p>
        </p:txBody>
      </p:sp>
      <p:cxnSp>
        <p:nvCxnSpPr>
          <p:cNvPr id="25" name="Connector 24"/>
          <p:cNvCxnSpPr/>
          <p:nvPr/>
        </p:nvCxnSpPr>
        <p:spPr>
          <a:xfrm>
            <a:off x="9143085"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514600" y="3657600"/>
            <a:ext cx="7178040" cy="731520"/>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697480" y="3822191"/>
            <a:ext cx="6812280" cy="365760"/>
          </a:xfrm>
          <a:prstGeom prst="rect">
            <a:avLst/>
          </a:prstGeom>
          <a:noFill/>
        </p:spPr>
        <p:txBody>
          <a:bodyPr wrap="square" lIns="0" rIns="0" tIns="0" bIns="0" anchor="t">
            <a:spAutoFit/>
          </a:bodyPr>
          <a:lstStyle/>
          <a:p>
            <a:pPr algn="ctr">
              <a:spcBef>
                <a:spcPts val="0"/>
              </a:spcBef>
              <a:spcAft>
                <a:spcPts val="500"/>
              </a:spcAft>
              <a:defRPr sz="2300" b="1">
                <a:solidFill>
                  <a:srgbClr val="263343"/>
                </a:solidFill>
                <a:latin typeface="Calibri"/>
              </a:defRPr>
            </a:pPr>
            <a:r>
              <a:t>RoPE · GeGLU · periodic global attention</a:t>
            </a:r>
          </a:p>
        </p:txBody>
      </p:sp>
      <p:sp>
        <p:nvSpPr>
          <p:cNvPr id="28" name="TextBox 27"/>
          <p:cNvSpPr txBox="1"/>
          <p:nvPr/>
        </p:nvSpPr>
        <p:spPr>
          <a:xfrm>
            <a:off x="1005840" y="4745736"/>
            <a:ext cx="10149840" cy="777240"/>
          </a:xfrm>
          <a:prstGeom prst="rect">
            <a:avLst/>
          </a:prstGeom>
          <a:noFill/>
        </p:spPr>
        <p:txBody>
          <a:bodyPr wrap="square" lIns="0" rIns="0" tIns="0" bIns="0" anchor="t">
            <a:spAutoFit/>
          </a:bodyPr>
          <a:lstStyle/>
          <a:p>
            <a:pPr algn="ctr">
              <a:spcBef>
                <a:spcPts val="0"/>
              </a:spcBef>
              <a:spcAft>
                <a:spcPts val="500"/>
              </a:spcAft>
              <a:defRPr sz="2200" b="0">
                <a:solidFill>
                  <a:srgbClr val="263343"/>
                </a:solidFill>
                <a:latin typeface="Calibri"/>
              </a:defRPr>
            </a:pPr>
            <a:r>
              <a:t>Saved large-model run: 3 epochs · effective batch 32 · LR 3 × 10⁻⁵</a:t>
            </a:r>
          </a:p>
          <a:p>
            <a:pPr algn="ctr">
              <a:spcBef>
                <a:spcPts val="0"/>
              </a:spcBef>
              <a:spcAft>
                <a:spcPts val="500"/>
              </a:spcAft>
              <a:defRPr sz="2200" b="0">
                <a:solidFill>
                  <a:srgbClr val="263343"/>
                </a:solidFill>
                <a:latin typeface="Calibri"/>
              </a:defRPr>
            </a:pPr>
            <a:r>
              <a:t>Checkpoint selected by validation macro F1.</a:t>
            </a:r>
          </a:p>
        </p:txBody>
      </p:sp>
      <p:sp>
        <p:nvSpPr>
          <p:cNvPr id="29" name="TextBox 28"/>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ModernBERT [4]. Large variant: 28 layers, hidden width 1024; details verified in the saved model config.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12</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Qwen3.5-2B · Shared language backbone, two task adapters</a:t>
            </a:r>
          </a:p>
        </p:txBody>
      </p:sp>
      <p:sp>
        <p:nvSpPr>
          <p:cNvPr id="12" name="Rounded Rectangle 11"/>
          <p:cNvSpPr/>
          <p:nvPr/>
        </p:nvSpPr>
        <p:spPr>
          <a:xfrm>
            <a:off x="941832" y="2029968"/>
            <a:ext cx="2334768" cy="969264"/>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2139696"/>
            <a:ext cx="2188464" cy="786384"/>
          </a:xfrm>
          <a:prstGeom prst="rect">
            <a:avLst/>
          </a:prstGeom>
          <a:noFill/>
        </p:spPr>
        <p:txBody>
          <a:bodyPr wrap="square" lIns="0" rIns="0" tIns="0" bIns="0" anchor="ctr">
            <a:spAutoFit/>
          </a:bodyPr>
          <a:lstStyle/>
          <a:p>
            <a:pPr algn="ctr">
              <a:spcBef>
                <a:spcPts val="0"/>
              </a:spcBef>
              <a:spcAft>
                <a:spcPts val="500"/>
              </a:spcAft>
              <a:defRPr sz="2000" b="1">
                <a:solidFill>
                  <a:srgbClr val="263343"/>
                </a:solidFill>
                <a:latin typeface="Calibri"/>
              </a:defRPr>
            </a:pPr>
            <a:r>
              <a:t>Task prompt</a:t>
            </a:r>
          </a:p>
          <a:p>
            <a:pPr algn="ctr">
              <a:spcBef>
                <a:spcPts val="0"/>
              </a:spcBef>
              <a:spcAft>
                <a:spcPts val="500"/>
              </a:spcAft>
              <a:defRPr sz="2000" b="1">
                <a:solidFill>
                  <a:srgbClr val="263343"/>
                </a:solidFill>
                <a:latin typeface="Calibri"/>
              </a:defRPr>
            </a:pPr>
            <a:r>
              <a:t>+ tokenizer</a:t>
            </a:r>
          </a:p>
        </p:txBody>
      </p:sp>
      <p:sp>
        <p:nvSpPr>
          <p:cNvPr id="14" name="Rounded Rectangle 13"/>
          <p:cNvSpPr/>
          <p:nvPr/>
        </p:nvSpPr>
        <p:spPr>
          <a:xfrm>
            <a:off x="3569208" y="2029968"/>
            <a:ext cx="2334768" cy="969264"/>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42360" y="2139696"/>
            <a:ext cx="2188464" cy="786384"/>
          </a:xfrm>
          <a:prstGeom prst="rect">
            <a:avLst/>
          </a:prstGeom>
          <a:noFill/>
        </p:spPr>
        <p:txBody>
          <a:bodyPr wrap="square" lIns="0" rIns="0" tIns="0" bIns="0" anchor="ctr">
            <a:spAutoFit/>
          </a:bodyPr>
          <a:lstStyle/>
          <a:p>
            <a:pPr algn="ctr">
              <a:spcBef>
                <a:spcPts val="0"/>
              </a:spcBef>
              <a:spcAft>
                <a:spcPts val="500"/>
              </a:spcAft>
              <a:defRPr sz="2000" b="1">
                <a:solidFill>
                  <a:srgbClr val="263343"/>
                </a:solidFill>
                <a:latin typeface="Calibri"/>
              </a:defRPr>
            </a:pPr>
            <a:r>
              <a:t>Hybrid language</a:t>
            </a:r>
          </a:p>
          <a:p>
            <a:pPr algn="ctr">
              <a:spcBef>
                <a:spcPts val="0"/>
              </a:spcBef>
              <a:spcAft>
                <a:spcPts val="500"/>
              </a:spcAft>
              <a:defRPr sz="2000" b="1">
                <a:solidFill>
                  <a:srgbClr val="263343"/>
                </a:solidFill>
                <a:latin typeface="Calibri"/>
              </a:defRPr>
            </a:pPr>
            <a:r>
              <a:t>decoder ×24</a:t>
            </a:r>
          </a:p>
        </p:txBody>
      </p:sp>
      <p:cxnSp>
        <p:nvCxnSpPr>
          <p:cNvPr id="16" name="Connector 15"/>
          <p:cNvCxnSpPr/>
          <p:nvPr/>
        </p:nvCxnSpPr>
        <p:spPr>
          <a:xfrm>
            <a:off x="3299460" y="2514600"/>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96584" y="2029968"/>
            <a:ext cx="2334768" cy="969264"/>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9736" y="2139696"/>
            <a:ext cx="2188464" cy="786384"/>
          </a:xfrm>
          <a:prstGeom prst="rect">
            <a:avLst/>
          </a:prstGeom>
          <a:noFill/>
        </p:spPr>
        <p:txBody>
          <a:bodyPr wrap="square" lIns="0" rIns="0" tIns="0" bIns="0" anchor="ctr">
            <a:spAutoFit/>
          </a:bodyPr>
          <a:lstStyle/>
          <a:p>
            <a:pPr algn="ctr">
              <a:spcBef>
                <a:spcPts val="0"/>
              </a:spcBef>
              <a:spcAft>
                <a:spcPts val="500"/>
              </a:spcAft>
              <a:defRPr sz="2000" b="1">
                <a:solidFill>
                  <a:srgbClr val="263343"/>
                </a:solidFill>
                <a:latin typeface="Calibri"/>
              </a:defRPr>
            </a:pPr>
            <a:r>
              <a:t>Language-model</a:t>
            </a:r>
          </a:p>
          <a:p>
            <a:pPr algn="ctr">
              <a:spcBef>
                <a:spcPts val="0"/>
              </a:spcBef>
              <a:spcAft>
                <a:spcPts val="500"/>
              </a:spcAft>
              <a:defRPr sz="2000" b="1">
                <a:solidFill>
                  <a:srgbClr val="263343"/>
                </a:solidFill>
                <a:latin typeface="Calibri"/>
              </a:defRPr>
            </a:pPr>
            <a:r>
              <a:t>head</a:t>
            </a:r>
          </a:p>
        </p:txBody>
      </p:sp>
      <p:cxnSp>
        <p:nvCxnSpPr>
          <p:cNvPr id="19" name="Connector 18"/>
          <p:cNvCxnSpPr/>
          <p:nvPr/>
        </p:nvCxnSpPr>
        <p:spPr>
          <a:xfrm>
            <a:off x="5926836" y="2514600"/>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796528" y="2029968"/>
            <a:ext cx="2423160" cy="969264"/>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24544" y="2194560"/>
            <a:ext cx="2167128" cy="621792"/>
          </a:xfrm>
          <a:prstGeom prst="rect">
            <a:avLst/>
          </a:prstGeom>
          <a:noFill/>
        </p:spPr>
        <p:txBody>
          <a:bodyPr wrap="square" lIns="0" rIns="0" tIns="0" bIns="0" anchor="t">
            <a:spAutoFit/>
          </a:bodyPr>
          <a:lstStyle/>
          <a:p>
            <a:pPr algn="ctr">
              <a:spcBef>
                <a:spcPts val="0"/>
              </a:spcBef>
              <a:spcAft>
                <a:spcPts val="500"/>
              </a:spcAft>
              <a:defRPr sz="2000" b="1">
                <a:solidFill>
                  <a:srgbClr val="263343"/>
                </a:solidFill>
                <a:latin typeface="Calibri"/>
              </a:defRPr>
            </a:pPr>
            <a:r>
              <a:t>Task LoRA</a:t>
            </a:r>
          </a:p>
          <a:p>
            <a:pPr algn="ctr">
              <a:spcBef>
                <a:spcPts val="0"/>
              </a:spcBef>
              <a:spcAft>
                <a:spcPts val="500"/>
              </a:spcAft>
              <a:defRPr sz="2000" b="1">
                <a:solidFill>
                  <a:srgbClr val="263343"/>
                </a:solidFill>
                <a:latin typeface="Calibri"/>
              </a:defRPr>
            </a:pPr>
            <a:r>
              <a:t>r=16 · α=32</a:t>
            </a:r>
          </a:p>
        </p:txBody>
      </p:sp>
      <p:cxnSp>
        <p:nvCxnSpPr>
          <p:cNvPr id="22" name="Connector 21"/>
          <p:cNvCxnSpPr/>
          <p:nvPr/>
        </p:nvCxnSpPr>
        <p:spPr>
          <a:xfrm>
            <a:off x="10003536" y="3017520"/>
            <a:ext cx="0" cy="146304"/>
          </a:xfrm>
          <a:prstGeom prst="line">
            <a:avLst/>
          </a:prstGeom>
          <a:ln w="19050">
            <a:solidFill>
              <a:srgbClr val="4472C4"/>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4736592" y="3163824"/>
            <a:ext cx="5266944" cy="0"/>
          </a:xfrm>
          <a:prstGeom prst="line">
            <a:avLst/>
          </a:prstGeom>
          <a:ln w="19050">
            <a:solidFill>
              <a:srgbClr val="4472C4"/>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736592" y="3017520"/>
            <a:ext cx="0" cy="146304"/>
          </a:xfrm>
          <a:prstGeom prst="line">
            <a:avLst/>
          </a:prstGeom>
          <a:ln w="19050">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32688" y="3319272"/>
            <a:ext cx="10287000" cy="64008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3465576"/>
            <a:ext cx="9957816" cy="320040"/>
          </a:xfrm>
          <a:prstGeom prst="rect">
            <a:avLst/>
          </a:prstGeom>
          <a:noFill/>
        </p:spPr>
        <p:txBody>
          <a:bodyPr wrap="square" lIns="0" rIns="0" tIns="0" bIns="0" anchor="t">
            <a:spAutoFit/>
          </a:bodyPr>
          <a:lstStyle/>
          <a:p>
            <a:pPr algn="ctr">
              <a:spcBef>
                <a:spcPts val="0"/>
              </a:spcBef>
              <a:spcAft>
                <a:spcPts val="500"/>
              </a:spcAft>
              <a:defRPr sz="2200" b="1">
                <a:solidFill>
                  <a:srgbClr val="263343"/>
                </a:solidFill>
                <a:latin typeface="Calibri"/>
              </a:defRPr>
            </a:pPr>
            <a:r>
              <a:t>Repeated block: 3 × gated linear attention + 1 × full attention</a:t>
            </a:r>
          </a:p>
        </p:txBody>
      </p:sp>
      <p:sp>
        <p:nvSpPr>
          <p:cNvPr id="27" name="Rounded Rectangle 26"/>
          <p:cNvSpPr/>
          <p:nvPr/>
        </p:nvSpPr>
        <p:spPr>
          <a:xfrm>
            <a:off x="932688" y="4242816"/>
            <a:ext cx="4992624" cy="1353312"/>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15568" y="4389120"/>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Label task</a:t>
            </a:r>
          </a:p>
        </p:txBody>
      </p:sp>
      <p:sp>
        <p:nvSpPr>
          <p:cNvPr id="29" name="TextBox 28"/>
          <p:cNvSpPr txBox="1"/>
          <p:nvPr/>
        </p:nvSpPr>
        <p:spPr>
          <a:xfrm>
            <a:off x="1115568" y="4965192"/>
            <a:ext cx="4626864" cy="512063"/>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Category + Target + Sentence → label</a:t>
            </a:r>
          </a:p>
        </p:txBody>
      </p:sp>
      <p:sp>
        <p:nvSpPr>
          <p:cNvPr id="30" name="Rounded Rectangle 29"/>
          <p:cNvSpPr/>
          <p:nvPr/>
        </p:nvSpPr>
        <p:spPr>
          <a:xfrm>
            <a:off x="6144768" y="4242816"/>
            <a:ext cx="5093208" cy="1353312"/>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7648" y="4389120"/>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JSON task</a:t>
            </a:r>
          </a:p>
        </p:txBody>
      </p:sp>
      <p:sp>
        <p:nvSpPr>
          <p:cNvPr id="32" name="TextBox 31"/>
          <p:cNvSpPr txBox="1"/>
          <p:nvPr/>
        </p:nvSpPr>
        <p:spPr>
          <a:xfrm>
            <a:off x="6327648" y="4965192"/>
            <a:ext cx="4727448" cy="512063"/>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Sentence → category + target + label</a:t>
            </a:r>
          </a:p>
        </p:txBody>
      </p:sp>
      <p:sp>
        <p:nvSpPr>
          <p:cNvPr id="33" name="TextBox 32"/>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Qwen3.5-2B model configuration [8]; LoRA [9]. Text pathway only; separate task adapters.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13</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Aligned word-level explanations for the encoder classifiers</a:t>
            </a:r>
          </a:p>
        </p:txBody>
      </p:sp>
      <p:sp>
        <p:nvSpPr>
          <p:cNvPr id="12" name="Rounded Rectangle 11"/>
          <p:cNvSpPr/>
          <p:nvPr/>
        </p:nvSpPr>
        <p:spPr>
          <a:xfrm>
            <a:off x="941832" y="2231136"/>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2340864"/>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Sentence</a:t>
            </a:r>
          </a:p>
          <a:p>
            <a:pPr algn="ctr">
              <a:spcBef>
                <a:spcPts val="0"/>
              </a:spcBef>
              <a:spcAft>
                <a:spcPts val="500"/>
              </a:spcAft>
              <a:defRPr sz="1900" b="1">
                <a:solidFill>
                  <a:srgbClr val="263343"/>
                </a:solidFill>
                <a:latin typeface="Calibri"/>
              </a:defRPr>
            </a:pPr>
            <a:r>
              <a:t>word positions</a:t>
            </a:r>
          </a:p>
        </p:txBody>
      </p:sp>
      <p:sp>
        <p:nvSpPr>
          <p:cNvPr id="14" name="Rounded Rectangle 13"/>
          <p:cNvSpPr/>
          <p:nvPr/>
        </p:nvSpPr>
        <p:spPr>
          <a:xfrm>
            <a:off x="3059582" y="2231136"/>
            <a:ext cx="1825142" cy="1115568"/>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32734" y="2340864"/>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Masked-word</a:t>
            </a:r>
          </a:p>
          <a:p>
            <a:pPr algn="ctr">
              <a:spcBef>
                <a:spcPts val="0"/>
              </a:spcBef>
              <a:spcAft>
                <a:spcPts val="500"/>
              </a:spcAft>
              <a:defRPr sz="1900" b="1">
                <a:solidFill>
                  <a:srgbClr val="263343"/>
                </a:solidFill>
                <a:latin typeface="Calibri"/>
              </a:defRPr>
            </a:pPr>
            <a:r>
              <a:t>variants</a:t>
            </a:r>
          </a:p>
        </p:txBody>
      </p:sp>
      <p:cxnSp>
        <p:nvCxnSpPr>
          <p:cNvPr id="16" name="Connector 15"/>
          <p:cNvCxnSpPr/>
          <p:nvPr/>
        </p:nvCxnSpPr>
        <p:spPr>
          <a:xfrm>
            <a:off x="2789834" y="2788920"/>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77332" y="2231136"/>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0484" y="2340864"/>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Saved encoder</a:t>
            </a:r>
          </a:p>
          <a:p>
            <a:pPr algn="ctr">
              <a:spcBef>
                <a:spcPts val="0"/>
              </a:spcBef>
              <a:spcAft>
                <a:spcPts val="500"/>
              </a:spcAft>
              <a:defRPr sz="1900" b="1">
                <a:solidFill>
                  <a:srgbClr val="263343"/>
                </a:solidFill>
                <a:latin typeface="Calibri"/>
              </a:defRPr>
            </a:pPr>
            <a:r>
              <a:t>probabilities</a:t>
            </a:r>
          </a:p>
        </p:txBody>
      </p:sp>
      <p:cxnSp>
        <p:nvCxnSpPr>
          <p:cNvPr id="19" name="Connector 18"/>
          <p:cNvCxnSpPr/>
          <p:nvPr/>
        </p:nvCxnSpPr>
        <p:spPr>
          <a:xfrm>
            <a:off x="4907584" y="2788920"/>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5083" y="2231136"/>
            <a:ext cx="1825142" cy="1115568"/>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8235" y="2340864"/>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LIME /</a:t>
            </a:r>
          </a:p>
          <a:p>
            <a:pPr algn="ctr">
              <a:spcBef>
                <a:spcPts val="0"/>
              </a:spcBef>
              <a:spcAft>
                <a:spcPts val="500"/>
              </a:spcAft>
              <a:defRPr sz="1900" b="1">
                <a:solidFill>
                  <a:srgbClr val="263343"/>
                </a:solidFill>
                <a:latin typeface="Calibri"/>
              </a:defRPr>
            </a:pPr>
            <a:r>
              <a:t>Kernel SHAP</a:t>
            </a:r>
          </a:p>
        </p:txBody>
      </p:sp>
      <p:cxnSp>
        <p:nvCxnSpPr>
          <p:cNvPr id="22" name="Connector 21"/>
          <p:cNvCxnSpPr/>
          <p:nvPr/>
        </p:nvCxnSpPr>
        <p:spPr>
          <a:xfrm>
            <a:off x="7025335" y="2788920"/>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412833" y="2231136"/>
            <a:ext cx="1825142" cy="1115568"/>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5985" y="2340864"/>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Word scores</a:t>
            </a:r>
          </a:p>
          <a:p>
            <a:pPr algn="ctr">
              <a:spcBef>
                <a:spcPts val="0"/>
              </a:spcBef>
              <a:spcAft>
                <a:spcPts val="500"/>
              </a:spcAft>
              <a:defRPr sz="1900" b="1">
                <a:solidFill>
                  <a:srgbClr val="263343"/>
                </a:solidFill>
                <a:latin typeface="Calibri"/>
              </a:defRPr>
            </a:pPr>
            <a:r>
              <a:t>+ masking checks</a:t>
            </a:r>
          </a:p>
        </p:txBody>
      </p:sp>
      <p:cxnSp>
        <p:nvCxnSpPr>
          <p:cNvPr id="25" name="Connector 24"/>
          <p:cNvCxnSpPr/>
          <p:nvPr/>
        </p:nvCxnSpPr>
        <p:spPr>
          <a:xfrm>
            <a:off x="9143085" y="2788920"/>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32688" y="3813048"/>
            <a:ext cx="4992624" cy="164592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15568" y="3959352"/>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Matched features</a:t>
            </a:r>
          </a:p>
        </p:txBody>
      </p:sp>
      <p:sp>
        <p:nvSpPr>
          <p:cNvPr id="28" name="TextBox 27"/>
          <p:cNvSpPr txBox="1"/>
          <p:nvPr/>
        </p:nvSpPr>
        <p:spPr>
          <a:xfrm>
            <a:off x="1115568" y="4535424"/>
            <a:ext cx="4626864" cy="804672"/>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Same word positions, masking token, and explained class for both methods.</a:t>
            </a:r>
          </a:p>
        </p:txBody>
      </p:sp>
      <p:sp>
        <p:nvSpPr>
          <p:cNvPr id="29" name="Rounded Rectangle 28"/>
          <p:cNvSpPr/>
          <p:nvPr/>
        </p:nvSpPr>
        <p:spPr>
          <a:xfrm>
            <a:off x="6144768" y="3813048"/>
            <a:ext cx="5093208" cy="1645920"/>
          </a:xfrm>
          <a:prstGeom prst="roundRect">
            <a:avLst>
              <a:gd name="adj" fmla="val 7000"/>
            </a:avLst>
          </a:prstGeom>
          <a:solidFill>
            <a:srgbClr val="FBF6E9"/>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27648" y="3959352"/>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Diagnostic interpretation</a:t>
            </a:r>
          </a:p>
        </p:txBody>
      </p:sp>
      <p:sp>
        <p:nvSpPr>
          <p:cNvPr id="31" name="TextBox 30"/>
          <p:cNvSpPr txBox="1"/>
          <p:nvPr/>
        </p:nvSpPr>
        <p:spPr>
          <a:xfrm>
            <a:off x="6327648" y="4535424"/>
            <a:ext cx="4727448" cy="804672"/>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Agreement describes model sensitivity; it does not establish that a prediction is correct.</a:t>
            </a:r>
          </a:p>
        </p:txBody>
      </p:sp>
      <p:sp>
        <p:nvSpPr>
          <p:cNvPr id="32" name="TextBox 3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Method sources: HEARTS [2], LIME [10], SHAP [11]. Local explanation settings are recorded per run.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14</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Dataset, training setup, and evaluation protocol</a:t>
            </a:r>
          </a:p>
        </p:txBody>
      </p:sp>
      <p:sp>
        <p:nvSpPr>
          <p:cNvPr id="12" name="Rounded Rectangle 11"/>
          <p:cNvSpPr/>
          <p:nvPr/>
        </p:nvSpPr>
        <p:spPr>
          <a:xfrm>
            <a:off x="932688" y="1920240"/>
            <a:ext cx="3291840" cy="123444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2075688"/>
            <a:ext cx="3017520" cy="548640"/>
          </a:xfrm>
          <a:prstGeom prst="rect">
            <a:avLst/>
          </a:prstGeom>
          <a:noFill/>
        </p:spPr>
        <p:txBody>
          <a:bodyPr wrap="square" lIns="0" rIns="0" tIns="0" bIns="0" anchor="t">
            <a:spAutoFit/>
          </a:bodyPr>
          <a:lstStyle/>
          <a:p>
            <a:pPr algn="ctr">
              <a:spcBef>
                <a:spcPts val="0"/>
              </a:spcBef>
              <a:spcAft>
                <a:spcPts val="500"/>
              </a:spcAft>
              <a:defRPr sz="3400" b="1">
                <a:solidFill>
                  <a:srgbClr val="4F8567"/>
                </a:solidFill>
                <a:latin typeface="Calibri"/>
              </a:defRPr>
            </a:pPr>
            <a:r>
              <a:t>6,080</a:t>
            </a:r>
          </a:p>
        </p:txBody>
      </p:sp>
      <p:sp>
        <p:nvSpPr>
          <p:cNvPr id="14" name="TextBox 13"/>
          <p:cNvSpPr txBox="1"/>
          <p:nvPr/>
        </p:nvSpPr>
        <p:spPr>
          <a:xfrm>
            <a:off x="1042416" y="2715768"/>
            <a:ext cx="3072384" cy="274320"/>
          </a:xfrm>
          <a:prstGeom prst="rect">
            <a:avLst/>
          </a:prstGeom>
          <a:noFill/>
        </p:spPr>
        <p:txBody>
          <a:bodyPr wrap="square" lIns="0" rIns="0" tIns="0" bIns="0" anchor="t">
            <a:spAutoFit/>
          </a:bodyPr>
          <a:lstStyle/>
          <a:p>
            <a:pPr algn="ctr">
              <a:spcBef>
                <a:spcPts val="0"/>
              </a:spcBef>
              <a:spcAft>
                <a:spcPts val="500"/>
              </a:spcAft>
              <a:defRPr sz="1600" b="0">
                <a:solidFill>
                  <a:srgbClr val="263343"/>
                </a:solidFill>
                <a:latin typeface="Calibri"/>
              </a:defRPr>
            </a:pPr>
            <a:r>
              <a:t>Training examples</a:t>
            </a:r>
          </a:p>
        </p:txBody>
      </p:sp>
      <p:sp>
        <p:nvSpPr>
          <p:cNvPr id="15" name="Rounded Rectangle 14"/>
          <p:cNvSpPr/>
          <p:nvPr/>
        </p:nvSpPr>
        <p:spPr>
          <a:xfrm>
            <a:off x="4434840" y="1920240"/>
            <a:ext cx="3291840" cy="12344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075688"/>
            <a:ext cx="3017520" cy="548640"/>
          </a:xfrm>
          <a:prstGeom prst="rect">
            <a:avLst/>
          </a:prstGeom>
          <a:noFill/>
        </p:spPr>
        <p:txBody>
          <a:bodyPr wrap="square" lIns="0" rIns="0" tIns="0" bIns="0" anchor="t">
            <a:spAutoFit/>
          </a:bodyPr>
          <a:lstStyle/>
          <a:p>
            <a:pPr algn="ctr">
              <a:spcBef>
                <a:spcPts val="0"/>
              </a:spcBef>
              <a:spcAft>
                <a:spcPts val="500"/>
              </a:spcAft>
              <a:defRPr sz="3400" b="1">
                <a:solidFill>
                  <a:srgbClr val="4F8567"/>
                </a:solidFill>
                <a:latin typeface="Calibri"/>
              </a:defRPr>
            </a:pPr>
            <a:r>
              <a:t>868</a:t>
            </a:r>
          </a:p>
        </p:txBody>
      </p:sp>
      <p:sp>
        <p:nvSpPr>
          <p:cNvPr id="17" name="TextBox 16"/>
          <p:cNvSpPr txBox="1"/>
          <p:nvPr/>
        </p:nvSpPr>
        <p:spPr>
          <a:xfrm>
            <a:off x="4544568" y="2715768"/>
            <a:ext cx="3072384" cy="274320"/>
          </a:xfrm>
          <a:prstGeom prst="rect">
            <a:avLst/>
          </a:prstGeom>
          <a:noFill/>
        </p:spPr>
        <p:txBody>
          <a:bodyPr wrap="square" lIns="0" rIns="0" tIns="0" bIns="0" anchor="t">
            <a:spAutoFit/>
          </a:bodyPr>
          <a:lstStyle/>
          <a:p>
            <a:pPr algn="ctr">
              <a:spcBef>
                <a:spcPts val="0"/>
              </a:spcBef>
              <a:spcAft>
                <a:spcPts val="500"/>
              </a:spcAft>
              <a:defRPr sz="1600" b="0">
                <a:solidFill>
                  <a:srgbClr val="263343"/>
                </a:solidFill>
                <a:latin typeface="Calibri"/>
              </a:defRPr>
            </a:pPr>
            <a:r>
              <a:t>Validation examples</a:t>
            </a:r>
          </a:p>
        </p:txBody>
      </p:sp>
      <p:sp>
        <p:nvSpPr>
          <p:cNvPr id="18" name="Rounded Rectangle 17"/>
          <p:cNvSpPr/>
          <p:nvPr/>
        </p:nvSpPr>
        <p:spPr>
          <a:xfrm>
            <a:off x="7936992" y="1920240"/>
            <a:ext cx="3291840" cy="1234440"/>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74152" y="2075688"/>
            <a:ext cx="3017520" cy="548640"/>
          </a:xfrm>
          <a:prstGeom prst="rect">
            <a:avLst/>
          </a:prstGeom>
          <a:noFill/>
        </p:spPr>
        <p:txBody>
          <a:bodyPr wrap="square" lIns="0" rIns="0" tIns="0" bIns="0" anchor="t">
            <a:spAutoFit/>
          </a:bodyPr>
          <a:lstStyle/>
          <a:p>
            <a:pPr algn="ctr">
              <a:spcBef>
                <a:spcPts val="0"/>
              </a:spcBef>
              <a:spcAft>
                <a:spcPts val="500"/>
              </a:spcAft>
              <a:defRPr sz="3400" b="1">
                <a:solidFill>
                  <a:srgbClr val="4F8567"/>
                </a:solidFill>
                <a:latin typeface="Calibri"/>
              </a:defRPr>
            </a:pPr>
            <a:r>
              <a:t>1,738</a:t>
            </a:r>
          </a:p>
        </p:txBody>
      </p:sp>
      <p:sp>
        <p:nvSpPr>
          <p:cNvPr id="20" name="TextBox 19"/>
          <p:cNvSpPr txBox="1"/>
          <p:nvPr/>
        </p:nvSpPr>
        <p:spPr>
          <a:xfrm>
            <a:off x="8046719" y="2715768"/>
            <a:ext cx="3072384" cy="274320"/>
          </a:xfrm>
          <a:prstGeom prst="rect">
            <a:avLst/>
          </a:prstGeom>
          <a:noFill/>
        </p:spPr>
        <p:txBody>
          <a:bodyPr wrap="square" lIns="0" rIns="0" tIns="0" bIns="0" anchor="t">
            <a:spAutoFit/>
          </a:bodyPr>
          <a:lstStyle/>
          <a:p>
            <a:pPr algn="ctr">
              <a:spcBef>
                <a:spcPts val="0"/>
              </a:spcBef>
              <a:spcAft>
                <a:spcPts val="500"/>
              </a:spcAft>
              <a:defRPr sz="1600" b="0">
                <a:solidFill>
                  <a:srgbClr val="263343"/>
                </a:solidFill>
                <a:latin typeface="Calibri"/>
              </a:defRPr>
            </a:pPr>
            <a:r>
              <a:t>Test examples</a:t>
            </a:r>
          </a:p>
        </p:txBody>
      </p:sp>
      <p:graphicFrame>
        <p:nvGraphicFramePr>
          <p:cNvPr id="21" name="Table 20"/>
          <p:cNvGraphicFramePr>
            <a:graphicFrameLocks noGrp="1"/>
          </p:cNvGraphicFramePr>
          <p:nvPr/>
        </p:nvGraphicFramePr>
        <p:xfrm>
          <a:off x="932688" y="3538728"/>
          <a:ext cx="10286999" cy="1828800"/>
        </p:xfrm>
        <a:graphic>
          <a:graphicData uri="http://schemas.openxmlformats.org/drawingml/2006/table">
            <a:tbl>
              <a:tblPr firstRow="1" bandRow="1">
                <a:tableStyleId>{5C22544A-7EE6-4342-B048-85BDC9FD1C3A}</a:tableStyleId>
              </a:tblPr>
              <a:tblGrid>
                <a:gridCol w="3749039"/>
                <a:gridCol w="1508760"/>
                <a:gridCol w="2468880"/>
                <a:gridCol w="2560320"/>
              </a:tblGrid>
              <a:tr h="457200">
                <a:tc>
                  <a:txBody>
                    <a:bodyPr/>
                    <a:lstStyle/>
                    <a:p>
                      <a:pPr algn="l">
                        <a:defRPr sz="1800" b="1">
                          <a:solidFill>
                            <a:srgbClr val="25354A"/>
                          </a:solidFill>
                          <a:latin typeface="Calibri"/>
                        </a:defRPr>
                      </a:pPr>
                      <a:r>
                        <a:t>Saved training run</a:t>
                      </a:r>
                    </a:p>
                  </a:txBody>
                  <a:tcPr marL="109728" marR="109728" marT="64008" marB="64008" anchor="ctr">
                    <a:solidFill>
                      <a:srgbClr val="EEF3FB"/>
                    </a:solidFill>
                  </a:tcPr>
                </a:tc>
                <a:tc>
                  <a:txBody>
                    <a:bodyPr/>
                    <a:lstStyle/>
                    <a:p>
                      <a:pPr algn="ctr">
                        <a:defRPr sz="1800" b="1">
                          <a:solidFill>
                            <a:srgbClr val="25354A"/>
                          </a:solidFill>
                          <a:latin typeface="Calibri"/>
                        </a:defRPr>
                      </a:pPr>
                      <a:r>
                        <a:t>Epochs</a:t>
                      </a:r>
                    </a:p>
                  </a:txBody>
                  <a:tcPr marL="109728" marR="109728" marT="64008" marB="64008" anchor="ctr">
                    <a:solidFill>
                      <a:srgbClr val="EEF3FB"/>
                    </a:solidFill>
                  </a:tcPr>
                </a:tc>
                <a:tc>
                  <a:txBody>
                    <a:bodyPr/>
                    <a:lstStyle/>
                    <a:p>
                      <a:pPr algn="ctr">
                        <a:defRPr sz="1800" b="1">
                          <a:solidFill>
                            <a:srgbClr val="25354A"/>
                          </a:solidFill>
                          <a:latin typeface="Calibri"/>
                        </a:defRPr>
                      </a:pPr>
                      <a:r>
                        <a:t>Effective batch</a:t>
                      </a:r>
                    </a:p>
                  </a:txBody>
                  <a:tcPr marL="109728" marR="109728" marT="64008" marB="64008" anchor="ctr">
                    <a:solidFill>
                      <a:srgbClr val="EEF3FB"/>
                    </a:solidFill>
                  </a:tcPr>
                </a:tc>
                <a:tc>
                  <a:txBody>
                    <a:bodyPr/>
                    <a:lstStyle/>
                    <a:p>
                      <a:pPr algn="ctr">
                        <a:defRPr sz="1800" b="1">
                          <a:solidFill>
                            <a:srgbClr val="25354A"/>
                          </a:solidFill>
                          <a:latin typeface="Calibri"/>
                        </a:defRPr>
                      </a:pPr>
                      <a:r>
                        <a:t>Learning rate</a:t>
                      </a:r>
                    </a:p>
                  </a:txBody>
                  <a:tcPr marL="109728" marR="109728" marT="64008" marB="64008" anchor="ctr">
                    <a:solidFill>
                      <a:srgbClr val="EEF3FB"/>
                    </a:solidFill>
                  </a:tcPr>
                </a:tc>
              </a:tr>
              <a:tr h="457200">
                <a:tc>
                  <a:txBody>
                    <a:bodyPr/>
                    <a:lstStyle/>
                    <a:p>
                      <a:pPr algn="l">
                        <a:defRPr sz="1800" b="0">
                          <a:solidFill>
                            <a:srgbClr val="263343"/>
                          </a:solidFill>
                          <a:latin typeface="Calibri"/>
                        </a:defRPr>
                      </a:pPr>
                      <a:r>
                        <a:t>ALBERT-base-v2</a:t>
                      </a:r>
                    </a:p>
                  </a:txBody>
                  <a:tcPr marL="109728" marR="109728" marT="64008" marB="64008" anchor="ctr">
                    <a:solidFill>
                      <a:srgbClr val="F8FAFC"/>
                    </a:solidFill>
                  </a:tcPr>
                </a:tc>
                <a:tc>
                  <a:txBody>
                    <a:bodyPr/>
                    <a:lstStyle/>
                    <a:p>
                      <a:pPr algn="ctr">
                        <a:defRPr sz="1800" b="0">
                          <a:solidFill>
                            <a:srgbClr val="263343"/>
                          </a:solidFill>
                          <a:latin typeface="Calibri"/>
                        </a:defRPr>
                      </a:pPr>
                      <a:r>
                        <a:t>6</a:t>
                      </a:r>
                    </a:p>
                  </a:txBody>
                  <a:tcPr marL="109728" marR="109728" marT="64008" marB="64008" anchor="ctr">
                    <a:solidFill>
                      <a:srgbClr val="F8FAFC"/>
                    </a:solidFill>
                  </a:tcPr>
                </a:tc>
                <a:tc>
                  <a:txBody>
                    <a:bodyPr/>
                    <a:lstStyle/>
                    <a:p>
                      <a:pPr algn="ctr">
                        <a:defRPr sz="1800" b="0">
                          <a:solidFill>
                            <a:srgbClr val="263343"/>
                          </a:solidFill>
                          <a:latin typeface="Calibri"/>
                        </a:defRPr>
                      </a:pPr>
                      <a:r>
                        <a:t>64</a:t>
                      </a:r>
                    </a:p>
                  </a:txBody>
                  <a:tcPr marL="109728" marR="109728" marT="64008" marB="64008" anchor="ctr">
                    <a:solidFill>
                      <a:srgbClr val="F8FAFC"/>
                    </a:solidFill>
                  </a:tcPr>
                </a:tc>
                <a:tc>
                  <a:txBody>
                    <a:bodyPr/>
                    <a:lstStyle/>
                    <a:p>
                      <a:pPr algn="ctr">
                        <a:defRPr sz="1800" b="0">
                          <a:solidFill>
                            <a:srgbClr val="263343"/>
                          </a:solidFill>
                          <a:latin typeface="Calibri"/>
                        </a:defRPr>
                      </a:pPr>
                      <a:r>
                        <a:t>2 × 10⁻⁵</a:t>
                      </a:r>
                    </a:p>
                  </a:txBody>
                  <a:tcPr marL="109728" marR="109728" marT="64008" marB="64008" anchor="ctr">
                    <a:solidFill>
                      <a:srgbClr val="F8FAFC"/>
                    </a:solidFill>
                  </a:tcPr>
                </a:tc>
              </a:tr>
              <a:tr h="457200">
                <a:tc>
                  <a:txBody>
                    <a:bodyPr/>
                    <a:lstStyle/>
                    <a:p>
                      <a:pPr algn="l">
                        <a:defRPr sz="1800" b="0">
                          <a:solidFill>
                            <a:srgbClr val="263343"/>
                          </a:solidFill>
                          <a:latin typeface="Calibri"/>
                        </a:defRPr>
                      </a:pPr>
                      <a:r>
                        <a:t>ModernBERT-large</a:t>
                      </a:r>
                    </a:p>
                  </a:txBody>
                  <a:tcPr marL="109728" marR="109728" marT="64008" marB="64008" anchor="ctr">
                    <a:solidFill>
                      <a:srgbClr val="FFFFFF"/>
                    </a:solidFill>
                  </a:tcPr>
                </a:tc>
                <a:tc>
                  <a:txBody>
                    <a:bodyPr/>
                    <a:lstStyle/>
                    <a:p>
                      <a:pPr algn="ctr">
                        <a:defRPr sz="1800" b="0">
                          <a:solidFill>
                            <a:srgbClr val="263343"/>
                          </a:solidFill>
                          <a:latin typeface="Calibri"/>
                        </a:defRPr>
                      </a:pPr>
                      <a:r>
                        <a:t>3</a:t>
                      </a:r>
                    </a:p>
                  </a:txBody>
                  <a:tcPr marL="109728" marR="109728" marT="64008" marB="64008" anchor="ctr">
                    <a:solidFill>
                      <a:srgbClr val="FFFFFF"/>
                    </a:solidFill>
                  </a:tcPr>
                </a:tc>
                <a:tc>
                  <a:txBody>
                    <a:bodyPr/>
                    <a:lstStyle/>
                    <a:p>
                      <a:pPr algn="ctr">
                        <a:defRPr sz="1800" b="0">
                          <a:solidFill>
                            <a:srgbClr val="263343"/>
                          </a:solidFill>
                          <a:latin typeface="Calibri"/>
                        </a:defRPr>
                      </a:pPr>
                      <a:r>
                        <a:t>32</a:t>
                      </a:r>
                    </a:p>
                  </a:txBody>
                  <a:tcPr marL="109728" marR="109728" marT="64008" marB="64008" anchor="ctr">
                    <a:solidFill>
                      <a:srgbClr val="FFFFFF"/>
                    </a:solidFill>
                  </a:tcPr>
                </a:tc>
                <a:tc>
                  <a:txBody>
                    <a:bodyPr/>
                    <a:lstStyle/>
                    <a:p>
                      <a:pPr algn="ctr">
                        <a:defRPr sz="1800" b="0">
                          <a:solidFill>
                            <a:srgbClr val="263343"/>
                          </a:solidFill>
                          <a:latin typeface="Calibri"/>
                        </a:defRPr>
                      </a:pPr>
                      <a:r>
                        <a:t>3 × 10⁻⁵</a:t>
                      </a:r>
                    </a:p>
                  </a:txBody>
                  <a:tcPr marL="109728" marR="109728" marT="64008" marB="64008" anchor="ctr">
                    <a:solidFill>
                      <a:srgbClr val="FFFFFF"/>
                    </a:solidFill>
                  </a:tcPr>
                </a:tc>
              </a:tr>
              <a:tr h="457200">
                <a:tc>
                  <a:txBody>
                    <a:bodyPr/>
                    <a:lstStyle/>
                    <a:p>
                      <a:pPr algn="l">
                        <a:defRPr sz="1800" b="0">
                          <a:solidFill>
                            <a:srgbClr val="263343"/>
                          </a:solidFill>
                          <a:latin typeface="Calibri"/>
                        </a:defRPr>
                      </a:pPr>
                      <a:r>
                        <a:t>Qwen3.5-2B LoRA (each task)</a:t>
                      </a:r>
                    </a:p>
                  </a:txBody>
                  <a:tcPr marL="109728" marR="109728" marT="64008" marB="64008" anchor="ctr">
                    <a:solidFill>
                      <a:srgbClr val="F8FAFC"/>
                    </a:solidFill>
                  </a:tcPr>
                </a:tc>
                <a:tc>
                  <a:txBody>
                    <a:bodyPr/>
                    <a:lstStyle/>
                    <a:p>
                      <a:pPr algn="ctr">
                        <a:defRPr sz="1800" b="0">
                          <a:solidFill>
                            <a:srgbClr val="263343"/>
                          </a:solidFill>
                          <a:latin typeface="Calibri"/>
                        </a:defRPr>
                      </a:pPr>
                      <a:r>
                        <a:t>3</a:t>
                      </a:r>
                    </a:p>
                  </a:txBody>
                  <a:tcPr marL="109728" marR="109728" marT="64008" marB="64008" anchor="ctr">
                    <a:solidFill>
                      <a:srgbClr val="F8FAFC"/>
                    </a:solidFill>
                  </a:tcPr>
                </a:tc>
                <a:tc>
                  <a:txBody>
                    <a:bodyPr/>
                    <a:lstStyle/>
                    <a:p>
                      <a:pPr algn="ctr">
                        <a:defRPr sz="1800" b="0">
                          <a:solidFill>
                            <a:srgbClr val="263343"/>
                          </a:solidFill>
                          <a:latin typeface="Calibri"/>
                        </a:defRPr>
                      </a:pPr>
                      <a:r>
                        <a:t>16</a:t>
                      </a:r>
                    </a:p>
                  </a:txBody>
                  <a:tcPr marL="109728" marR="109728" marT="64008" marB="64008" anchor="ctr">
                    <a:solidFill>
                      <a:srgbClr val="F8FAFC"/>
                    </a:solidFill>
                  </a:tcPr>
                </a:tc>
                <a:tc>
                  <a:txBody>
                    <a:bodyPr/>
                    <a:lstStyle/>
                    <a:p>
                      <a:pPr algn="ctr">
                        <a:defRPr sz="1800" b="0">
                          <a:solidFill>
                            <a:srgbClr val="263343"/>
                          </a:solidFill>
                          <a:latin typeface="Calibri"/>
                        </a:defRPr>
                      </a:pPr>
                      <a:r>
                        <a:t>2 × 10⁻⁴</a:t>
                      </a:r>
                    </a:p>
                  </a:txBody>
                  <a:tcPr marL="109728" marR="109728" marT="64008" marB="64008" anchor="ctr">
                    <a:solidFill>
                      <a:srgbClr val="F8FAFC"/>
                    </a:solidFill>
                  </a:tcPr>
                </a:tc>
              </a:tr>
            </a:tbl>
          </a:graphicData>
        </a:graphic>
      </p:graphicFrame>
      <p:sp>
        <p:nvSpPr>
          <p:cNvPr id="22" name="TextBox 2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Checkpoint selection: validation macro F1. Test metrics: accuracy, macro F1, per-class F1, and JSON field accuracy.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15</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Model comparison on the 1,738-example test split</a:t>
            </a:r>
          </a:p>
        </p:txBody>
      </p:sp>
      <p:graphicFrame>
        <p:nvGraphicFramePr>
          <p:cNvPr id="12" name="Table 11"/>
          <p:cNvGraphicFramePr>
            <a:graphicFrameLocks noGrp="1"/>
          </p:cNvGraphicFramePr>
          <p:nvPr/>
        </p:nvGraphicFramePr>
        <p:xfrm>
          <a:off x="932688" y="1874519"/>
          <a:ext cx="10286999" cy="3438144"/>
        </p:xfrm>
        <a:graphic>
          <a:graphicData uri="http://schemas.openxmlformats.org/drawingml/2006/table">
            <a:tbl>
              <a:tblPr firstRow="1" bandRow="1">
                <a:tableStyleId>{5C22544A-7EE6-4342-B048-85BDC9FD1C3A}</a:tableStyleId>
              </a:tblPr>
              <a:tblGrid>
                <a:gridCol w="3749039"/>
                <a:gridCol w="3291840"/>
                <a:gridCol w="1600200"/>
                <a:gridCol w="1645920"/>
              </a:tblGrid>
              <a:tr h="429768">
                <a:tc>
                  <a:txBody>
                    <a:bodyPr/>
                    <a:lstStyle/>
                    <a:p>
                      <a:pPr algn="l">
                        <a:defRPr sz="1700" b="1">
                          <a:solidFill>
                            <a:srgbClr val="25354A"/>
                          </a:solidFill>
                          <a:latin typeface="Calibri"/>
                        </a:defRPr>
                      </a:pPr>
                      <a:r>
                        <a:t>Model / run</a:t>
                      </a:r>
                    </a:p>
                  </a:txBody>
                  <a:tcPr marL="109728" marR="109728" marT="64008" marB="64008" anchor="ctr">
                    <a:solidFill>
                      <a:srgbClr val="EEF3FB"/>
                    </a:solidFill>
                  </a:tcPr>
                </a:tc>
                <a:tc>
                  <a:txBody>
                    <a:bodyPr/>
                    <a:lstStyle/>
                    <a:p>
                      <a:pPr algn="ctr">
                        <a:defRPr sz="1700" b="1">
                          <a:solidFill>
                            <a:srgbClr val="25354A"/>
                          </a:solidFill>
                          <a:latin typeface="Calibri"/>
                        </a:defRPr>
                      </a:pPr>
                      <a:r>
                        <a:t>Input / source</a:t>
                      </a:r>
                    </a:p>
                  </a:txBody>
                  <a:tcPr marL="109728" marR="109728" marT="64008" marB="64008" anchor="ctr">
                    <a:solidFill>
                      <a:srgbClr val="EEF3FB"/>
                    </a:solidFill>
                  </a:tcPr>
                </a:tc>
                <a:tc>
                  <a:txBody>
                    <a:bodyPr/>
                    <a:lstStyle/>
                    <a:p>
                      <a:pPr algn="ctr">
                        <a:defRPr sz="1700" b="1">
                          <a:solidFill>
                            <a:srgbClr val="25354A"/>
                          </a:solidFill>
                          <a:latin typeface="Calibri"/>
                        </a:defRPr>
                      </a:pPr>
                      <a:r>
                        <a:t>Accuracy (%)</a:t>
                      </a:r>
                    </a:p>
                  </a:txBody>
                  <a:tcPr marL="109728" marR="109728" marT="64008" marB="64008" anchor="ctr">
                    <a:solidFill>
                      <a:srgbClr val="EEF3FB"/>
                    </a:solidFill>
                  </a:tcPr>
                </a:tc>
                <a:tc>
                  <a:txBody>
                    <a:bodyPr/>
                    <a:lstStyle/>
                    <a:p>
                      <a:pPr algn="ctr">
                        <a:defRPr sz="1700" b="1">
                          <a:solidFill>
                            <a:srgbClr val="25354A"/>
                          </a:solidFill>
                          <a:latin typeface="Calibri"/>
                        </a:defRPr>
                      </a:pPr>
                      <a:r>
                        <a:t>Macro F1 (%)</a:t>
                      </a:r>
                    </a:p>
                  </a:txBody>
                  <a:tcPr marL="109728" marR="109728" marT="64008" marB="64008" anchor="ctr">
                    <a:solidFill>
                      <a:srgbClr val="EEF3FB"/>
                    </a:solidFill>
                  </a:tcPr>
                </a:tc>
              </a:tr>
              <a:tr h="429768">
                <a:tc>
                  <a:txBody>
                    <a:bodyPr/>
                    <a:lstStyle/>
                    <a:p>
                      <a:pPr algn="l">
                        <a:defRPr sz="1700" b="0">
                          <a:solidFill>
                            <a:srgbClr val="263343"/>
                          </a:solidFill>
                          <a:latin typeface="Calibri"/>
                        </a:defRPr>
                      </a:pPr>
                      <a:r>
                        <a:t>all-MiniLM-L6-v2</a:t>
                      </a:r>
                    </a:p>
                  </a:txBody>
                  <a:tcPr marL="109728" marR="109728" marT="64008" marB="64008" anchor="ctr">
                    <a:solidFill>
                      <a:srgbClr val="F8FAFC"/>
                    </a:solidFill>
                  </a:tcPr>
                </a:tc>
                <a:tc>
                  <a:txBody>
                    <a:bodyPr/>
                    <a:lstStyle/>
                    <a:p>
                      <a:pPr algn="ctr">
                        <a:defRPr sz="1700" b="0">
                          <a:solidFill>
                            <a:srgbClr val="263343"/>
                          </a:solidFill>
                          <a:latin typeface="Calibri"/>
                        </a:defRPr>
                      </a:pPr>
                      <a:r>
                        <a:t>Review baseline</a:t>
                      </a:r>
                    </a:p>
                  </a:txBody>
                  <a:tcPr marL="109728" marR="109728" marT="64008" marB="64008" anchor="ctr">
                    <a:solidFill>
                      <a:srgbClr val="F8FAFC"/>
                    </a:solidFill>
                  </a:tcPr>
                </a:tc>
                <a:tc>
                  <a:txBody>
                    <a:bodyPr/>
                    <a:lstStyle/>
                    <a:p>
                      <a:pPr algn="ctr">
                        <a:defRPr sz="1700" b="0">
                          <a:solidFill>
                            <a:srgbClr val="263343"/>
                          </a:solidFill>
                          <a:latin typeface="Calibri"/>
                        </a:defRPr>
                      </a:pPr>
                      <a:r>
                        <a:t>77.33</a:t>
                      </a:r>
                    </a:p>
                  </a:txBody>
                  <a:tcPr marL="109728" marR="109728" marT="64008" marB="64008" anchor="ctr">
                    <a:solidFill>
                      <a:srgbClr val="F8FAFC"/>
                    </a:solidFill>
                  </a:tcPr>
                </a:tc>
                <a:tc>
                  <a:txBody>
                    <a:bodyPr/>
                    <a:lstStyle/>
                    <a:p>
                      <a:pPr algn="ctr">
                        <a:defRPr sz="1700" b="0">
                          <a:solidFill>
                            <a:srgbClr val="263343"/>
                          </a:solidFill>
                          <a:latin typeface="Calibri"/>
                        </a:defRPr>
                      </a:pPr>
                      <a:r>
                        <a:t>74.29</a:t>
                      </a:r>
                    </a:p>
                  </a:txBody>
                  <a:tcPr marL="109728" marR="109728" marT="64008" marB="64008" anchor="ctr">
                    <a:solidFill>
                      <a:srgbClr val="F8FAFC"/>
                    </a:solidFill>
                  </a:tcPr>
                </a:tc>
              </a:tr>
              <a:tr h="429768">
                <a:tc>
                  <a:txBody>
                    <a:bodyPr/>
                    <a:lstStyle/>
                    <a:p>
                      <a:pPr algn="l">
                        <a:defRPr sz="1700" b="0">
                          <a:solidFill>
                            <a:srgbClr val="263343"/>
                          </a:solidFill>
                          <a:latin typeface="Calibri"/>
                        </a:defRPr>
                      </a:pPr>
                      <a:r>
                        <a:t>Qwen3-Embedding-0.6B</a:t>
                      </a:r>
                    </a:p>
                  </a:txBody>
                  <a:tcPr marL="109728" marR="109728" marT="64008" marB="64008" anchor="ctr">
                    <a:solidFill>
                      <a:srgbClr val="FFFFFF"/>
                    </a:solidFill>
                  </a:tcPr>
                </a:tc>
                <a:tc>
                  <a:txBody>
                    <a:bodyPr/>
                    <a:lstStyle/>
                    <a:p>
                      <a:pPr algn="ctr">
                        <a:defRPr sz="1700" b="0">
                          <a:solidFill>
                            <a:srgbClr val="263343"/>
                          </a:solidFill>
                          <a:latin typeface="Calibri"/>
                        </a:defRPr>
                      </a:pPr>
                      <a:r>
                        <a:t>Review baseline</a:t>
                      </a:r>
                    </a:p>
                  </a:txBody>
                  <a:tcPr marL="109728" marR="109728" marT="64008" marB="64008" anchor="ctr">
                    <a:solidFill>
                      <a:srgbClr val="FFFFFF"/>
                    </a:solidFill>
                  </a:tcPr>
                </a:tc>
                <a:tc>
                  <a:txBody>
                    <a:bodyPr/>
                    <a:lstStyle/>
                    <a:p>
                      <a:pPr algn="ctr">
                        <a:defRPr sz="1700" b="0">
                          <a:solidFill>
                            <a:srgbClr val="263343"/>
                          </a:solidFill>
                          <a:latin typeface="Calibri"/>
                        </a:defRPr>
                      </a:pPr>
                      <a:r>
                        <a:t>91.08</a:t>
                      </a:r>
                    </a:p>
                  </a:txBody>
                  <a:tcPr marL="109728" marR="109728" marT="64008" marB="64008" anchor="ctr">
                    <a:solidFill>
                      <a:srgbClr val="FFFFFF"/>
                    </a:solidFill>
                  </a:tcPr>
                </a:tc>
                <a:tc>
                  <a:txBody>
                    <a:bodyPr/>
                    <a:lstStyle/>
                    <a:p>
                      <a:pPr algn="ctr">
                        <a:defRPr sz="1700" b="0">
                          <a:solidFill>
                            <a:srgbClr val="263343"/>
                          </a:solidFill>
                          <a:latin typeface="Calibri"/>
                        </a:defRPr>
                      </a:pPr>
                      <a:r>
                        <a:t>91.11</a:t>
                      </a:r>
                    </a:p>
                  </a:txBody>
                  <a:tcPr marL="109728" marR="109728" marT="64008" marB="64008" anchor="ctr">
                    <a:solidFill>
                      <a:srgbClr val="FFFFFF"/>
                    </a:solidFill>
                  </a:tcPr>
                </a:tc>
              </a:tr>
              <a:tr h="429768">
                <a:tc>
                  <a:txBody>
                    <a:bodyPr/>
                    <a:lstStyle/>
                    <a:p>
                      <a:pPr algn="l">
                        <a:defRPr sz="1700" b="0">
                          <a:solidFill>
                            <a:srgbClr val="263343"/>
                          </a:solidFill>
                          <a:latin typeface="Calibri"/>
                        </a:defRPr>
                      </a:pPr>
                      <a:r>
                        <a:t>ALBERT-base-v2</a:t>
                      </a:r>
                    </a:p>
                  </a:txBody>
                  <a:tcPr marL="109728" marR="109728" marT="64008" marB="64008" anchor="ctr">
                    <a:solidFill>
                      <a:srgbClr val="F8FAFC"/>
                    </a:solidFill>
                  </a:tcPr>
                </a:tc>
                <a:tc>
                  <a:txBody>
                    <a:bodyPr/>
                    <a:lstStyle/>
                    <a:p>
                      <a:pPr algn="ctr">
                        <a:defRPr sz="1700" b="0">
                          <a:solidFill>
                            <a:srgbClr val="263343"/>
                          </a:solidFill>
                          <a:latin typeface="Calibri"/>
                        </a:defRPr>
                      </a:pPr>
                      <a:r>
                        <a:t>Sentence only</a:t>
                      </a:r>
                    </a:p>
                  </a:txBody>
                  <a:tcPr marL="109728" marR="109728" marT="64008" marB="64008" anchor="ctr">
                    <a:solidFill>
                      <a:srgbClr val="F8FAFC"/>
                    </a:solidFill>
                  </a:tcPr>
                </a:tc>
                <a:tc>
                  <a:txBody>
                    <a:bodyPr/>
                    <a:lstStyle/>
                    <a:p>
                      <a:pPr algn="ctr">
                        <a:defRPr sz="1700" b="0">
                          <a:solidFill>
                            <a:srgbClr val="263343"/>
                          </a:solidFill>
                          <a:latin typeface="Calibri"/>
                        </a:defRPr>
                      </a:pPr>
                      <a:r>
                        <a:t>88.09</a:t>
                      </a:r>
                    </a:p>
                  </a:txBody>
                  <a:tcPr marL="109728" marR="109728" marT="64008" marB="64008" anchor="ctr">
                    <a:solidFill>
                      <a:srgbClr val="F8FAFC"/>
                    </a:solidFill>
                  </a:tcPr>
                </a:tc>
                <a:tc>
                  <a:txBody>
                    <a:bodyPr/>
                    <a:lstStyle/>
                    <a:p>
                      <a:pPr algn="ctr">
                        <a:defRPr sz="1700" b="0">
                          <a:solidFill>
                            <a:srgbClr val="263343"/>
                          </a:solidFill>
                          <a:latin typeface="Calibri"/>
                        </a:defRPr>
                      </a:pPr>
                      <a:r>
                        <a:t>88.20</a:t>
                      </a:r>
                    </a:p>
                  </a:txBody>
                  <a:tcPr marL="109728" marR="109728" marT="64008" marB="64008" anchor="ctr">
                    <a:solidFill>
                      <a:srgbClr val="F8FAFC"/>
                    </a:solidFill>
                  </a:tcPr>
                </a:tc>
              </a:tr>
              <a:tr h="429768">
                <a:tc>
                  <a:txBody>
                    <a:bodyPr/>
                    <a:lstStyle/>
                    <a:p>
                      <a:pPr algn="l">
                        <a:defRPr sz="1700" b="0">
                          <a:solidFill>
                            <a:srgbClr val="263343"/>
                          </a:solidFill>
                          <a:latin typeface="Calibri"/>
                        </a:defRPr>
                      </a:pPr>
                      <a:r>
                        <a:t>ModernBERT-large · review</a:t>
                      </a:r>
                    </a:p>
                  </a:txBody>
                  <a:tcPr marL="109728" marR="109728" marT="64008" marB="64008" anchor="ctr">
                    <a:solidFill>
                      <a:srgbClr val="FFFFFF"/>
                    </a:solidFill>
                  </a:tcPr>
                </a:tc>
                <a:tc>
                  <a:txBody>
                    <a:bodyPr/>
                    <a:lstStyle/>
                    <a:p>
                      <a:pPr algn="ctr">
                        <a:defRPr sz="1700" b="0">
                          <a:solidFill>
                            <a:srgbClr val="263343"/>
                          </a:solidFill>
                          <a:latin typeface="Calibri"/>
                        </a:defRPr>
                      </a:pPr>
                      <a:r>
                        <a:t>Review run</a:t>
                      </a:r>
                    </a:p>
                  </a:txBody>
                  <a:tcPr marL="109728" marR="109728" marT="64008" marB="64008" anchor="ctr">
                    <a:solidFill>
                      <a:srgbClr val="FFFFFF"/>
                    </a:solidFill>
                  </a:tcPr>
                </a:tc>
                <a:tc>
                  <a:txBody>
                    <a:bodyPr/>
                    <a:lstStyle/>
                    <a:p>
                      <a:pPr algn="ctr">
                        <a:defRPr sz="1700" b="0">
                          <a:solidFill>
                            <a:srgbClr val="263343"/>
                          </a:solidFill>
                          <a:latin typeface="Calibri"/>
                        </a:defRPr>
                      </a:pPr>
                      <a:r>
                        <a:t>92.98</a:t>
                      </a:r>
                    </a:p>
                  </a:txBody>
                  <a:tcPr marL="109728" marR="109728" marT="64008" marB="64008" anchor="ctr">
                    <a:solidFill>
                      <a:srgbClr val="FFFFFF"/>
                    </a:solidFill>
                  </a:tcPr>
                </a:tc>
                <a:tc>
                  <a:txBody>
                    <a:bodyPr/>
                    <a:lstStyle/>
                    <a:p>
                      <a:pPr algn="ctr">
                        <a:defRPr sz="1700" b="0">
                          <a:solidFill>
                            <a:srgbClr val="263343"/>
                          </a:solidFill>
                          <a:latin typeface="Calibri"/>
                        </a:defRPr>
                      </a:pPr>
                      <a:r>
                        <a:t>93.05</a:t>
                      </a:r>
                    </a:p>
                  </a:txBody>
                  <a:tcPr marL="109728" marR="109728" marT="64008" marB="64008" anchor="ctr">
                    <a:solidFill>
                      <a:srgbClr val="FFFFFF"/>
                    </a:solidFill>
                  </a:tcPr>
                </a:tc>
              </a:tr>
              <a:tr h="429768">
                <a:tc>
                  <a:txBody>
                    <a:bodyPr/>
                    <a:lstStyle/>
                    <a:p>
                      <a:pPr algn="l">
                        <a:defRPr sz="1700" b="0">
                          <a:solidFill>
                            <a:srgbClr val="263343"/>
                          </a:solidFill>
                          <a:latin typeface="Calibri"/>
                        </a:defRPr>
                      </a:pPr>
                      <a:r>
                        <a:t>ModernBERT-large · saved</a:t>
                      </a:r>
                    </a:p>
                  </a:txBody>
                  <a:tcPr marL="109728" marR="109728" marT="64008" marB="64008" anchor="ctr">
                    <a:solidFill>
                      <a:srgbClr val="F8FAFC"/>
                    </a:solidFill>
                  </a:tcPr>
                </a:tc>
                <a:tc>
                  <a:txBody>
                    <a:bodyPr/>
                    <a:lstStyle/>
                    <a:p>
                      <a:pPr algn="ctr">
                        <a:defRPr sz="1700" b="0">
                          <a:solidFill>
                            <a:srgbClr val="263343"/>
                          </a:solidFill>
                          <a:latin typeface="Calibri"/>
                        </a:defRPr>
                      </a:pPr>
                      <a:r>
                        <a:t>Sentence only</a:t>
                      </a:r>
                    </a:p>
                  </a:txBody>
                  <a:tcPr marL="109728" marR="109728" marT="64008" marB="64008" anchor="ctr">
                    <a:solidFill>
                      <a:srgbClr val="F8FAFC"/>
                    </a:solidFill>
                  </a:tcPr>
                </a:tc>
                <a:tc>
                  <a:txBody>
                    <a:bodyPr/>
                    <a:lstStyle/>
                    <a:p>
                      <a:pPr algn="ctr">
                        <a:defRPr sz="1700" b="0">
                          <a:solidFill>
                            <a:srgbClr val="263343"/>
                          </a:solidFill>
                          <a:latin typeface="Calibri"/>
                        </a:defRPr>
                      </a:pPr>
                      <a:r>
                        <a:t>93.33</a:t>
                      </a:r>
                    </a:p>
                  </a:txBody>
                  <a:tcPr marL="109728" marR="109728" marT="64008" marB="64008" anchor="ctr">
                    <a:solidFill>
                      <a:srgbClr val="F8FAFC"/>
                    </a:solidFill>
                  </a:tcPr>
                </a:tc>
                <a:tc>
                  <a:txBody>
                    <a:bodyPr/>
                    <a:lstStyle/>
                    <a:p>
                      <a:pPr algn="ctr">
                        <a:defRPr sz="1700" b="0">
                          <a:solidFill>
                            <a:srgbClr val="263343"/>
                          </a:solidFill>
                          <a:latin typeface="Calibri"/>
                        </a:defRPr>
                      </a:pPr>
                      <a:r>
                        <a:t>93.39</a:t>
                      </a:r>
                    </a:p>
                  </a:txBody>
                  <a:tcPr marL="109728" marR="109728" marT="64008" marB="64008" anchor="ctr">
                    <a:solidFill>
                      <a:srgbClr val="F8FAFC"/>
                    </a:solidFill>
                  </a:tcPr>
                </a:tc>
              </a:tr>
              <a:tr h="429768">
                <a:tc>
                  <a:txBody>
                    <a:bodyPr/>
                    <a:lstStyle/>
                    <a:p>
                      <a:pPr algn="l">
                        <a:defRPr sz="1700" b="0">
                          <a:solidFill>
                            <a:srgbClr val="263343"/>
                          </a:solidFill>
                          <a:latin typeface="Calibri"/>
                        </a:defRPr>
                      </a:pPr>
                      <a:r>
                        <a:t>Qwen3.5-2B · label LoRA</a:t>
                      </a:r>
                    </a:p>
                  </a:txBody>
                  <a:tcPr marL="109728" marR="109728" marT="64008" marB="64008" anchor="ctr">
                    <a:solidFill>
                      <a:srgbClr val="EFF6F0"/>
                    </a:solidFill>
                  </a:tcPr>
                </a:tc>
                <a:tc>
                  <a:txBody>
                    <a:bodyPr/>
                    <a:lstStyle/>
                    <a:p>
                      <a:pPr algn="ctr">
                        <a:defRPr sz="1700" b="0">
                          <a:solidFill>
                            <a:srgbClr val="263343"/>
                          </a:solidFill>
                          <a:latin typeface="Calibri"/>
                        </a:defRPr>
                      </a:pPr>
                      <a:r>
                        <a:t>Category + target + sentence</a:t>
                      </a:r>
                    </a:p>
                  </a:txBody>
                  <a:tcPr marL="109728" marR="109728" marT="64008" marB="64008" anchor="ctr">
                    <a:solidFill>
                      <a:srgbClr val="EFF6F0"/>
                    </a:solidFill>
                  </a:tcPr>
                </a:tc>
                <a:tc>
                  <a:txBody>
                    <a:bodyPr/>
                    <a:lstStyle/>
                    <a:p>
                      <a:pPr algn="ctr">
                        <a:defRPr sz="1700" b="0">
                          <a:solidFill>
                            <a:srgbClr val="263343"/>
                          </a:solidFill>
                          <a:latin typeface="Calibri"/>
                        </a:defRPr>
                      </a:pPr>
                      <a:r>
                        <a:t>95.51</a:t>
                      </a:r>
                    </a:p>
                  </a:txBody>
                  <a:tcPr marL="109728" marR="109728" marT="64008" marB="64008" anchor="ctr">
                    <a:solidFill>
                      <a:srgbClr val="EFF6F0"/>
                    </a:solidFill>
                  </a:tcPr>
                </a:tc>
                <a:tc>
                  <a:txBody>
                    <a:bodyPr/>
                    <a:lstStyle/>
                    <a:p>
                      <a:pPr algn="ctr">
                        <a:defRPr sz="1700" b="0">
                          <a:solidFill>
                            <a:srgbClr val="263343"/>
                          </a:solidFill>
                          <a:latin typeface="Calibri"/>
                        </a:defRPr>
                      </a:pPr>
                      <a:r>
                        <a:t>95.55</a:t>
                      </a:r>
                    </a:p>
                  </a:txBody>
                  <a:tcPr marL="109728" marR="109728" marT="64008" marB="64008" anchor="ctr">
                    <a:solidFill>
                      <a:srgbClr val="EFF6F0"/>
                    </a:solidFill>
                  </a:tcPr>
                </a:tc>
              </a:tr>
              <a:tr h="429768">
                <a:tc>
                  <a:txBody>
                    <a:bodyPr/>
                    <a:lstStyle/>
                    <a:p>
                      <a:pPr algn="l">
                        <a:defRPr sz="1700" b="0">
                          <a:solidFill>
                            <a:srgbClr val="263343"/>
                          </a:solidFill>
                          <a:latin typeface="Calibri"/>
                        </a:defRPr>
                      </a:pPr>
                      <a:r>
                        <a:t>Qwen3.5-2B · JSON LoRA</a:t>
                      </a:r>
                    </a:p>
                  </a:txBody>
                  <a:tcPr marL="109728" marR="109728" marT="64008" marB="64008" anchor="ctr">
                    <a:solidFill>
                      <a:srgbClr val="EFF6F0"/>
                    </a:solidFill>
                  </a:tcPr>
                </a:tc>
                <a:tc>
                  <a:txBody>
                    <a:bodyPr/>
                    <a:lstStyle/>
                    <a:p>
                      <a:pPr algn="ctr">
                        <a:defRPr sz="1700" b="0">
                          <a:solidFill>
                            <a:srgbClr val="263343"/>
                          </a:solidFill>
                          <a:latin typeface="Calibri"/>
                        </a:defRPr>
                      </a:pPr>
                      <a:r>
                        <a:t>Sentence only</a:t>
                      </a:r>
                    </a:p>
                  </a:txBody>
                  <a:tcPr marL="109728" marR="109728" marT="64008" marB="64008" anchor="ctr">
                    <a:solidFill>
                      <a:srgbClr val="EFF6F0"/>
                    </a:solidFill>
                  </a:tcPr>
                </a:tc>
                <a:tc>
                  <a:txBody>
                    <a:bodyPr/>
                    <a:lstStyle/>
                    <a:p>
                      <a:pPr algn="ctr">
                        <a:defRPr sz="1700" b="0">
                          <a:solidFill>
                            <a:srgbClr val="263343"/>
                          </a:solidFill>
                          <a:latin typeface="Calibri"/>
                        </a:defRPr>
                      </a:pPr>
                      <a:r>
                        <a:t>93.61</a:t>
                      </a:r>
                    </a:p>
                  </a:txBody>
                  <a:tcPr marL="109728" marR="109728" marT="64008" marB="64008" anchor="ctr">
                    <a:solidFill>
                      <a:srgbClr val="EFF6F0"/>
                    </a:solidFill>
                  </a:tcPr>
                </a:tc>
                <a:tc>
                  <a:txBody>
                    <a:bodyPr/>
                    <a:lstStyle/>
                    <a:p>
                      <a:pPr algn="ctr">
                        <a:defRPr sz="1700" b="0">
                          <a:solidFill>
                            <a:srgbClr val="263343"/>
                          </a:solidFill>
                          <a:latin typeface="Calibri"/>
                        </a:defRPr>
                      </a:pPr>
                      <a:r>
                        <a:t>93.64</a:t>
                      </a:r>
                    </a:p>
                  </a:txBody>
                  <a:tcPr marL="109728" marR="109728" marT="64008" marB="64008" anchor="ctr">
                    <a:solidFill>
                      <a:srgbClr val="EFF6F0"/>
                    </a:solidFill>
                  </a:tcPr>
                </a:tc>
              </a:tr>
            </a:tbl>
          </a:graphicData>
        </a:graphic>
      </p:graphicFrame>
      <p:sp>
        <p:nvSpPr>
          <p:cNvPr id="13" name="TextBox 12"/>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Review baselines and saved evaluations are distinguished. Qwen label and JSON tasks use different input information.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16</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Qwen3.5-2B · Base versus fine-tuned label prediction</a:t>
            </a:r>
          </a:p>
        </p:txBody>
      </p:sp>
      <p:graphicFrame>
        <p:nvGraphicFramePr>
          <p:cNvPr id="12" name="Chart 11"/>
          <p:cNvGraphicFramePr>
            <a:graphicFrameLocks noGrp="1"/>
          </p:cNvGraphicFramePr>
          <p:nvPr/>
        </p:nvGraphicFramePr>
        <p:xfrm>
          <a:off x="950976" y="2011680"/>
          <a:ext cx="6675120" cy="3337560"/>
        </p:xfrm>
        <a:graphic>
          <a:graphicData uri="http://schemas.openxmlformats.org/drawingml/2006/chart">
            <c:chart xmlns:c="http://schemas.openxmlformats.org/drawingml/2006/chart" r:id="rId4"/>
          </a:graphicData>
        </a:graphic>
      </p:graphicFrame>
      <p:sp>
        <p:nvSpPr>
          <p:cNvPr id="13" name="Rounded Rectangle 12"/>
          <p:cNvSpPr/>
          <p:nvPr/>
        </p:nvSpPr>
        <p:spPr>
          <a:xfrm>
            <a:off x="7982712" y="2121408"/>
            <a:ext cx="3227832" cy="12344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19872" y="2276856"/>
            <a:ext cx="2953512" cy="548640"/>
          </a:xfrm>
          <a:prstGeom prst="rect">
            <a:avLst/>
          </a:prstGeom>
          <a:noFill/>
        </p:spPr>
        <p:txBody>
          <a:bodyPr wrap="square" lIns="0" rIns="0" tIns="0" bIns="0" anchor="t">
            <a:spAutoFit/>
          </a:bodyPr>
          <a:lstStyle/>
          <a:p>
            <a:pPr algn="ctr">
              <a:spcBef>
                <a:spcPts val="0"/>
              </a:spcBef>
              <a:spcAft>
                <a:spcPts val="500"/>
              </a:spcAft>
              <a:defRPr sz="3400" b="1">
                <a:solidFill>
                  <a:srgbClr val="4F8567"/>
                </a:solidFill>
                <a:latin typeface="Calibri"/>
              </a:defRPr>
            </a:pPr>
            <a:r>
              <a:t>+61.97 pp</a:t>
            </a:r>
          </a:p>
        </p:txBody>
      </p:sp>
      <p:sp>
        <p:nvSpPr>
          <p:cNvPr id="15" name="TextBox 14"/>
          <p:cNvSpPr txBox="1"/>
          <p:nvPr/>
        </p:nvSpPr>
        <p:spPr>
          <a:xfrm>
            <a:off x="8092440" y="2916936"/>
            <a:ext cx="3008376" cy="274320"/>
          </a:xfrm>
          <a:prstGeom prst="rect">
            <a:avLst/>
          </a:prstGeom>
          <a:noFill/>
        </p:spPr>
        <p:txBody>
          <a:bodyPr wrap="square" lIns="0" rIns="0" tIns="0" bIns="0" anchor="t">
            <a:spAutoFit/>
          </a:bodyPr>
          <a:lstStyle/>
          <a:p>
            <a:pPr algn="ctr">
              <a:spcBef>
                <a:spcPts val="0"/>
              </a:spcBef>
              <a:spcAft>
                <a:spcPts val="500"/>
              </a:spcAft>
              <a:defRPr sz="1600" b="0">
                <a:solidFill>
                  <a:srgbClr val="263343"/>
                </a:solidFill>
                <a:latin typeface="Calibri"/>
              </a:defRPr>
            </a:pPr>
            <a:r>
              <a:t>Observed accuracy gain</a:t>
            </a:r>
          </a:p>
        </p:txBody>
      </p:sp>
      <p:sp>
        <p:nvSpPr>
          <p:cNvPr id="16" name="Rounded Rectangle 15"/>
          <p:cNvSpPr/>
          <p:nvPr/>
        </p:nvSpPr>
        <p:spPr>
          <a:xfrm>
            <a:off x="7982712" y="3630168"/>
            <a:ext cx="3227832" cy="193852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3776472"/>
            <a:ext cx="2862072"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Same task inputs</a:t>
            </a:r>
          </a:p>
        </p:txBody>
      </p:sp>
      <p:sp>
        <p:nvSpPr>
          <p:cNvPr id="18" name="TextBox 17"/>
          <p:cNvSpPr txBox="1"/>
          <p:nvPr/>
        </p:nvSpPr>
        <p:spPr>
          <a:xfrm>
            <a:off x="8165592" y="4352544"/>
            <a:ext cx="2862072" cy="1097280"/>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Category + Target</a:t>
            </a:r>
          </a:p>
          <a:p>
            <a:pPr algn="l">
              <a:spcBef>
                <a:spcPts val="0"/>
              </a:spcBef>
              <a:spcAft>
                <a:spcPts val="500"/>
              </a:spcAft>
              <a:defRPr sz="2000" b="0">
                <a:solidFill>
                  <a:srgbClr val="263343"/>
                </a:solidFill>
                <a:latin typeface="Calibri"/>
              </a:defRPr>
            </a:pPr>
            <a:r>
              <a:t>+ Sentence</a:t>
            </a:r>
          </a:p>
          <a:p>
            <a:pPr algn="l">
              <a:spcBef>
                <a:spcPts val="0"/>
              </a:spcBef>
              <a:spcAft>
                <a:spcPts val="500"/>
              </a:spcAft>
              <a:defRPr sz="2000" b="0">
                <a:solidFill>
                  <a:srgbClr val="263343"/>
                </a:solidFill>
                <a:latin typeface="Calibri"/>
              </a:defRPr>
            </a:pPr>
            <a:r>
              <a:t>All 1,738 test examples</a:t>
            </a:r>
          </a:p>
        </p:txBody>
      </p:sp>
      <p:sp>
        <p:nvSpPr>
          <p:cNvPr id="19" name="TextBox 18"/>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Base: 583 correct. Fine-tuned: 1,660 correct. Base = named Qwen checkpoint without the task adapter.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17</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Qwen3.5-2B · Base versus fine-tuned all-field generation</a:t>
            </a:r>
          </a:p>
        </p:txBody>
      </p:sp>
      <p:graphicFrame>
        <p:nvGraphicFramePr>
          <p:cNvPr id="12" name="Chart 11"/>
          <p:cNvGraphicFramePr>
            <a:graphicFrameLocks noGrp="1"/>
          </p:cNvGraphicFramePr>
          <p:nvPr/>
        </p:nvGraphicFramePr>
        <p:xfrm>
          <a:off x="950976" y="2011680"/>
          <a:ext cx="6675120" cy="3337560"/>
        </p:xfrm>
        <a:graphic>
          <a:graphicData uri="http://schemas.openxmlformats.org/drawingml/2006/chart">
            <c:chart xmlns:c="http://schemas.openxmlformats.org/drawingml/2006/chart" r:id="rId4"/>
          </a:graphicData>
        </a:graphic>
      </p:graphicFrame>
      <p:sp>
        <p:nvSpPr>
          <p:cNvPr id="13" name="Rounded Rectangle 12"/>
          <p:cNvSpPr/>
          <p:nvPr/>
        </p:nvSpPr>
        <p:spPr>
          <a:xfrm>
            <a:off x="7982712" y="2121408"/>
            <a:ext cx="3227832" cy="12344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19872" y="2276856"/>
            <a:ext cx="2953512" cy="548640"/>
          </a:xfrm>
          <a:prstGeom prst="rect">
            <a:avLst/>
          </a:prstGeom>
          <a:noFill/>
        </p:spPr>
        <p:txBody>
          <a:bodyPr wrap="square" lIns="0" rIns="0" tIns="0" bIns="0" anchor="t">
            <a:spAutoFit/>
          </a:bodyPr>
          <a:lstStyle/>
          <a:p>
            <a:pPr algn="ctr">
              <a:spcBef>
                <a:spcPts val="0"/>
              </a:spcBef>
              <a:spcAft>
                <a:spcPts val="500"/>
              </a:spcAft>
              <a:defRPr sz="3400" b="1">
                <a:solidFill>
                  <a:srgbClr val="4F8567"/>
                </a:solidFill>
                <a:latin typeface="Calibri"/>
              </a:defRPr>
            </a:pPr>
            <a:r>
              <a:t>+59.15 pp</a:t>
            </a:r>
          </a:p>
        </p:txBody>
      </p:sp>
      <p:sp>
        <p:nvSpPr>
          <p:cNvPr id="15" name="TextBox 14"/>
          <p:cNvSpPr txBox="1"/>
          <p:nvPr/>
        </p:nvSpPr>
        <p:spPr>
          <a:xfrm>
            <a:off x="8092440" y="2916936"/>
            <a:ext cx="3008376" cy="274320"/>
          </a:xfrm>
          <a:prstGeom prst="rect">
            <a:avLst/>
          </a:prstGeom>
          <a:noFill/>
        </p:spPr>
        <p:txBody>
          <a:bodyPr wrap="square" lIns="0" rIns="0" tIns="0" bIns="0" anchor="t">
            <a:spAutoFit/>
          </a:bodyPr>
          <a:lstStyle/>
          <a:p>
            <a:pPr algn="ctr">
              <a:spcBef>
                <a:spcPts val="0"/>
              </a:spcBef>
              <a:spcAft>
                <a:spcPts val="500"/>
              </a:spcAft>
              <a:defRPr sz="1600" b="0">
                <a:solidFill>
                  <a:srgbClr val="263343"/>
                </a:solidFill>
                <a:latin typeface="Calibri"/>
              </a:defRPr>
            </a:pPr>
            <a:r>
              <a:t>Observed label accuracy gain</a:t>
            </a:r>
          </a:p>
        </p:txBody>
      </p:sp>
      <p:sp>
        <p:nvSpPr>
          <p:cNvPr id="16" name="Rounded Rectangle 15"/>
          <p:cNvSpPr/>
          <p:nvPr/>
        </p:nvSpPr>
        <p:spPr>
          <a:xfrm>
            <a:off x="7982712" y="3630168"/>
            <a:ext cx="3227832" cy="1810512"/>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3776472"/>
            <a:ext cx="2862072"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Sentence-only input</a:t>
            </a:r>
          </a:p>
        </p:txBody>
      </p:sp>
      <p:sp>
        <p:nvSpPr>
          <p:cNvPr id="18" name="TextBox 17"/>
          <p:cNvSpPr txBox="1"/>
          <p:nvPr/>
        </p:nvSpPr>
        <p:spPr>
          <a:xfrm>
            <a:off x="8165592" y="4352544"/>
            <a:ext cx="2862072" cy="969264"/>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Generate all three fields.</a:t>
            </a:r>
          </a:p>
          <a:p>
            <a:pPr algn="l">
              <a:spcBef>
                <a:spcPts val="0"/>
              </a:spcBef>
              <a:spcAft>
                <a:spcPts val="500"/>
              </a:spcAft>
              <a:defRPr sz="2000" b="0">
                <a:solidFill>
                  <a:srgbClr val="263343"/>
                </a:solidFill>
                <a:latin typeface="Calibri"/>
              </a:defRPr>
            </a:pPr>
          </a:p>
          <a:p>
            <a:pPr algn="l">
              <a:spcBef>
                <a:spcPts val="0"/>
              </a:spcBef>
              <a:spcAft>
                <a:spcPts val="500"/>
              </a:spcAft>
              <a:defRPr sz="2000" b="0">
                <a:solidFill>
                  <a:srgbClr val="263343"/>
                </a:solidFill>
                <a:latin typeface="Calibri"/>
              </a:defRPr>
            </a:pPr>
            <a:r>
              <a:t>This chart scores the label.</a:t>
            </a:r>
          </a:p>
        </p:txBody>
      </p:sp>
      <p:sp>
        <p:nvSpPr>
          <p:cNvPr id="19" name="TextBox 18"/>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Base: 599 correct labels. Fine-tuned: 1,627 correct labels. Both use the complete 1,738-example test split.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18</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Structured output · Category, target, label, and complete JSON</a:t>
            </a:r>
          </a:p>
        </p:txBody>
      </p:sp>
      <p:graphicFrame>
        <p:nvGraphicFramePr>
          <p:cNvPr id="12" name="Table 11"/>
          <p:cNvGraphicFramePr>
            <a:graphicFrameLocks noGrp="1"/>
          </p:cNvGraphicFramePr>
          <p:nvPr/>
        </p:nvGraphicFramePr>
        <p:xfrm>
          <a:off x="932688" y="2039112"/>
          <a:ext cx="10287000" cy="2926080"/>
        </p:xfrm>
        <a:graphic>
          <a:graphicData uri="http://schemas.openxmlformats.org/drawingml/2006/table">
            <a:tbl>
              <a:tblPr firstRow="1" bandRow="1">
                <a:tableStyleId>{5C22544A-7EE6-4342-B048-85BDC9FD1C3A}</a:tableStyleId>
              </a:tblPr>
              <a:tblGrid>
                <a:gridCol w="3291840"/>
                <a:gridCol w="1828800"/>
                <a:gridCol w="2331720"/>
                <a:gridCol w="2834640"/>
              </a:tblGrid>
              <a:tr h="585216">
                <a:tc>
                  <a:txBody>
                    <a:bodyPr/>
                    <a:lstStyle/>
                    <a:p>
                      <a:pPr algn="l">
                        <a:defRPr sz="2000" b="1">
                          <a:solidFill>
                            <a:srgbClr val="25354A"/>
                          </a:solidFill>
                          <a:latin typeface="Calibri"/>
                        </a:defRPr>
                      </a:pPr>
                      <a:r>
                        <a:t>Metric</a:t>
                      </a:r>
                    </a:p>
                  </a:txBody>
                  <a:tcPr marL="109728" marR="109728" marT="64008" marB="64008" anchor="ctr">
                    <a:solidFill>
                      <a:srgbClr val="EEF3FB"/>
                    </a:solidFill>
                  </a:tcPr>
                </a:tc>
                <a:tc>
                  <a:txBody>
                    <a:bodyPr/>
                    <a:lstStyle/>
                    <a:p>
                      <a:pPr algn="ctr">
                        <a:defRPr sz="2000" b="1">
                          <a:solidFill>
                            <a:srgbClr val="25354A"/>
                          </a:solidFill>
                          <a:latin typeface="Calibri"/>
                        </a:defRPr>
                      </a:pPr>
                      <a:r>
                        <a:t>Base (%)</a:t>
                      </a:r>
                    </a:p>
                  </a:txBody>
                  <a:tcPr marL="109728" marR="109728" marT="64008" marB="64008" anchor="ctr">
                    <a:solidFill>
                      <a:srgbClr val="EEF3FB"/>
                    </a:solidFill>
                  </a:tcPr>
                </a:tc>
                <a:tc>
                  <a:txBody>
                    <a:bodyPr/>
                    <a:lstStyle/>
                    <a:p>
                      <a:pPr algn="ctr">
                        <a:defRPr sz="2000" b="1">
                          <a:solidFill>
                            <a:srgbClr val="25354A"/>
                          </a:solidFill>
                          <a:latin typeface="Calibri"/>
                        </a:defRPr>
                      </a:pPr>
                      <a:r>
                        <a:t>Fine-tuned (%)</a:t>
                      </a:r>
                    </a:p>
                  </a:txBody>
                  <a:tcPr marL="109728" marR="109728" marT="64008" marB="64008" anchor="ctr">
                    <a:solidFill>
                      <a:srgbClr val="EEF3FB"/>
                    </a:solidFill>
                  </a:tcPr>
                </a:tc>
                <a:tc>
                  <a:txBody>
                    <a:bodyPr/>
                    <a:lstStyle/>
                    <a:p>
                      <a:pPr algn="ctr">
                        <a:defRPr sz="2000" b="1">
                          <a:solidFill>
                            <a:srgbClr val="25354A"/>
                          </a:solidFill>
                          <a:latin typeface="Calibri"/>
                        </a:defRPr>
                      </a:pPr>
                      <a:r>
                        <a:t>Fine-tuned correct</a:t>
                      </a:r>
                    </a:p>
                  </a:txBody>
                  <a:tcPr marL="109728" marR="109728" marT="64008" marB="64008" anchor="ctr">
                    <a:solidFill>
                      <a:srgbClr val="EEF3FB"/>
                    </a:solidFill>
                  </a:tcPr>
                </a:tc>
              </a:tr>
              <a:tr h="585216">
                <a:tc>
                  <a:txBody>
                    <a:bodyPr/>
                    <a:lstStyle/>
                    <a:p>
                      <a:pPr algn="l">
                        <a:defRPr sz="2000" b="0">
                          <a:solidFill>
                            <a:srgbClr val="263343"/>
                          </a:solidFill>
                          <a:latin typeface="Calibri"/>
                        </a:defRPr>
                      </a:pPr>
                      <a:r>
                        <a:t>Category accuracy</a:t>
                      </a:r>
                    </a:p>
                  </a:txBody>
                  <a:tcPr marL="109728" marR="109728" marT="64008" marB="64008" anchor="ctr">
                    <a:solidFill>
                      <a:srgbClr val="F8FAFC"/>
                    </a:solidFill>
                  </a:tcPr>
                </a:tc>
                <a:tc>
                  <a:txBody>
                    <a:bodyPr/>
                    <a:lstStyle/>
                    <a:p>
                      <a:pPr algn="ctr">
                        <a:defRPr sz="2000" b="0">
                          <a:solidFill>
                            <a:srgbClr val="263343"/>
                          </a:solidFill>
                          <a:latin typeface="Calibri"/>
                        </a:defRPr>
                      </a:pPr>
                      <a:r>
                        <a:t>51.96</a:t>
                      </a:r>
                    </a:p>
                  </a:txBody>
                  <a:tcPr marL="109728" marR="109728" marT="64008" marB="64008" anchor="ctr">
                    <a:solidFill>
                      <a:srgbClr val="F8FAFC"/>
                    </a:solidFill>
                  </a:tcPr>
                </a:tc>
                <a:tc>
                  <a:txBody>
                    <a:bodyPr/>
                    <a:lstStyle/>
                    <a:p>
                      <a:pPr algn="ctr">
                        <a:defRPr sz="2000" b="0">
                          <a:solidFill>
                            <a:srgbClr val="263343"/>
                          </a:solidFill>
                          <a:latin typeface="Calibri"/>
                        </a:defRPr>
                      </a:pPr>
                      <a:r>
                        <a:t>99.37</a:t>
                      </a:r>
                    </a:p>
                  </a:txBody>
                  <a:tcPr marL="109728" marR="109728" marT="64008" marB="64008" anchor="ctr">
                    <a:solidFill>
                      <a:srgbClr val="F8FAFC"/>
                    </a:solidFill>
                  </a:tcPr>
                </a:tc>
                <a:tc>
                  <a:txBody>
                    <a:bodyPr/>
                    <a:lstStyle/>
                    <a:p>
                      <a:pPr algn="ctr">
                        <a:defRPr sz="2000" b="0">
                          <a:solidFill>
                            <a:srgbClr val="263343"/>
                          </a:solidFill>
                          <a:latin typeface="Calibri"/>
                        </a:defRPr>
                      </a:pPr>
                      <a:r>
                        <a:t>1,727 / 1,738</a:t>
                      </a:r>
                    </a:p>
                  </a:txBody>
                  <a:tcPr marL="109728" marR="109728" marT="64008" marB="64008" anchor="ctr">
                    <a:solidFill>
                      <a:srgbClr val="F8FAFC"/>
                    </a:solidFill>
                  </a:tcPr>
                </a:tc>
              </a:tr>
              <a:tr h="585216">
                <a:tc>
                  <a:txBody>
                    <a:bodyPr/>
                    <a:lstStyle/>
                    <a:p>
                      <a:pPr algn="l">
                        <a:defRPr sz="2000" b="0">
                          <a:solidFill>
                            <a:srgbClr val="263343"/>
                          </a:solidFill>
                          <a:latin typeface="Calibri"/>
                        </a:defRPr>
                      </a:pPr>
                      <a:r>
                        <a:t>Target exact match</a:t>
                      </a:r>
                    </a:p>
                  </a:txBody>
                  <a:tcPr marL="109728" marR="109728" marT="64008" marB="64008" anchor="ctr">
                    <a:solidFill>
                      <a:srgbClr val="FFFFFF"/>
                    </a:solidFill>
                  </a:tcPr>
                </a:tc>
                <a:tc>
                  <a:txBody>
                    <a:bodyPr/>
                    <a:lstStyle/>
                    <a:p>
                      <a:pPr algn="ctr">
                        <a:defRPr sz="2000" b="0">
                          <a:solidFill>
                            <a:srgbClr val="263343"/>
                          </a:solidFill>
                          <a:latin typeface="Calibri"/>
                        </a:defRPr>
                      </a:pPr>
                      <a:r>
                        <a:t>21.69</a:t>
                      </a:r>
                    </a:p>
                  </a:txBody>
                  <a:tcPr marL="109728" marR="109728" marT="64008" marB="64008" anchor="ctr">
                    <a:solidFill>
                      <a:srgbClr val="FFFFFF"/>
                    </a:solidFill>
                  </a:tcPr>
                </a:tc>
                <a:tc>
                  <a:txBody>
                    <a:bodyPr/>
                    <a:lstStyle/>
                    <a:p>
                      <a:pPr algn="ctr">
                        <a:defRPr sz="2000" b="0">
                          <a:solidFill>
                            <a:srgbClr val="263343"/>
                          </a:solidFill>
                          <a:latin typeface="Calibri"/>
                        </a:defRPr>
                      </a:pPr>
                      <a:r>
                        <a:t>98.16</a:t>
                      </a:r>
                    </a:p>
                  </a:txBody>
                  <a:tcPr marL="109728" marR="109728" marT="64008" marB="64008" anchor="ctr">
                    <a:solidFill>
                      <a:srgbClr val="FFFFFF"/>
                    </a:solidFill>
                  </a:tcPr>
                </a:tc>
                <a:tc>
                  <a:txBody>
                    <a:bodyPr/>
                    <a:lstStyle/>
                    <a:p>
                      <a:pPr algn="ctr">
                        <a:defRPr sz="2000" b="0">
                          <a:solidFill>
                            <a:srgbClr val="263343"/>
                          </a:solidFill>
                          <a:latin typeface="Calibri"/>
                        </a:defRPr>
                      </a:pPr>
                      <a:r>
                        <a:t>1,706 / 1,738</a:t>
                      </a:r>
                    </a:p>
                  </a:txBody>
                  <a:tcPr marL="109728" marR="109728" marT="64008" marB="64008" anchor="ctr">
                    <a:solidFill>
                      <a:srgbClr val="FFFFFF"/>
                    </a:solidFill>
                  </a:tcPr>
                </a:tc>
              </a:tr>
              <a:tr h="585216">
                <a:tc>
                  <a:txBody>
                    <a:bodyPr/>
                    <a:lstStyle/>
                    <a:p>
                      <a:pPr algn="l">
                        <a:defRPr sz="2000" b="0">
                          <a:solidFill>
                            <a:srgbClr val="263343"/>
                          </a:solidFill>
                          <a:latin typeface="Calibri"/>
                        </a:defRPr>
                      </a:pPr>
                      <a:r>
                        <a:t>Label accuracy</a:t>
                      </a:r>
                    </a:p>
                  </a:txBody>
                  <a:tcPr marL="109728" marR="109728" marT="64008" marB="64008" anchor="ctr">
                    <a:solidFill>
                      <a:srgbClr val="F8FAFC"/>
                    </a:solidFill>
                  </a:tcPr>
                </a:tc>
                <a:tc>
                  <a:txBody>
                    <a:bodyPr/>
                    <a:lstStyle/>
                    <a:p>
                      <a:pPr algn="ctr">
                        <a:defRPr sz="2000" b="0">
                          <a:solidFill>
                            <a:srgbClr val="263343"/>
                          </a:solidFill>
                          <a:latin typeface="Calibri"/>
                        </a:defRPr>
                      </a:pPr>
                      <a:r>
                        <a:t>34.46</a:t>
                      </a:r>
                    </a:p>
                  </a:txBody>
                  <a:tcPr marL="109728" marR="109728" marT="64008" marB="64008" anchor="ctr">
                    <a:solidFill>
                      <a:srgbClr val="F8FAFC"/>
                    </a:solidFill>
                  </a:tcPr>
                </a:tc>
                <a:tc>
                  <a:txBody>
                    <a:bodyPr/>
                    <a:lstStyle/>
                    <a:p>
                      <a:pPr algn="ctr">
                        <a:defRPr sz="2000" b="0">
                          <a:solidFill>
                            <a:srgbClr val="263343"/>
                          </a:solidFill>
                          <a:latin typeface="Calibri"/>
                        </a:defRPr>
                      </a:pPr>
                      <a:r>
                        <a:t>93.61</a:t>
                      </a:r>
                    </a:p>
                  </a:txBody>
                  <a:tcPr marL="109728" marR="109728" marT="64008" marB="64008" anchor="ctr">
                    <a:solidFill>
                      <a:srgbClr val="F8FAFC"/>
                    </a:solidFill>
                  </a:tcPr>
                </a:tc>
                <a:tc>
                  <a:txBody>
                    <a:bodyPr/>
                    <a:lstStyle/>
                    <a:p>
                      <a:pPr algn="ctr">
                        <a:defRPr sz="2000" b="0">
                          <a:solidFill>
                            <a:srgbClr val="263343"/>
                          </a:solidFill>
                          <a:latin typeface="Calibri"/>
                        </a:defRPr>
                      </a:pPr>
                      <a:r>
                        <a:t>1,627 / 1,738</a:t>
                      </a:r>
                    </a:p>
                  </a:txBody>
                  <a:tcPr marL="109728" marR="109728" marT="64008" marB="64008" anchor="ctr">
                    <a:solidFill>
                      <a:srgbClr val="F8FAFC"/>
                    </a:solidFill>
                  </a:tcPr>
                </a:tc>
              </a:tr>
              <a:tr h="585216">
                <a:tc>
                  <a:txBody>
                    <a:bodyPr/>
                    <a:lstStyle/>
                    <a:p>
                      <a:pPr algn="l">
                        <a:defRPr sz="2000" b="0">
                          <a:solidFill>
                            <a:srgbClr val="263343"/>
                          </a:solidFill>
                          <a:latin typeface="Calibri"/>
                        </a:defRPr>
                      </a:pPr>
                      <a:r>
                        <a:t>All three fields correct</a:t>
                      </a:r>
                    </a:p>
                  </a:txBody>
                  <a:tcPr marL="109728" marR="109728" marT="64008" marB="64008" anchor="ctr">
                    <a:solidFill>
                      <a:srgbClr val="EFF6F0"/>
                    </a:solidFill>
                  </a:tcPr>
                </a:tc>
                <a:tc>
                  <a:txBody>
                    <a:bodyPr/>
                    <a:lstStyle/>
                    <a:p>
                      <a:pPr algn="ctr">
                        <a:defRPr sz="2000" b="0">
                          <a:solidFill>
                            <a:srgbClr val="263343"/>
                          </a:solidFill>
                          <a:latin typeface="Calibri"/>
                        </a:defRPr>
                      </a:pPr>
                      <a:r>
                        <a:t>2.53</a:t>
                      </a:r>
                    </a:p>
                  </a:txBody>
                  <a:tcPr marL="109728" marR="109728" marT="64008" marB="64008" anchor="ctr">
                    <a:solidFill>
                      <a:srgbClr val="EFF6F0"/>
                    </a:solidFill>
                  </a:tcPr>
                </a:tc>
                <a:tc>
                  <a:txBody>
                    <a:bodyPr/>
                    <a:lstStyle/>
                    <a:p>
                      <a:pPr algn="ctr">
                        <a:defRPr sz="2000" b="0">
                          <a:solidFill>
                            <a:srgbClr val="263343"/>
                          </a:solidFill>
                          <a:latin typeface="Calibri"/>
                        </a:defRPr>
                      </a:pPr>
                      <a:r>
                        <a:t>92.87</a:t>
                      </a:r>
                    </a:p>
                  </a:txBody>
                  <a:tcPr marL="109728" marR="109728" marT="64008" marB="64008" anchor="ctr">
                    <a:solidFill>
                      <a:srgbClr val="EFF6F0"/>
                    </a:solidFill>
                  </a:tcPr>
                </a:tc>
                <a:tc>
                  <a:txBody>
                    <a:bodyPr/>
                    <a:lstStyle/>
                    <a:p>
                      <a:pPr algn="ctr">
                        <a:defRPr sz="2000" b="0">
                          <a:solidFill>
                            <a:srgbClr val="263343"/>
                          </a:solidFill>
                          <a:latin typeface="Calibri"/>
                        </a:defRPr>
                      </a:pPr>
                      <a:r>
                        <a:t>1,614 / 1,738</a:t>
                      </a:r>
                    </a:p>
                  </a:txBody>
                  <a:tcPr marL="109728" marR="109728" marT="64008" marB="64008" anchor="ctr">
                    <a:solidFill>
                      <a:srgbClr val="EFF6F0"/>
                    </a:solidFill>
                  </a:tcPr>
                </a:tc>
              </a:tr>
            </a:tbl>
          </a:graphicData>
        </a:graphic>
      </p:graphicFrame>
      <p:sp>
        <p:nvSpPr>
          <p:cNvPr id="13" name="TextBox 12"/>
          <p:cNvSpPr txBox="1"/>
          <p:nvPr/>
        </p:nvSpPr>
        <p:spPr>
          <a:xfrm>
            <a:off x="1097280" y="5349240"/>
            <a:ext cx="9966960" cy="420624"/>
          </a:xfrm>
          <a:prstGeom prst="rect">
            <a:avLst/>
          </a:prstGeom>
          <a:noFill/>
        </p:spPr>
        <p:txBody>
          <a:bodyPr wrap="square" lIns="0" rIns="0" tIns="0" bIns="0" anchor="t">
            <a:spAutoFit/>
          </a:bodyPr>
          <a:lstStyle/>
          <a:p>
            <a:pPr algn="ctr">
              <a:spcBef>
                <a:spcPts val="0"/>
              </a:spcBef>
              <a:spcAft>
                <a:spcPts val="500"/>
              </a:spcAft>
              <a:defRPr sz="2200" b="1">
                <a:solidFill>
                  <a:srgbClr val="263343"/>
                </a:solidFill>
                <a:latin typeface="Calibri"/>
              </a:defRPr>
            </a:pPr>
            <a:r>
              <a:t>Complete-JSON accuracy measures all fields together for the same sentence.</a:t>
            </a:r>
          </a:p>
        </p:txBody>
      </p:sp>
      <p:sp>
        <p:nvSpPr>
          <p:cNvPr id="14" name="TextBox 13"/>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Recomputed from saved responses. Category: normalized text. Target: exact string. Label: strict integer match.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19</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The main remaining errors separate stereotypes from anti-stereotypes</a:t>
            </a:r>
          </a:p>
        </p:txBody>
      </p:sp>
      <p:graphicFrame>
        <p:nvGraphicFramePr>
          <p:cNvPr id="12" name="Table 11"/>
          <p:cNvGraphicFramePr>
            <a:graphicFrameLocks noGrp="1"/>
          </p:cNvGraphicFramePr>
          <p:nvPr/>
        </p:nvGraphicFramePr>
        <p:xfrm>
          <a:off x="932688" y="1938528"/>
          <a:ext cx="10287000" cy="3072384"/>
        </p:xfrm>
        <a:graphic>
          <a:graphicData uri="http://schemas.openxmlformats.org/drawingml/2006/table">
            <a:tbl>
              <a:tblPr firstRow="1" bandRow="1">
                <a:tableStyleId>{5C22544A-7EE6-4342-B048-85BDC9FD1C3A}</a:tableStyleId>
              </a:tblPr>
              <a:tblGrid>
                <a:gridCol w="3154680"/>
                <a:gridCol w="1005840"/>
                <a:gridCol w="2194560"/>
                <a:gridCol w="1965960"/>
                <a:gridCol w="1965960"/>
              </a:tblGrid>
              <a:tr h="512064">
                <a:tc>
                  <a:txBody>
                    <a:bodyPr/>
                    <a:lstStyle/>
                    <a:p>
                      <a:pPr algn="l">
                        <a:defRPr sz="1800" b="1">
                          <a:solidFill>
                            <a:srgbClr val="25354A"/>
                          </a:solidFill>
                          <a:latin typeface="Calibri"/>
                        </a:defRPr>
                      </a:pPr>
                      <a:r>
                        <a:t>Gold class</a:t>
                      </a:r>
                    </a:p>
                  </a:txBody>
                  <a:tcPr marL="109728" marR="109728" marT="64008" marB="64008" anchor="ctr">
                    <a:solidFill>
                      <a:srgbClr val="EEF3FB"/>
                    </a:solidFill>
                  </a:tcPr>
                </a:tc>
                <a:tc>
                  <a:txBody>
                    <a:bodyPr/>
                    <a:lstStyle/>
                    <a:p>
                      <a:pPr algn="ctr">
                        <a:defRPr sz="1800" b="1">
                          <a:solidFill>
                            <a:srgbClr val="25354A"/>
                          </a:solidFill>
                          <a:latin typeface="Calibri"/>
                        </a:defRPr>
                      </a:pPr>
                      <a:r>
                        <a:t>Support</a:t>
                      </a:r>
                    </a:p>
                  </a:txBody>
                  <a:tcPr marL="109728" marR="109728" marT="64008" marB="64008" anchor="ctr">
                    <a:solidFill>
                      <a:srgbClr val="EEF3FB"/>
                    </a:solidFill>
                  </a:tcPr>
                </a:tc>
                <a:tc>
                  <a:txBody>
                    <a:bodyPr/>
                    <a:lstStyle/>
                    <a:p>
                      <a:pPr algn="ctr">
                        <a:defRPr sz="1800" b="1">
                          <a:solidFill>
                            <a:srgbClr val="25354A"/>
                          </a:solidFill>
                          <a:latin typeface="Calibri"/>
                        </a:defRPr>
                      </a:pPr>
                      <a:r>
                        <a:t>ModernBERT-large</a:t>
                      </a:r>
                    </a:p>
                  </a:txBody>
                  <a:tcPr marL="109728" marR="109728" marT="64008" marB="64008" anchor="ctr">
                    <a:solidFill>
                      <a:srgbClr val="EEF3FB"/>
                    </a:solidFill>
                  </a:tcPr>
                </a:tc>
                <a:tc>
                  <a:txBody>
                    <a:bodyPr/>
                    <a:lstStyle/>
                    <a:p>
                      <a:pPr algn="ctr">
                        <a:defRPr sz="1800" b="1">
                          <a:solidFill>
                            <a:srgbClr val="25354A"/>
                          </a:solidFill>
                          <a:latin typeface="Calibri"/>
                        </a:defRPr>
                      </a:pPr>
                      <a:r>
                        <a:t>Qwen label FT</a:t>
                      </a:r>
                    </a:p>
                  </a:txBody>
                  <a:tcPr marL="109728" marR="109728" marT="64008" marB="64008" anchor="ctr">
                    <a:solidFill>
                      <a:srgbClr val="EEF3FB"/>
                    </a:solidFill>
                  </a:tcPr>
                </a:tc>
                <a:tc>
                  <a:txBody>
                    <a:bodyPr/>
                    <a:lstStyle/>
                    <a:p>
                      <a:pPr algn="ctr">
                        <a:defRPr sz="1800" b="1">
                          <a:solidFill>
                            <a:srgbClr val="25354A"/>
                          </a:solidFill>
                          <a:latin typeface="Calibri"/>
                        </a:defRPr>
                      </a:pPr>
                      <a:r>
                        <a:t>Qwen JSON FT</a:t>
                      </a:r>
                    </a:p>
                  </a:txBody>
                  <a:tcPr marL="109728" marR="109728" marT="64008" marB="64008" anchor="ctr">
                    <a:solidFill>
                      <a:srgbClr val="EEF3FB"/>
                    </a:solidFill>
                  </a:tcPr>
                </a:tc>
              </a:tr>
              <a:tr h="512064">
                <a:tc>
                  <a:txBody>
                    <a:bodyPr/>
                    <a:lstStyle/>
                    <a:p>
                      <a:pPr algn="l">
                        <a:defRPr sz="1800" b="0">
                          <a:solidFill>
                            <a:srgbClr val="263343"/>
                          </a:solidFill>
                          <a:latin typeface="Calibri"/>
                        </a:defRPr>
                      </a:pPr>
                      <a:r>
                        <a:t>Anti-stereotype</a:t>
                      </a:r>
                    </a:p>
                  </a:txBody>
                  <a:tcPr marL="109728" marR="109728" marT="64008" marB="64008" anchor="ctr">
                    <a:solidFill>
                      <a:srgbClr val="F8FAFC"/>
                    </a:solidFill>
                  </a:tcPr>
                </a:tc>
                <a:tc>
                  <a:txBody>
                    <a:bodyPr/>
                    <a:lstStyle/>
                    <a:p>
                      <a:pPr algn="ctr">
                        <a:defRPr sz="1800" b="0">
                          <a:solidFill>
                            <a:srgbClr val="263343"/>
                          </a:solidFill>
                          <a:latin typeface="Calibri"/>
                        </a:defRPr>
                      </a:pPr>
                      <a:r>
                        <a:t>359</a:t>
                      </a:r>
                    </a:p>
                  </a:txBody>
                  <a:tcPr marL="109728" marR="109728" marT="64008" marB="64008" anchor="ctr">
                    <a:solidFill>
                      <a:srgbClr val="F8FAFC"/>
                    </a:solidFill>
                  </a:tcPr>
                </a:tc>
                <a:tc>
                  <a:txBody>
                    <a:bodyPr/>
                    <a:lstStyle/>
                    <a:p>
                      <a:pPr algn="ctr">
                        <a:defRPr sz="1800" b="0">
                          <a:solidFill>
                            <a:srgbClr val="263343"/>
                          </a:solidFill>
                          <a:latin typeface="Calibri"/>
                        </a:defRPr>
                      </a:pPr>
                      <a:r>
                        <a:t>86.12</a:t>
                      </a:r>
                    </a:p>
                  </a:txBody>
                  <a:tcPr marL="109728" marR="109728" marT="64008" marB="64008" anchor="ctr">
                    <a:solidFill>
                      <a:srgbClr val="F8FAFC"/>
                    </a:solidFill>
                  </a:tcPr>
                </a:tc>
                <a:tc>
                  <a:txBody>
                    <a:bodyPr/>
                    <a:lstStyle/>
                    <a:p>
                      <a:pPr algn="ctr">
                        <a:defRPr sz="1800" b="0">
                          <a:solidFill>
                            <a:srgbClr val="263343"/>
                          </a:solidFill>
                          <a:latin typeface="Calibri"/>
                        </a:defRPr>
                      </a:pPr>
                      <a:r>
                        <a:t>89.43</a:t>
                      </a:r>
                    </a:p>
                  </a:txBody>
                  <a:tcPr marL="109728" marR="109728" marT="64008" marB="64008" anchor="ctr">
                    <a:solidFill>
                      <a:srgbClr val="F8FAFC"/>
                    </a:solidFill>
                  </a:tcPr>
                </a:tc>
                <a:tc>
                  <a:txBody>
                    <a:bodyPr/>
                    <a:lstStyle/>
                    <a:p>
                      <a:pPr algn="ctr">
                        <a:defRPr sz="1800" b="0">
                          <a:solidFill>
                            <a:srgbClr val="263343"/>
                          </a:solidFill>
                          <a:latin typeface="Calibri"/>
                        </a:defRPr>
                      </a:pPr>
                      <a:r>
                        <a:t>86.45</a:t>
                      </a:r>
                    </a:p>
                  </a:txBody>
                  <a:tcPr marL="109728" marR="109728" marT="64008" marB="64008" anchor="ctr">
                    <a:solidFill>
                      <a:srgbClr val="F8FAFC"/>
                    </a:solidFill>
                  </a:tcPr>
                </a:tc>
              </a:tr>
              <a:tr h="512064">
                <a:tc>
                  <a:txBody>
                    <a:bodyPr/>
                    <a:lstStyle/>
                    <a:p>
                      <a:pPr algn="l">
                        <a:defRPr sz="1800" b="0">
                          <a:solidFill>
                            <a:srgbClr val="263343"/>
                          </a:solidFill>
                          <a:latin typeface="Calibri"/>
                        </a:defRPr>
                      </a:pPr>
                      <a:r>
                        <a:t>Stereotype</a:t>
                      </a:r>
                    </a:p>
                  </a:txBody>
                  <a:tcPr marL="109728" marR="109728" marT="64008" marB="64008" anchor="ctr">
                    <a:solidFill>
                      <a:srgbClr val="FFFFFF"/>
                    </a:solidFill>
                  </a:tcPr>
                </a:tc>
                <a:tc>
                  <a:txBody>
                    <a:bodyPr/>
                    <a:lstStyle/>
                    <a:p>
                      <a:pPr algn="ctr">
                        <a:defRPr sz="1800" b="0">
                          <a:solidFill>
                            <a:srgbClr val="263343"/>
                          </a:solidFill>
                          <a:latin typeface="Calibri"/>
                        </a:defRPr>
                      </a:pPr>
                      <a:r>
                        <a:t>343</a:t>
                      </a:r>
                    </a:p>
                  </a:txBody>
                  <a:tcPr marL="109728" marR="109728" marT="64008" marB="64008" anchor="ctr">
                    <a:solidFill>
                      <a:srgbClr val="FFFFFF"/>
                    </a:solidFill>
                  </a:tcPr>
                </a:tc>
                <a:tc>
                  <a:txBody>
                    <a:bodyPr/>
                    <a:lstStyle/>
                    <a:p>
                      <a:pPr algn="ctr">
                        <a:defRPr sz="1800" b="0">
                          <a:solidFill>
                            <a:srgbClr val="263343"/>
                          </a:solidFill>
                          <a:latin typeface="Calibri"/>
                        </a:defRPr>
                      </a:pPr>
                      <a:r>
                        <a:t>87.02</a:t>
                      </a:r>
                    </a:p>
                  </a:txBody>
                  <a:tcPr marL="109728" marR="109728" marT="64008" marB="64008" anchor="ctr">
                    <a:solidFill>
                      <a:srgbClr val="FFFFFF"/>
                    </a:solidFill>
                  </a:tcPr>
                </a:tc>
                <a:tc>
                  <a:txBody>
                    <a:bodyPr/>
                    <a:lstStyle/>
                    <a:p>
                      <a:pPr algn="ctr">
                        <a:defRPr sz="1800" b="0">
                          <a:solidFill>
                            <a:srgbClr val="263343"/>
                          </a:solidFill>
                          <a:latin typeface="Calibri"/>
                        </a:defRPr>
                      </a:pPr>
                      <a:r>
                        <a:t>88.99</a:t>
                      </a:r>
                    </a:p>
                  </a:txBody>
                  <a:tcPr marL="109728" marR="109728" marT="64008" marB="64008" anchor="ctr">
                    <a:solidFill>
                      <a:srgbClr val="FFFFFF"/>
                    </a:solidFill>
                  </a:tcPr>
                </a:tc>
                <a:tc>
                  <a:txBody>
                    <a:bodyPr/>
                    <a:lstStyle/>
                    <a:p>
                      <a:pPr algn="ctr">
                        <a:defRPr sz="1800" b="0">
                          <a:solidFill>
                            <a:srgbClr val="263343"/>
                          </a:solidFill>
                          <a:latin typeface="Calibri"/>
                        </a:defRPr>
                      </a:pPr>
                      <a:r>
                        <a:t>87.54</a:t>
                      </a:r>
                    </a:p>
                  </a:txBody>
                  <a:tcPr marL="109728" marR="109728" marT="64008" marB="64008" anchor="ctr">
                    <a:solidFill>
                      <a:srgbClr val="FFFFFF"/>
                    </a:solidFill>
                  </a:tcPr>
                </a:tc>
              </a:tr>
              <a:tr h="512064">
                <a:tc>
                  <a:txBody>
                    <a:bodyPr/>
                    <a:lstStyle/>
                    <a:p>
                      <a:pPr algn="l">
                        <a:defRPr sz="1800" b="0">
                          <a:solidFill>
                            <a:srgbClr val="263343"/>
                          </a:solidFill>
                          <a:latin typeface="Calibri"/>
                        </a:defRPr>
                      </a:pPr>
                      <a:r>
                        <a:t>Neutral without target</a:t>
                      </a:r>
                    </a:p>
                  </a:txBody>
                  <a:tcPr marL="109728" marR="109728" marT="64008" marB="64008" anchor="ctr">
                    <a:solidFill>
                      <a:srgbClr val="F8FAFC"/>
                    </a:solidFill>
                  </a:tcPr>
                </a:tc>
                <a:tc>
                  <a:txBody>
                    <a:bodyPr/>
                    <a:lstStyle/>
                    <a:p>
                      <a:pPr algn="ctr">
                        <a:defRPr sz="1800" b="0">
                          <a:solidFill>
                            <a:srgbClr val="263343"/>
                          </a:solidFill>
                          <a:latin typeface="Calibri"/>
                        </a:defRPr>
                      </a:pPr>
                      <a:r>
                        <a:t>400</a:t>
                      </a:r>
                    </a:p>
                  </a:txBody>
                  <a:tcPr marL="109728" marR="109728" marT="64008" marB="64008" anchor="ctr">
                    <a:solidFill>
                      <a:srgbClr val="F8FAFC"/>
                    </a:solidFill>
                  </a:tcPr>
                </a:tc>
                <a:tc>
                  <a:txBody>
                    <a:bodyPr/>
                    <a:lstStyle/>
                    <a:p>
                      <a:pPr algn="ctr">
                        <a:defRPr sz="1800" b="0">
                          <a:solidFill>
                            <a:srgbClr val="263343"/>
                          </a:solidFill>
                          <a:latin typeface="Calibri"/>
                        </a:defRPr>
                      </a:pPr>
                      <a:r>
                        <a:t>98.10</a:t>
                      </a:r>
                    </a:p>
                  </a:txBody>
                  <a:tcPr marL="109728" marR="109728" marT="64008" marB="64008" anchor="ctr">
                    <a:solidFill>
                      <a:srgbClr val="F8FAFC"/>
                    </a:solidFill>
                  </a:tcPr>
                </a:tc>
                <a:tc>
                  <a:txBody>
                    <a:bodyPr/>
                    <a:lstStyle/>
                    <a:p>
                      <a:pPr algn="ctr">
                        <a:defRPr sz="1800" b="0">
                          <a:solidFill>
                            <a:srgbClr val="263343"/>
                          </a:solidFill>
                          <a:latin typeface="Calibri"/>
                        </a:defRPr>
                      </a:pPr>
                      <a:r>
                        <a:t>100.00</a:t>
                      </a:r>
                    </a:p>
                  </a:txBody>
                  <a:tcPr marL="109728" marR="109728" marT="64008" marB="64008" anchor="ctr">
                    <a:solidFill>
                      <a:srgbClr val="F8FAFC"/>
                    </a:solidFill>
                  </a:tcPr>
                </a:tc>
                <a:tc>
                  <a:txBody>
                    <a:bodyPr/>
                    <a:lstStyle/>
                    <a:p>
                      <a:pPr algn="ctr">
                        <a:defRPr sz="1800" b="0">
                          <a:solidFill>
                            <a:srgbClr val="263343"/>
                          </a:solidFill>
                          <a:latin typeface="Calibri"/>
                        </a:defRPr>
                      </a:pPr>
                      <a:r>
                        <a:t>98.75</a:t>
                      </a:r>
                    </a:p>
                  </a:txBody>
                  <a:tcPr marL="109728" marR="109728" marT="64008" marB="64008" anchor="ctr">
                    <a:solidFill>
                      <a:srgbClr val="F8FAFC"/>
                    </a:solidFill>
                  </a:tcPr>
                </a:tc>
              </a:tr>
              <a:tr h="512064">
                <a:tc>
                  <a:txBody>
                    <a:bodyPr/>
                    <a:lstStyle/>
                    <a:p>
                      <a:pPr algn="l">
                        <a:defRPr sz="1800" b="0">
                          <a:solidFill>
                            <a:srgbClr val="263343"/>
                          </a:solidFill>
                          <a:latin typeface="Calibri"/>
                        </a:defRPr>
                      </a:pPr>
                      <a:r>
                        <a:t>Neutral with target</a:t>
                      </a:r>
                    </a:p>
                  </a:txBody>
                  <a:tcPr marL="109728" marR="109728" marT="64008" marB="64008" anchor="ctr">
                    <a:solidFill>
                      <a:srgbClr val="FFFFFF"/>
                    </a:solidFill>
                  </a:tcPr>
                </a:tc>
                <a:tc>
                  <a:txBody>
                    <a:bodyPr/>
                    <a:lstStyle/>
                    <a:p>
                      <a:pPr algn="ctr">
                        <a:defRPr sz="1800" b="0">
                          <a:solidFill>
                            <a:srgbClr val="263343"/>
                          </a:solidFill>
                          <a:latin typeface="Calibri"/>
                        </a:defRPr>
                      </a:pPr>
                      <a:r>
                        <a:t>372</a:t>
                      </a:r>
                    </a:p>
                  </a:txBody>
                  <a:tcPr marL="109728" marR="109728" marT="64008" marB="64008" anchor="ctr">
                    <a:solidFill>
                      <a:srgbClr val="FFFFFF"/>
                    </a:solidFill>
                  </a:tcPr>
                </a:tc>
                <a:tc>
                  <a:txBody>
                    <a:bodyPr/>
                    <a:lstStyle/>
                    <a:p>
                      <a:pPr algn="ctr">
                        <a:defRPr sz="1800" b="0">
                          <a:solidFill>
                            <a:srgbClr val="263343"/>
                          </a:solidFill>
                          <a:latin typeface="Calibri"/>
                        </a:defRPr>
                      </a:pPr>
                      <a:r>
                        <a:t>97.99</a:t>
                      </a:r>
                    </a:p>
                  </a:txBody>
                  <a:tcPr marL="109728" marR="109728" marT="64008" marB="64008" anchor="ctr">
                    <a:solidFill>
                      <a:srgbClr val="FFFFFF"/>
                    </a:solidFill>
                  </a:tcPr>
                </a:tc>
                <a:tc>
                  <a:txBody>
                    <a:bodyPr/>
                    <a:lstStyle/>
                    <a:p>
                      <a:pPr algn="ctr">
                        <a:defRPr sz="1800" b="0">
                          <a:solidFill>
                            <a:srgbClr val="263343"/>
                          </a:solidFill>
                          <a:latin typeface="Calibri"/>
                        </a:defRPr>
                      </a:pPr>
                      <a:r>
                        <a:t>99.33</a:t>
                      </a:r>
                    </a:p>
                  </a:txBody>
                  <a:tcPr marL="109728" marR="109728" marT="64008" marB="64008" anchor="ctr">
                    <a:solidFill>
                      <a:srgbClr val="FFFFFF"/>
                    </a:solidFill>
                  </a:tcPr>
                </a:tc>
                <a:tc>
                  <a:txBody>
                    <a:bodyPr/>
                    <a:lstStyle/>
                    <a:p>
                      <a:pPr algn="ctr">
                        <a:defRPr sz="1800" b="0">
                          <a:solidFill>
                            <a:srgbClr val="263343"/>
                          </a:solidFill>
                          <a:latin typeface="Calibri"/>
                        </a:defRPr>
                      </a:pPr>
                      <a:r>
                        <a:t>97.61</a:t>
                      </a:r>
                    </a:p>
                  </a:txBody>
                  <a:tcPr marL="109728" marR="109728" marT="64008" marB="64008" anchor="ctr">
                    <a:solidFill>
                      <a:srgbClr val="FFFFFF"/>
                    </a:solidFill>
                  </a:tcPr>
                </a:tc>
              </a:tr>
              <a:tr h="512064">
                <a:tc>
                  <a:txBody>
                    <a:bodyPr/>
                    <a:lstStyle/>
                    <a:p>
                      <a:pPr algn="l">
                        <a:defRPr sz="1800" b="0">
                          <a:solidFill>
                            <a:srgbClr val="263343"/>
                          </a:solidFill>
                          <a:latin typeface="Calibri"/>
                        </a:defRPr>
                      </a:pPr>
                      <a:r>
                        <a:t>Bias</a:t>
                      </a:r>
                    </a:p>
                  </a:txBody>
                  <a:tcPr marL="109728" marR="109728" marT="64008" marB="64008" anchor="ctr">
                    <a:solidFill>
                      <a:srgbClr val="F8FAFC"/>
                    </a:solidFill>
                  </a:tcPr>
                </a:tc>
                <a:tc>
                  <a:txBody>
                    <a:bodyPr/>
                    <a:lstStyle/>
                    <a:p>
                      <a:pPr algn="ctr">
                        <a:defRPr sz="1800" b="0">
                          <a:solidFill>
                            <a:srgbClr val="263343"/>
                          </a:solidFill>
                          <a:latin typeface="Calibri"/>
                        </a:defRPr>
                      </a:pPr>
                      <a:r>
                        <a:t>264</a:t>
                      </a:r>
                    </a:p>
                  </a:txBody>
                  <a:tcPr marL="109728" marR="109728" marT="64008" marB="64008" anchor="ctr">
                    <a:solidFill>
                      <a:srgbClr val="F8FAFC"/>
                    </a:solidFill>
                  </a:tcPr>
                </a:tc>
                <a:tc>
                  <a:txBody>
                    <a:bodyPr/>
                    <a:lstStyle/>
                    <a:p>
                      <a:pPr algn="ctr">
                        <a:defRPr sz="1800" b="0">
                          <a:solidFill>
                            <a:srgbClr val="263343"/>
                          </a:solidFill>
                          <a:latin typeface="Calibri"/>
                        </a:defRPr>
                      </a:pPr>
                      <a:r>
                        <a:t>97.72</a:t>
                      </a:r>
                    </a:p>
                  </a:txBody>
                  <a:tcPr marL="109728" marR="109728" marT="64008" marB="64008" anchor="ctr">
                    <a:solidFill>
                      <a:srgbClr val="F8FAFC"/>
                    </a:solidFill>
                  </a:tcPr>
                </a:tc>
                <a:tc>
                  <a:txBody>
                    <a:bodyPr/>
                    <a:lstStyle/>
                    <a:p>
                      <a:pPr algn="ctr">
                        <a:defRPr sz="1800" b="0">
                          <a:solidFill>
                            <a:srgbClr val="263343"/>
                          </a:solidFill>
                          <a:latin typeface="Calibri"/>
                        </a:defRPr>
                      </a:pPr>
                      <a:r>
                        <a:t>100.00</a:t>
                      </a:r>
                    </a:p>
                  </a:txBody>
                  <a:tcPr marL="109728" marR="109728" marT="64008" marB="64008" anchor="ctr">
                    <a:solidFill>
                      <a:srgbClr val="F8FAFC"/>
                    </a:solidFill>
                  </a:tcPr>
                </a:tc>
                <a:tc>
                  <a:txBody>
                    <a:bodyPr/>
                    <a:lstStyle/>
                    <a:p>
                      <a:pPr algn="ctr">
                        <a:defRPr sz="1800" b="0">
                          <a:solidFill>
                            <a:srgbClr val="263343"/>
                          </a:solidFill>
                          <a:latin typeface="Calibri"/>
                        </a:defRPr>
                      </a:pPr>
                      <a:r>
                        <a:t>97.88</a:t>
                      </a:r>
                    </a:p>
                  </a:txBody>
                  <a:tcPr marL="109728" marR="109728" marT="64008" marB="64008" anchor="ctr">
                    <a:solidFill>
                      <a:srgbClr val="F8FAFC"/>
                    </a:solidFill>
                  </a:tcPr>
                </a:tc>
              </a:tr>
            </a:tbl>
          </a:graphicData>
        </a:graphic>
      </p:graphicFrame>
      <p:sp>
        <p:nvSpPr>
          <p:cNvPr id="13" name="Rounded Rectangle 12"/>
          <p:cNvSpPr/>
          <p:nvPr/>
        </p:nvSpPr>
        <p:spPr>
          <a:xfrm>
            <a:off x="932688" y="5285232"/>
            <a:ext cx="10287000" cy="512064"/>
          </a:xfrm>
          <a:prstGeom prst="roundRect">
            <a:avLst>
              <a:gd name="adj" fmla="val 7000"/>
            </a:avLst>
          </a:prstGeom>
          <a:solidFill>
            <a:srgbClr val="FBF6E9"/>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15568" y="5376672"/>
            <a:ext cx="9921240" cy="320040"/>
          </a:xfrm>
          <a:prstGeom prst="rect">
            <a:avLst/>
          </a:prstGeom>
          <a:noFill/>
        </p:spPr>
        <p:txBody>
          <a:bodyPr wrap="square" lIns="0" rIns="0" tIns="0" bIns="0" anchor="t">
            <a:spAutoFit/>
          </a:bodyPr>
          <a:lstStyle/>
          <a:p>
            <a:pPr algn="l">
              <a:spcBef>
                <a:spcPts val="0"/>
              </a:spcBef>
              <a:spcAft>
                <a:spcPts val="500"/>
              </a:spcAft>
              <a:defRPr sz="2200" b="1">
                <a:solidFill>
                  <a:srgbClr val="263343"/>
                </a:solidFill>
                <a:latin typeface="Calibri"/>
              </a:defRPr>
            </a:pPr>
            <a:r>
              <a:t>73 of 78 label-model errors are stereotype ↔ anti-stereotype swaps.</a:t>
            </a:r>
          </a:p>
        </p:txBody>
      </p:sp>
      <p:sp>
        <p:nvSpPr>
          <p:cNvPr id="15" name="TextBox 14"/>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Table entries are per-class F1 (%). ModernBERT-large uses its saved run. FT = task fine-tuned.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Demonstration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20</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Saved test example · Same sentence, different structured predictions</a:t>
            </a:r>
          </a:p>
        </p:txBody>
      </p:sp>
      <p:sp>
        <p:nvSpPr>
          <p:cNvPr id="12" name="Rounded Rectangle 11"/>
          <p:cNvSpPr/>
          <p:nvPr/>
        </p:nvSpPr>
        <p:spPr>
          <a:xfrm>
            <a:off x="932688" y="1947672"/>
            <a:ext cx="10287000" cy="64008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2103120"/>
            <a:ext cx="9866376" cy="347472"/>
          </a:xfrm>
          <a:prstGeom prst="rect">
            <a:avLst/>
          </a:prstGeom>
          <a:noFill/>
        </p:spPr>
        <p:txBody>
          <a:bodyPr wrap="square" lIns="0" rIns="0" tIns="0" bIns="0" anchor="t">
            <a:spAutoFit/>
          </a:bodyPr>
          <a:lstStyle/>
          <a:p>
            <a:pPr algn="l">
              <a:spcBef>
                <a:spcPts val="0"/>
              </a:spcBef>
              <a:spcAft>
                <a:spcPts val="500"/>
              </a:spcAft>
              <a:defRPr sz="2500" b="1">
                <a:solidFill>
                  <a:srgbClr val="263343"/>
                </a:solidFill>
                <a:latin typeface="Calibri"/>
              </a:defRPr>
            </a:pPr>
            <a:r>
              <a:t>Input sentence: “The dog begged for his treat.”</a:t>
            </a:r>
          </a:p>
        </p:txBody>
      </p:sp>
      <p:sp>
        <p:nvSpPr>
          <p:cNvPr id="14" name="Rounded Rectangle 13"/>
          <p:cNvSpPr/>
          <p:nvPr/>
        </p:nvSpPr>
        <p:spPr>
          <a:xfrm>
            <a:off x="932688" y="2907792"/>
            <a:ext cx="4992624" cy="2395728"/>
          </a:xfrm>
          <a:prstGeom prst="roundRect">
            <a:avLst>
              <a:gd name="adj" fmla="val 7000"/>
            </a:avLst>
          </a:prstGeom>
          <a:solidFill>
            <a:srgbClr val="FBF6E9"/>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15568" y="3054096"/>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Base checkpoint</a:t>
            </a:r>
          </a:p>
        </p:txBody>
      </p:sp>
      <p:sp>
        <p:nvSpPr>
          <p:cNvPr id="16" name="TextBox 15"/>
          <p:cNvSpPr txBox="1"/>
          <p:nvPr/>
        </p:nvSpPr>
        <p:spPr>
          <a:xfrm>
            <a:off x="1115568" y="3630168"/>
            <a:ext cx="4626864" cy="1554480"/>
          </a:xfrm>
          <a:prstGeom prst="rect">
            <a:avLst/>
          </a:prstGeom>
          <a:noFill/>
        </p:spPr>
        <p:txBody>
          <a:bodyPr wrap="square" lIns="0" rIns="0" tIns="0" bIns="0" anchor="t">
            <a:spAutoFit/>
          </a:bodyPr>
          <a:lstStyle/>
          <a:p>
            <a:pPr algn="l">
              <a:spcBef>
                <a:spcPts val="0"/>
              </a:spcBef>
              <a:spcAft>
                <a:spcPts val="500"/>
              </a:spcAft>
              <a:defRPr sz="2200" b="0">
                <a:solidFill>
                  <a:srgbClr val="263343"/>
                </a:solidFill>
                <a:latin typeface="Calibri"/>
              </a:defRPr>
            </a:pPr>
            <a:r>
              <a:t>{</a:t>
            </a:r>
          </a:p>
          <a:p>
            <a:pPr algn="l">
              <a:spcBef>
                <a:spcPts val="0"/>
              </a:spcBef>
              <a:spcAft>
                <a:spcPts val="500"/>
              </a:spcAft>
              <a:defRPr sz="2200" b="0">
                <a:solidFill>
                  <a:srgbClr val="263343"/>
                </a:solidFill>
                <a:latin typeface="Calibri"/>
              </a:defRPr>
            </a:pPr>
            <a:r>
              <a:t>  "category": "neutral",</a:t>
            </a:r>
          </a:p>
          <a:p>
            <a:pPr algn="l">
              <a:spcBef>
                <a:spcPts val="0"/>
              </a:spcBef>
              <a:spcAft>
                <a:spcPts val="500"/>
              </a:spcAft>
              <a:defRPr sz="2200" b="0">
                <a:solidFill>
                  <a:srgbClr val="263343"/>
                </a:solidFill>
                <a:latin typeface="Calibri"/>
              </a:defRPr>
            </a:pPr>
            <a:r>
              <a:t>  "target": "dog", "label": 3</a:t>
            </a:r>
          </a:p>
          <a:p>
            <a:pPr algn="l">
              <a:spcBef>
                <a:spcPts val="0"/>
              </a:spcBef>
              <a:spcAft>
                <a:spcPts val="500"/>
              </a:spcAft>
              <a:defRPr sz="2200" b="0">
                <a:solidFill>
                  <a:srgbClr val="263343"/>
                </a:solidFill>
                <a:latin typeface="Calibri"/>
              </a:defRPr>
            </a:pPr>
            <a:r>
              <a:t>}</a:t>
            </a:r>
          </a:p>
        </p:txBody>
      </p:sp>
      <p:sp>
        <p:nvSpPr>
          <p:cNvPr id="17" name="Rounded Rectangle 16"/>
          <p:cNvSpPr/>
          <p:nvPr/>
        </p:nvSpPr>
        <p:spPr>
          <a:xfrm>
            <a:off x="6144768" y="2907792"/>
            <a:ext cx="5093208" cy="2395728"/>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7648" y="3054096"/>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Fine-tuned JSON adapter</a:t>
            </a:r>
          </a:p>
        </p:txBody>
      </p:sp>
      <p:sp>
        <p:nvSpPr>
          <p:cNvPr id="19" name="TextBox 18"/>
          <p:cNvSpPr txBox="1"/>
          <p:nvPr/>
        </p:nvSpPr>
        <p:spPr>
          <a:xfrm>
            <a:off x="6327648" y="3630168"/>
            <a:ext cx="4727448" cy="1554480"/>
          </a:xfrm>
          <a:prstGeom prst="rect">
            <a:avLst/>
          </a:prstGeom>
          <a:noFill/>
        </p:spPr>
        <p:txBody>
          <a:bodyPr wrap="square" lIns="0" rIns="0" tIns="0" bIns="0" anchor="t">
            <a:spAutoFit/>
          </a:bodyPr>
          <a:lstStyle/>
          <a:p>
            <a:pPr algn="l">
              <a:spcBef>
                <a:spcPts val="0"/>
              </a:spcBef>
              <a:spcAft>
                <a:spcPts val="500"/>
              </a:spcAft>
              <a:defRPr sz="2200" b="0">
                <a:solidFill>
                  <a:srgbClr val="263343"/>
                </a:solidFill>
                <a:latin typeface="Calibri"/>
              </a:defRPr>
            </a:pPr>
            <a:r>
              <a:t>{</a:t>
            </a:r>
          </a:p>
          <a:p>
            <a:pPr algn="l">
              <a:spcBef>
                <a:spcPts val="0"/>
              </a:spcBef>
              <a:spcAft>
                <a:spcPts val="500"/>
              </a:spcAft>
              <a:defRPr sz="2200" b="0">
                <a:solidFill>
                  <a:srgbClr val="263343"/>
                </a:solidFill>
                <a:latin typeface="Calibri"/>
              </a:defRPr>
            </a:pPr>
            <a:r>
              <a:t>  "category": "neutral",</a:t>
            </a:r>
          </a:p>
          <a:p>
            <a:pPr algn="l">
              <a:spcBef>
                <a:spcPts val="0"/>
              </a:spcBef>
              <a:spcAft>
                <a:spcPts val="500"/>
              </a:spcAft>
              <a:defRPr sz="2200" b="0">
                <a:solidFill>
                  <a:srgbClr val="263343"/>
                </a:solidFill>
                <a:latin typeface="Calibri"/>
              </a:defRPr>
            </a:pPr>
            <a:r>
              <a:t>  "target": "Neutral", "label": 2</a:t>
            </a:r>
          </a:p>
          <a:p>
            <a:pPr algn="l">
              <a:spcBef>
                <a:spcPts val="0"/>
              </a:spcBef>
              <a:spcAft>
                <a:spcPts val="500"/>
              </a:spcAft>
              <a:defRPr sz="2200" b="0">
                <a:solidFill>
                  <a:srgbClr val="263343"/>
                </a:solidFill>
                <a:latin typeface="Calibri"/>
              </a:defRPr>
            </a:pPr>
            <a:r>
              <a:t>}</a:t>
            </a:r>
          </a:p>
        </p:txBody>
      </p:sp>
      <p:sp>
        <p:nvSpPr>
          <p:cNvPr id="20" name="TextBox 19"/>
          <p:cNvSpPr txBox="1"/>
          <p:nvPr/>
        </p:nvSpPr>
        <p:spPr>
          <a:xfrm>
            <a:off x="1097280" y="5504688"/>
            <a:ext cx="9948672" cy="365760"/>
          </a:xfrm>
          <a:prstGeom prst="rect">
            <a:avLst/>
          </a:prstGeom>
          <a:noFill/>
        </p:spPr>
        <p:txBody>
          <a:bodyPr wrap="square" lIns="0" rIns="0" tIns="0" bIns="0" anchor="t">
            <a:spAutoFit/>
          </a:bodyPr>
          <a:lstStyle/>
          <a:p>
            <a:pPr algn="ctr">
              <a:spcBef>
                <a:spcPts val="0"/>
              </a:spcBef>
              <a:spcAft>
                <a:spcPts val="500"/>
              </a:spcAft>
              <a:defRPr sz="2200" b="0">
                <a:solidFill>
                  <a:srgbClr val="263343"/>
                </a:solidFill>
                <a:latin typeface="Calibri"/>
              </a:defRPr>
            </a:pPr>
            <a:r>
              <a:t>Gold annotation: category neutral · target Neutral · label 2</a:t>
            </a:r>
          </a:p>
        </p:txBody>
      </p:sp>
      <p:sp>
        <p:nvSpPr>
          <p:cNvPr id="21" name="TextBox 20"/>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Exact saved completions for test index 0. This example is a recorded demonstration.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Demonstration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21</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ModernBERT-large · A saved LIME/SHAP explanation</a:t>
            </a:r>
          </a:p>
        </p:txBody>
      </p:sp>
      <p:sp>
        <p:nvSpPr>
          <p:cNvPr id="12" name="Rounded Rectangle 11"/>
          <p:cNvSpPr/>
          <p:nvPr/>
        </p:nvSpPr>
        <p:spPr>
          <a:xfrm>
            <a:off x="932688" y="1892807"/>
            <a:ext cx="10287000" cy="61264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2039112"/>
            <a:ext cx="9921240" cy="365760"/>
          </a:xfrm>
          <a:prstGeom prst="rect">
            <a:avLst/>
          </a:prstGeom>
          <a:noFill/>
        </p:spPr>
        <p:txBody>
          <a:bodyPr wrap="square" lIns="0" rIns="0" tIns="0" bIns="0" anchor="t">
            <a:spAutoFit/>
          </a:bodyPr>
          <a:lstStyle/>
          <a:p>
            <a:pPr algn="l">
              <a:spcBef>
                <a:spcPts val="0"/>
              </a:spcBef>
              <a:spcAft>
                <a:spcPts val="500"/>
              </a:spcAft>
              <a:defRPr sz="2300" b="1">
                <a:solidFill>
                  <a:srgbClr val="263343"/>
                </a:solidFill>
                <a:latin typeface="Calibri"/>
              </a:defRPr>
            </a:pPr>
            <a:r>
              <a:t>“Producers are businesslike” · gold 1 · predicted 1 (Stereotype)</a:t>
            </a:r>
          </a:p>
        </p:txBody>
      </p:sp>
      <p:sp>
        <p:nvSpPr>
          <p:cNvPr id="14" name="TextBox 13"/>
          <p:cNvSpPr txBox="1"/>
          <p:nvPr/>
        </p:nvSpPr>
        <p:spPr>
          <a:xfrm>
            <a:off x="2834640" y="2752344"/>
            <a:ext cx="2743200" cy="274320"/>
          </a:xfrm>
          <a:prstGeom prst="rect">
            <a:avLst/>
          </a:prstGeom>
          <a:noFill/>
        </p:spPr>
        <p:txBody>
          <a:bodyPr wrap="square" lIns="0" rIns="0" tIns="0" bIns="0" anchor="t">
            <a:spAutoFit/>
          </a:bodyPr>
          <a:lstStyle/>
          <a:p>
            <a:pPr algn="l">
              <a:spcBef>
                <a:spcPts val="0"/>
              </a:spcBef>
              <a:spcAft>
                <a:spcPts val="500"/>
              </a:spcAft>
              <a:defRPr sz="1800" b="1">
                <a:solidFill>
                  <a:srgbClr val="4472C4"/>
                </a:solidFill>
                <a:latin typeface="Calibri"/>
              </a:defRPr>
            </a:pPr>
            <a:r>
              <a:t>LIME</a:t>
            </a:r>
          </a:p>
        </p:txBody>
      </p:sp>
      <p:sp>
        <p:nvSpPr>
          <p:cNvPr id="15" name="TextBox 14"/>
          <p:cNvSpPr txBox="1"/>
          <p:nvPr/>
        </p:nvSpPr>
        <p:spPr>
          <a:xfrm>
            <a:off x="5742432" y="2752344"/>
            <a:ext cx="2743200" cy="274320"/>
          </a:xfrm>
          <a:prstGeom prst="rect">
            <a:avLst/>
          </a:prstGeom>
          <a:noFill/>
        </p:spPr>
        <p:txBody>
          <a:bodyPr wrap="square" lIns="0" rIns="0" tIns="0" bIns="0" anchor="t">
            <a:spAutoFit/>
          </a:bodyPr>
          <a:lstStyle/>
          <a:p>
            <a:pPr algn="l">
              <a:spcBef>
                <a:spcPts val="0"/>
              </a:spcBef>
              <a:spcAft>
                <a:spcPts val="500"/>
              </a:spcAft>
              <a:defRPr sz="1800" b="1">
                <a:solidFill>
                  <a:srgbClr val="4F8567"/>
                </a:solidFill>
                <a:latin typeface="Calibri"/>
              </a:defRPr>
            </a:pPr>
            <a:r>
              <a:t>SHAP</a:t>
            </a:r>
          </a:p>
        </p:txBody>
      </p:sp>
      <p:sp>
        <p:nvSpPr>
          <p:cNvPr id="16" name="TextBox 15"/>
          <p:cNvSpPr txBox="1"/>
          <p:nvPr/>
        </p:nvSpPr>
        <p:spPr>
          <a:xfrm>
            <a:off x="987552" y="3291840"/>
            <a:ext cx="1691640" cy="365760"/>
          </a:xfrm>
          <a:prstGeom prst="rect">
            <a:avLst/>
          </a:prstGeom>
          <a:noFill/>
        </p:spPr>
        <p:txBody>
          <a:bodyPr wrap="square" lIns="0" rIns="0" tIns="0" bIns="0" anchor="t">
            <a:spAutoFit/>
          </a:bodyPr>
          <a:lstStyle/>
          <a:p>
            <a:pPr algn="l">
              <a:spcBef>
                <a:spcPts val="0"/>
              </a:spcBef>
              <a:spcAft>
                <a:spcPts val="500"/>
              </a:spcAft>
              <a:defRPr sz="2200" b="0">
                <a:solidFill>
                  <a:srgbClr val="263343"/>
                </a:solidFill>
                <a:latin typeface="Calibri"/>
              </a:defRPr>
            </a:pPr>
            <a:r>
              <a:t>Producers</a:t>
            </a:r>
          </a:p>
        </p:txBody>
      </p:sp>
      <p:sp>
        <p:nvSpPr>
          <p:cNvPr id="17" name="Rectangle 16"/>
          <p:cNvSpPr/>
          <p:nvPr/>
        </p:nvSpPr>
        <p:spPr>
          <a:xfrm>
            <a:off x="2834640" y="3310128"/>
            <a:ext cx="324971" cy="292608"/>
          </a:xfrm>
          <a:prstGeom prst="rect">
            <a:avLst/>
          </a:prstGeom>
          <a:solidFill>
            <a:srgbClr val="8FA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23619" y="3291840"/>
            <a:ext cx="640080" cy="320040"/>
          </a:xfrm>
          <a:prstGeom prst="rect">
            <a:avLst/>
          </a:prstGeom>
          <a:noFill/>
        </p:spPr>
        <p:txBody>
          <a:bodyPr wrap="square" lIns="0" rIns="0" tIns="0" bIns="0" anchor="t">
            <a:spAutoFit/>
          </a:bodyPr>
          <a:lstStyle/>
          <a:p>
            <a:pPr algn="l">
              <a:spcBef>
                <a:spcPts val="0"/>
              </a:spcBef>
              <a:spcAft>
                <a:spcPts val="500"/>
              </a:spcAft>
              <a:defRPr sz="1600" b="0">
                <a:solidFill>
                  <a:srgbClr val="263343"/>
                </a:solidFill>
                <a:latin typeface="Calibri"/>
              </a:defRPr>
            </a:pPr>
            <a:r>
              <a:t>+0.114</a:t>
            </a:r>
          </a:p>
        </p:txBody>
      </p:sp>
      <p:sp>
        <p:nvSpPr>
          <p:cNvPr id="19" name="Rectangle 18"/>
          <p:cNvSpPr/>
          <p:nvPr/>
        </p:nvSpPr>
        <p:spPr>
          <a:xfrm>
            <a:off x="5742432" y="3310128"/>
            <a:ext cx="95898" cy="292608"/>
          </a:xfrm>
          <a:prstGeom prst="rect">
            <a:avLst/>
          </a:prstGeom>
          <a:solidFill>
            <a:srgbClr val="81AC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02338" y="3291840"/>
            <a:ext cx="640080" cy="320040"/>
          </a:xfrm>
          <a:prstGeom prst="rect">
            <a:avLst/>
          </a:prstGeom>
          <a:noFill/>
        </p:spPr>
        <p:txBody>
          <a:bodyPr wrap="square" lIns="0" rIns="0" tIns="0" bIns="0" anchor="t">
            <a:spAutoFit/>
          </a:bodyPr>
          <a:lstStyle/>
          <a:p>
            <a:pPr algn="l">
              <a:spcBef>
                <a:spcPts val="0"/>
              </a:spcBef>
              <a:spcAft>
                <a:spcPts val="500"/>
              </a:spcAft>
              <a:defRPr sz="1600" b="0">
                <a:solidFill>
                  <a:srgbClr val="263343"/>
                </a:solidFill>
                <a:latin typeface="Calibri"/>
              </a:defRPr>
            </a:pPr>
            <a:r>
              <a:t>+0.034</a:t>
            </a:r>
          </a:p>
        </p:txBody>
      </p:sp>
      <p:sp>
        <p:nvSpPr>
          <p:cNvPr id="21" name="TextBox 20"/>
          <p:cNvSpPr txBox="1"/>
          <p:nvPr/>
        </p:nvSpPr>
        <p:spPr>
          <a:xfrm>
            <a:off x="987552" y="3895344"/>
            <a:ext cx="1691640" cy="365760"/>
          </a:xfrm>
          <a:prstGeom prst="rect">
            <a:avLst/>
          </a:prstGeom>
          <a:noFill/>
        </p:spPr>
        <p:txBody>
          <a:bodyPr wrap="square" lIns="0" rIns="0" tIns="0" bIns="0" anchor="t">
            <a:spAutoFit/>
          </a:bodyPr>
          <a:lstStyle/>
          <a:p>
            <a:pPr algn="l">
              <a:spcBef>
                <a:spcPts val="0"/>
              </a:spcBef>
              <a:spcAft>
                <a:spcPts val="500"/>
              </a:spcAft>
              <a:defRPr sz="2200" b="0">
                <a:solidFill>
                  <a:srgbClr val="263343"/>
                </a:solidFill>
                <a:latin typeface="Calibri"/>
              </a:defRPr>
            </a:pPr>
            <a:r>
              <a:t>are</a:t>
            </a:r>
          </a:p>
        </p:txBody>
      </p:sp>
      <p:sp>
        <p:nvSpPr>
          <p:cNvPr id="22" name="Rectangle 21"/>
          <p:cNvSpPr/>
          <p:nvPr/>
        </p:nvSpPr>
        <p:spPr>
          <a:xfrm>
            <a:off x="2834640" y="3913631"/>
            <a:ext cx="321263" cy="292608"/>
          </a:xfrm>
          <a:prstGeom prst="rect">
            <a:avLst/>
          </a:prstGeom>
          <a:solidFill>
            <a:srgbClr val="8FA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19911" y="3895344"/>
            <a:ext cx="640080" cy="320040"/>
          </a:xfrm>
          <a:prstGeom prst="rect">
            <a:avLst/>
          </a:prstGeom>
          <a:noFill/>
        </p:spPr>
        <p:txBody>
          <a:bodyPr wrap="square" lIns="0" rIns="0" tIns="0" bIns="0" anchor="t">
            <a:spAutoFit/>
          </a:bodyPr>
          <a:lstStyle/>
          <a:p>
            <a:pPr algn="l">
              <a:spcBef>
                <a:spcPts val="0"/>
              </a:spcBef>
              <a:spcAft>
                <a:spcPts val="500"/>
              </a:spcAft>
              <a:defRPr sz="1600" b="0">
                <a:solidFill>
                  <a:srgbClr val="263343"/>
                </a:solidFill>
                <a:latin typeface="Calibri"/>
              </a:defRPr>
            </a:pPr>
            <a:r>
              <a:t>+0.113</a:t>
            </a:r>
          </a:p>
        </p:txBody>
      </p:sp>
      <p:sp>
        <p:nvSpPr>
          <p:cNvPr id="24" name="Rectangle 23"/>
          <p:cNvSpPr/>
          <p:nvPr/>
        </p:nvSpPr>
        <p:spPr>
          <a:xfrm>
            <a:off x="5742432" y="3913631"/>
            <a:ext cx="138287" cy="292608"/>
          </a:xfrm>
          <a:prstGeom prst="rect">
            <a:avLst/>
          </a:prstGeom>
          <a:solidFill>
            <a:srgbClr val="81AC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4727" y="3895344"/>
            <a:ext cx="640080" cy="320040"/>
          </a:xfrm>
          <a:prstGeom prst="rect">
            <a:avLst/>
          </a:prstGeom>
          <a:noFill/>
        </p:spPr>
        <p:txBody>
          <a:bodyPr wrap="square" lIns="0" rIns="0" tIns="0" bIns="0" anchor="t">
            <a:spAutoFit/>
          </a:bodyPr>
          <a:lstStyle/>
          <a:p>
            <a:pPr algn="l">
              <a:spcBef>
                <a:spcPts val="0"/>
              </a:spcBef>
              <a:spcAft>
                <a:spcPts val="500"/>
              </a:spcAft>
              <a:defRPr sz="1600" b="0">
                <a:solidFill>
                  <a:srgbClr val="263343"/>
                </a:solidFill>
                <a:latin typeface="Calibri"/>
              </a:defRPr>
            </a:pPr>
            <a:r>
              <a:t>+0.048</a:t>
            </a:r>
          </a:p>
        </p:txBody>
      </p:sp>
      <p:sp>
        <p:nvSpPr>
          <p:cNvPr id="26" name="TextBox 25"/>
          <p:cNvSpPr txBox="1"/>
          <p:nvPr/>
        </p:nvSpPr>
        <p:spPr>
          <a:xfrm>
            <a:off x="987552" y="4498848"/>
            <a:ext cx="1691640" cy="365760"/>
          </a:xfrm>
          <a:prstGeom prst="rect">
            <a:avLst/>
          </a:prstGeom>
          <a:noFill/>
        </p:spPr>
        <p:txBody>
          <a:bodyPr wrap="square" lIns="0" rIns="0" tIns="0" bIns="0" anchor="t">
            <a:spAutoFit/>
          </a:bodyPr>
          <a:lstStyle/>
          <a:p>
            <a:pPr algn="l">
              <a:spcBef>
                <a:spcPts val="0"/>
              </a:spcBef>
              <a:spcAft>
                <a:spcPts val="500"/>
              </a:spcAft>
              <a:defRPr sz="2200" b="0">
                <a:solidFill>
                  <a:srgbClr val="263343"/>
                </a:solidFill>
                <a:latin typeface="Calibri"/>
              </a:defRPr>
            </a:pPr>
            <a:r>
              <a:t>businesslike</a:t>
            </a:r>
          </a:p>
        </p:txBody>
      </p:sp>
      <p:sp>
        <p:nvSpPr>
          <p:cNvPr id="27" name="Rectangle 26"/>
          <p:cNvSpPr/>
          <p:nvPr/>
        </p:nvSpPr>
        <p:spPr>
          <a:xfrm>
            <a:off x="2834640" y="4517136"/>
            <a:ext cx="1964049" cy="292608"/>
          </a:xfrm>
          <a:prstGeom prst="rect">
            <a:avLst/>
          </a:prstGeom>
          <a:solidFill>
            <a:srgbClr val="8FA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62697" y="4498848"/>
            <a:ext cx="640080" cy="320040"/>
          </a:xfrm>
          <a:prstGeom prst="rect">
            <a:avLst/>
          </a:prstGeom>
          <a:noFill/>
        </p:spPr>
        <p:txBody>
          <a:bodyPr wrap="square" lIns="0" rIns="0" tIns="0" bIns="0" anchor="t">
            <a:spAutoFit/>
          </a:bodyPr>
          <a:lstStyle/>
          <a:p>
            <a:pPr algn="l">
              <a:spcBef>
                <a:spcPts val="0"/>
              </a:spcBef>
              <a:spcAft>
                <a:spcPts val="500"/>
              </a:spcAft>
              <a:defRPr sz="1600" b="0">
                <a:solidFill>
                  <a:srgbClr val="263343"/>
                </a:solidFill>
                <a:latin typeface="Calibri"/>
              </a:defRPr>
            </a:pPr>
            <a:r>
              <a:t>+0.688</a:t>
            </a:r>
          </a:p>
        </p:txBody>
      </p:sp>
      <p:sp>
        <p:nvSpPr>
          <p:cNvPr id="29" name="Rectangle 28"/>
          <p:cNvSpPr/>
          <p:nvPr/>
        </p:nvSpPr>
        <p:spPr>
          <a:xfrm>
            <a:off x="5742432" y="4517136"/>
            <a:ext cx="1798846" cy="292608"/>
          </a:xfrm>
          <a:prstGeom prst="rect">
            <a:avLst/>
          </a:prstGeom>
          <a:solidFill>
            <a:srgbClr val="81AC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5286" y="4498848"/>
            <a:ext cx="640080" cy="320040"/>
          </a:xfrm>
          <a:prstGeom prst="rect">
            <a:avLst/>
          </a:prstGeom>
          <a:noFill/>
        </p:spPr>
        <p:txBody>
          <a:bodyPr wrap="square" lIns="0" rIns="0" tIns="0" bIns="0" anchor="t">
            <a:spAutoFit/>
          </a:bodyPr>
          <a:lstStyle/>
          <a:p>
            <a:pPr algn="l">
              <a:spcBef>
                <a:spcPts val="0"/>
              </a:spcBef>
              <a:spcAft>
                <a:spcPts val="500"/>
              </a:spcAft>
              <a:defRPr sz="1600" b="0">
                <a:solidFill>
                  <a:srgbClr val="263343"/>
                </a:solidFill>
                <a:latin typeface="Calibri"/>
              </a:defRPr>
            </a:pPr>
            <a:r>
              <a:t>+0.631</a:t>
            </a:r>
          </a:p>
        </p:txBody>
      </p:sp>
      <p:sp>
        <p:nvSpPr>
          <p:cNvPr id="31" name="Rounded Rectangle 30"/>
          <p:cNvSpPr/>
          <p:nvPr/>
        </p:nvSpPr>
        <p:spPr>
          <a:xfrm>
            <a:off x="8823960" y="2871216"/>
            <a:ext cx="2386584" cy="1947672"/>
          </a:xfrm>
          <a:prstGeom prst="roundRect">
            <a:avLst>
              <a:gd name="adj" fmla="val 7000"/>
            </a:avLst>
          </a:prstGeom>
          <a:solidFill>
            <a:srgbClr val="FBF6E9"/>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79408" y="3072384"/>
            <a:ext cx="2075688" cy="1426464"/>
          </a:xfrm>
          <a:prstGeom prst="rect">
            <a:avLst/>
          </a:prstGeom>
          <a:noFill/>
        </p:spPr>
        <p:txBody>
          <a:bodyPr wrap="square" lIns="0" rIns="0" tIns="0" bIns="0" anchor="t">
            <a:spAutoFit/>
          </a:bodyPr>
          <a:lstStyle/>
          <a:p>
            <a:pPr algn="l">
              <a:spcBef>
                <a:spcPts val="0"/>
              </a:spcBef>
              <a:spcAft>
                <a:spcPts val="500"/>
              </a:spcAft>
              <a:defRPr sz="2100" b="1">
                <a:solidFill>
                  <a:srgbClr val="263343"/>
                </a:solidFill>
                <a:latin typeface="Calibri"/>
              </a:defRPr>
            </a:pPr>
            <a:r>
              <a:t>Masking the top word drops the class score by 57.73 percentage points.</a:t>
            </a:r>
          </a:p>
        </p:txBody>
      </p:sp>
      <p:sp>
        <p:nvSpPr>
          <p:cNvPr id="33" name="TextBox 32"/>
          <p:cNvSpPr txBox="1"/>
          <p:nvPr/>
        </p:nvSpPr>
        <p:spPr>
          <a:xfrm>
            <a:off x="1051560" y="5276088"/>
            <a:ext cx="10058400" cy="438912"/>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Positive bars support class 1 in this example; they are not word-level probabilities.</a:t>
            </a:r>
          </a:p>
        </p:txBody>
      </p:sp>
      <p:sp>
        <p:nvSpPr>
          <p:cNvPr id="34" name="TextBox 33"/>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Saved diagnostic test index 1713. Bar values are preserved from the recorded explanation run.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22</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Task adaptation improves predictions; difficult class boundaries remain</a:t>
            </a:r>
          </a:p>
        </p:txBody>
      </p:sp>
      <p:sp>
        <p:nvSpPr>
          <p:cNvPr id="12" name="Rounded Rectangle 11"/>
          <p:cNvSpPr/>
          <p:nvPr/>
        </p:nvSpPr>
        <p:spPr>
          <a:xfrm>
            <a:off x="932688" y="1920240"/>
            <a:ext cx="4992624" cy="3465576"/>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2066544"/>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What the experiments show</a:t>
            </a:r>
          </a:p>
        </p:txBody>
      </p:sp>
      <p:sp>
        <p:nvSpPr>
          <p:cNvPr id="14" name="TextBox 13"/>
          <p:cNvSpPr txBox="1"/>
          <p:nvPr/>
        </p:nvSpPr>
        <p:spPr>
          <a:xfrm>
            <a:off x="1115568" y="2642616"/>
            <a:ext cx="4626864" cy="2624328"/>
          </a:xfrm>
          <a:prstGeom prst="rect">
            <a:avLst/>
          </a:prstGeom>
          <a:noFill/>
        </p:spPr>
        <p:txBody>
          <a:bodyPr wrap="square" lIns="0" rIns="0" tIns="0" bIns="0" anchor="t">
            <a:spAutoFit/>
          </a:bodyPr>
          <a:lstStyle/>
          <a:p>
            <a:pPr algn="l">
              <a:spcBef>
                <a:spcPts val="0"/>
              </a:spcBef>
              <a:spcAft>
                <a:spcPts val="500"/>
              </a:spcAft>
              <a:defRPr sz="2300" b="0">
                <a:solidFill>
                  <a:srgbClr val="263343"/>
                </a:solidFill>
                <a:latin typeface="Calibri"/>
              </a:defRPr>
            </a:pPr>
            <a:r>
              <a:t>• Qwen label accuracy: 95.51%</a:t>
            </a:r>
          </a:p>
          <a:p>
            <a:pPr algn="l">
              <a:spcBef>
                <a:spcPts val="0"/>
              </a:spcBef>
              <a:spcAft>
                <a:spcPts val="500"/>
              </a:spcAft>
              <a:defRPr sz="2300" b="0">
                <a:solidFill>
                  <a:srgbClr val="263343"/>
                </a:solidFill>
                <a:latin typeface="Calibri"/>
              </a:defRPr>
            </a:pPr>
            <a:r>
              <a:t>• JSON label accuracy: 93.61%</a:t>
            </a:r>
          </a:p>
          <a:p>
            <a:pPr algn="l">
              <a:spcBef>
                <a:spcPts val="0"/>
              </a:spcBef>
              <a:spcAft>
                <a:spcPts val="500"/>
              </a:spcAft>
              <a:defRPr sz="2300" b="0">
                <a:solidFill>
                  <a:srgbClr val="263343"/>
                </a:solidFill>
                <a:latin typeface="Calibri"/>
              </a:defRPr>
            </a:pPr>
            <a:r>
              <a:t>• Complete-JSON accuracy: 92.87%</a:t>
            </a:r>
          </a:p>
          <a:p>
            <a:pPr algn="l">
              <a:spcBef>
                <a:spcPts val="0"/>
              </a:spcBef>
              <a:spcAft>
                <a:spcPts val="500"/>
              </a:spcAft>
              <a:defRPr sz="2300" b="0">
                <a:solidFill>
                  <a:srgbClr val="263343"/>
                </a:solidFill>
                <a:latin typeface="Calibri"/>
              </a:defRPr>
            </a:pPr>
          </a:p>
          <a:p>
            <a:pPr algn="l">
              <a:spcBef>
                <a:spcPts val="0"/>
              </a:spcBef>
              <a:spcAft>
                <a:spcPts val="500"/>
              </a:spcAft>
              <a:defRPr sz="2300" b="0">
                <a:solidFill>
                  <a:srgbClr val="263343"/>
                </a:solidFill>
                <a:latin typeface="Calibri"/>
              </a:defRPr>
            </a:pPr>
            <a:r>
              <a:t>Fine-tuning improves both task setups over the base checkpoint.</a:t>
            </a:r>
          </a:p>
        </p:txBody>
      </p:sp>
      <p:sp>
        <p:nvSpPr>
          <p:cNvPr id="15" name="Rounded Rectangle 14"/>
          <p:cNvSpPr/>
          <p:nvPr/>
        </p:nvSpPr>
        <p:spPr>
          <a:xfrm>
            <a:off x="6144768" y="1920240"/>
            <a:ext cx="5093208" cy="3465576"/>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7648" y="2066544"/>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Next phase</a:t>
            </a:r>
          </a:p>
        </p:txBody>
      </p:sp>
      <p:sp>
        <p:nvSpPr>
          <p:cNvPr id="17" name="TextBox 16"/>
          <p:cNvSpPr txBox="1"/>
          <p:nvPr/>
        </p:nvSpPr>
        <p:spPr>
          <a:xfrm>
            <a:off x="6327648" y="2642616"/>
            <a:ext cx="4727448" cy="2624328"/>
          </a:xfrm>
          <a:prstGeom prst="rect">
            <a:avLst/>
          </a:prstGeom>
          <a:noFill/>
        </p:spPr>
        <p:txBody>
          <a:bodyPr wrap="square" lIns="0" rIns="0" tIns="0" bIns="0" anchor="t">
            <a:spAutoFit/>
          </a:bodyPr>
          <a:lstStyle/>
          <a:p>
            <a:pPr algn="l">
              <a:spcBef>
                <a:spcPts val="0"/>
              </a:spcBef>
              <a:spcAft>
                <a:spcPts val="500"/>
              </a:spcAft>
              <a:defRPr sz="2300" b="0">
                <a:solidFill>
                  <a:srgbClr val="263343"/>
                </a:solidFill>
                <a:latin typeface="Calibri"/>
              </a:defRPr>
            </a:pPr>
            <a:r>
              <a:t>• Review class 0 / class 1 errors</a:t>
            </a:r>
          </a:p>
          <a:p>
            <a:pPr algn="l">
              <a:spcBef>
                <a:spcPts val="0"/>
              </a:spcBef>
              <a:spcAft>
                <a:spcPts val="500"/>
              </a:spcAft>
              <a:defRPr sz="2300" b="0">
                <a:solidFill>
                  <a:srgbClr val="263343"/>
                </a:solidFill>
                <a:latin typeface="Calibri"/>
              </a:defRPr>
            </a:pPr>
            <a:r>
              <a:t>• Repeat with matched engines and seeds</a:t>
            </a:r>
          </a:p>
          <a:p>
            <a:pPr algn="l">
              <a:spcBef>
                <a:spcPts val="0"/>
              </a:spcBef>
              <a:spcAft>
                <a:spcPts val="500"/>
              </a:spcAft>
              <a:defRPr sz="2300" b="0">
                <a:solidFill>
                  <a:srgbClr val="263343"/>
                </a:solidFill>
                <a:latin typeface="Calibri"/>
              </a:defRPr>
            </a:pPr>
            <a:r>
              <a:t>• Evaluate calibration and new domains</a:t>
            </a:r>
          </a:p>
          <a:p>
            <a:pPr algn="l">
              <a:spcBef>
                <a:spcPts val="0"/>
              </a:spcBef>
              <a:spcAft>
                <a:spcPts val="500"/>
              </a:spcAft>
              <a:defRPr sz="2300" b="0">
                <a:solidFill>
                  <a:srgbClr val="263343"/>
                </a:solidFill>
                <a:latin typeface="Calibri"/>
              </a:defRPr>
            </a:pPr>
            <a:r>
              <a:t>• Extend explanation diagnostics</a:t>
            </a:r>
          </a:p>
        </p:txBody>
      </p:sp>
      <p:sp>
        <p:nvSpPr>
          <p:cNvPr id="18" name="TextBox 1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All reported outcomes use recorded full-test evaluations; future work is proposed, not completed.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23</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IEEE-style bibliography · 1 / 2</a:t>
            </a:r>
          </a:p>
        </p:txBody>
      </p:sp>
      <p:sp>
        <p:nvSpPr>
          <p:cNvPr id="12" name="TextBox 11"/>
          <p:cNvSpPr txBox="1"/>
          <p:nvPr/>
        </p:nvSpPr>
        <p:spPr>
          <a:xfrm>
            <a:off x="932688" y="1865376"/>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[1]</a:t>
            </a:r>
          </a:p>
        </p:txBody>
      </p:sp>
      <p:sp>
        <p:nvSpPr>
          <p:cNvPr id="13" name="TextBox 12"/>
          <p:cNvSpPr txBox="1"/>
          <p:nvPr/>
        </p:nvSpPr>
        <p:spPr>
          <a:xfrm>
            <a:off x="1444752" y="1865376"/>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4"/>
              </a:rPr>
              <a:t>K. S. Shejole and P. Bhattacharyya, “StereoDetect: Detecting Stereotypes and Anti-stereotypes the Correct Way Using Social Psychological Underpinnings,” Findings of EMNLP, pp. 4051–4082, 2025.</a:t>
            </a:r>
          </a:p>
        </p:txBody>
      </p:sp>
      <p:sp>
        <p:nvSpPr>
          <p:cNvPr id="14" name="TextBox 13"/>
          <p:cNvSpPr txBox="1"/>
          <p:nvPr/>
        </p:nvSpPr>
        <p:spPr>
          <a:xfrm>
            <a:off x="932688" y="2523744"/>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[2]</a:t>
            </a:r>
          </a:p>
        </p:txBody>
      </p:sp>
      <p:sp>
        <p:nvSpPr>
          <p:cNvPr id="15" name="TextBox 14"/>
          <p:cNvSpPr txBox="1"/>
          <p:nvPr/>
        </p:nvSpPr>
        <p:spPr>
          <a:xfrm>
            <a:off x="1444752" y="2523744"/>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5"/>
              </a:rPr>
              <a:t>T. King et al., “HEARTS: A Holistic Framework for Explainable, Sustainable and Robust Text Stereotype Detection,” Proc. IJCNLP–AACL, pp. 1–18, 2025.</a:t>
            </a:r>
          </a:p>
        </p:txBody>
      </p:sp>
      <p:sp>
        <p:nvSpPr>
          <p:cNvPr id="16" name="TextBox 15"/>
          <p:cNvSpPr txBox="1"/>
          <p:nvPr/>
        </p:nvSpPr>
        <p:spPr>
          <a:xfrm>
            <a:off x="932688" y="3182111"/>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[3]</a:t>
            </a:r>
          </a:p>
        </p:txBody>
      </p:sp>
      <p:sp>
        <p:nvSpPr>
          <p:cNvPr id="17" name="TextBox 16"/>
          <p:cNvSpPr txBox="1"/>
          <p:nvPr/>
        </p:nvSpPr>
        <p:spPr>
          <a:xfrm>
            <a:off x="1444752" y="3182111"/>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6"/>
              </a:rPr>
              <a:t>Z. Lan et al., “ALBERT: A Lite BERT for Self-supervised Learning of Language Representations,” ICLR, 2020.</a:t>
            </a:r>
          </a:p>
        </p:txBody>
      </p:sp>
      <p:sp>
        <p:nvSpPr>
          <p:cNvPr id="18" name="TextBox 17"/>
          <p:cNvSpPr txBox="1"/>
          <p:nvPr/>
        </p:nvSpPr>
        <p:spPr>
          <a:xfrm>
            <a:off x="932688" y="3840479"/>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[4]</a:t>
            </a:r>
          </a:p>
        </p:txBody>
      </p:sp>
      <p:sp>
        <p:nvSpPr>
          <p:cNvPr id="19" name="TextBox 18"/>
          <p:cNvSpPr txBox="1"/>
          <p:nvPr/>
        </p:nvSpPr>
        <p:spPr>
          <a:xfrm>
            <a:off x="1444752" y="3840479"/>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7"/>
              </a:rPr>
              <a:t>B. Warner et al., “Smarter, Better, Faster, Longer: A Modern Bidirectional Encoder for Fast, Memory Efficient, and Long Context Finetuning and Inference,” arXiv:2412.13663, 2024.</a:t>
            </a:r>
          </a:p>
        </p:txBody>
      </p:sp>
      <p:sp>
        <p:nvSpPr>
          <p:cNvPr id="20" name="TextBox 19"/>
          <p:cNvSpPr txBox="1"/>
          <p:nvPr/>
        </p:nvSpPr>
        <p:spPr>
          <a:xfrm>
            <a:off x="932688" y="4498847"/>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[5]</a:t>
            </a:r>
          </a:p>
        </p:txBody>
      </p:sp>
      <p:sp>
        <p:nvSpPr>
          <p:cNvPr id="21" name="TextBox 20"/>
          <p:cNvSpPr txBox="1"/>
          <p:nvPr/>
        </p:nvSpPr>
        <p:spPr>
          <a:xfrm>
            <a:off x="1444752" y="4498847"/>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8"/>
              </a:rPr>
              <a:t>W. Wang et al., “MiniLM: Deep Self-Attention Distillation for Task-Agnostic Compression of Pre-Trained Transformers,” NeurIPS, 2020.</a:t>
            </a:r>
          </a:p>
        </p:txBody>
      </p:sp>
      <p:sp>
        <p:nvSpPr>
          <p:cNvPr id="22" name="TextBox 21"/>
          <p:cNvSpPr txBox="1"/>
          <p:nvPr/>
        </p:nvSpPr>
        <p:spPr>
          <a:xfrm>
            <a:off x="932688" y="5157215"/>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[6]</a:t>
            </a:r>
          </a:p>
        </p:txBody>
      </p:sp>
      <p:sp>
        <p:nvSpPr>
          <p:cNvPr id="23" name="TextBox 22"/>
          <p:cNvSpPr txBox="1"/>
          <p:nvPr/>
        </p:nvSpPr>
        <p:spPr>
          <a:xfrm>
            <a:off x="1444752" y="5157215"/>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9"/>
              </a:rPr>
              <a:t>Sentence Transformers, “all-MiniLM-L6-v2,” model card. Accessed Oct. 22, 2026.</a:t>
            </a:r>
          </a:p>
        </p:txBody>
      </p:sp>
      <p:sp>
        <p:nvSpPr>
          <p:cNvPr id="24" name="TextBox 23"/>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Click a reference to open the primary paper or official model card.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Footer Placeholder 8"/>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24</a:t>
            </a:r>
            <a:endParaRPr lang="en-US" sz="1600" dirty="0"/>
          </a:p>
        </p:txBody>
      </p:sp>
      <p:sp>
        <p:nvSpPr>
          <p:cNvPr id="11" name="TextBox 10"/>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IEEE-style bibliography · 2 / 2</a:t>
            </a:r>
          </a:p>
        </p:txBody>
      </p:sp>
      <p:sp>
        <p:nvSpPr>
          <p:cNvPr id="12" name="TextBox 11"/>
          <p:cNvSpPr txBox="1"/>
          <p:nvPr/>
        </p:nvSpPr>
        <p:spPr>
          <a:xfrm>
            <a:off x="932688" y="1865376"/>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[7]</a:t>
            </a:r>
          </a:p>
        </p:txBody>
      </p:sp>
      <p:sp>
        <p:nvSpPr>
          <p:cNvPr id="13" name="TextBox 12"/>
          <p:cNvSpPr txBox="1"/>
          <p:nvPr/>
        </p:nvSpPr>
        <p:spPr>
          <a:xfrm>
            <a:off x="1444752" y="1865376"/>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4"/>
              </a:rPr>
              <a:t>Y. Zhang et al., “Qwen3 Embedding: Advancing Text Embedding and Reranking Through Foundation Models,” arXiv:2506.05176, 2025.</a:t>
            </a:r>
          </a:p>
        </p:txBody>
      </p:sp>
      <p:sp>
        <p:nvSpPr>
          <p:cNvPr id="14" name="TextBox 13"/>
          <p:cNvSpPr txBox="1"/>
          <p:nvPr/>
        </p:nvSpPr>
        <p:spPr>
          <a:xfrm>
            <a:off x="932688" y="2633472"/>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[8]</a:t>
            </a:r>
          </a:p>
        </p:txBody>
      </p:sp>
      <p:sp>
        <p:nvSpPr>
          <p:cNvPr id="15" name="TextBox 14"/>
          <p:cNvSpPr txBox="1"/>
          <p:nvPr/>
        </p:nvSpPr>
        <p:spPr>
          <a:xfrm>
            <a:off x="1444752" y="2633472"/>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5"/>
              </a:rPr>
              <a:t>Qwen Team, “Qwen3.5-2B,” model card and model configuration. Accessed Oct. 22, 2026.</a:t>
            </a:r>
          </a:p>
        </p:txBody>
      </p:sp>
      <p:sp>
        <p:nvSpPr>
          <p:cNvPr id="16" name="TextBox 15"/>
          <p:cNvSpPr txBox="1"/>
          <p:nvPr/>
        </p:nvSpPr>
        <p:spPr>
          <a:xfrm>
            <a:off x="932688" y="3401568"/>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[9]</a:t>
            </a:r>
          </a:p>
        </p:txBody>
      </p:sp>
      <p:sp>
        <p:nvSpPr>
          <p:cNvPr id="17" name="TextBox 16"/>
          <p:cNvSpPr txBox="1"/>
          <p:nvPr/>
        </p:nvSpPr>
        <p:spPr>
          <a:xfrm>
            <a:off x="1444752" y="3401568"/>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6"/>
              </a:rPr>
              <a:t>E. J. Hu et al., “LoRA: Low-Rank Adaptation of Large Language Models,” ICLR, 2022.</a:t>
            </a:r>
          </a:p>
        </p:txBody>
      </p:sp>
      <p:sp>
        <p:nvSpPr>
          <p:cNvPr id="18" name="TextBox 17"/>
          <p:cNvSpPr txBox="1"/>
          <p:nvPr/>
        </p:nvSpPr>
        <p:spPr>
          <a:xfrm>
            <a:off x="932688" y="4169663"/>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[10]</a:t>
            </a:r>
          </a:p>
        </p:txBody>
      </p:sp>
      <p:sp>
        <p:nvSpPr>
          <p:cNvPr id="19" name="TextBox 18"/>
          <p:cNvSpPr txBox="1"/>
          <p:nvPr/>
        </p:nvSpPr>
        <p:spPr>
          <a:xfrm>
            <a:off x="1444752" y="4169663"/>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7"/>
              </a:rPr>
              <a:t>M. T. Ribeiro, S. Singh, and C. Guestrin, “Why Should I Trust You?: Explaining the Predictions of Any Classifier,” KDD, pp. 1135–1144, 2016.</a:t>
            </a:r>
          </a:p>
        </p:txBody>
      </p:sp>
      <p:sp>
        <p:nvSpPr>
          <p:cNvPr id="20" name="TextBox 19"/>
          <p:cNvSpPr txBox="1"/>
          <p:nvPr/>
        </p:nvSpPr>
        <p:spPr>
          <a:xfrm>
            <a:off x="932688" y="4937759"/>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[11]</a:t>
            </a:r>
          </a:p>
        </p:txBody>
      </p:sp>
      <p:sp>
        <p:nvSpPr>
          <p:cNvPr id="21" name="TextBox 20"/>
          <p:cNvSpPr txBox="1"/>
          <p:nvPr/>
        </p:nvSpPr>
        <p:spPr>
          <a:xfrm>
            <a:off x="1444752" y="4937759"/>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8"/>
              </a:rPr>
              <a:t>S. M. Lundberg and S.-I. Lee, “A Unified Approach to Interpreting Model Predictions,” NeurIPS, 2017.</a:t>
            </a:r>
          </a:p>
        </p:txBody>
      </p:sp>
      <p:sp>
        <p:nvSpPr>
          <p:cNvPr id="22" name="TextBox 2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Click a reference to open the primary paper or official model card.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2446</TotalTime>
  <Words>253</Words>
  <Application>Microsoft Macintosh PowerPoint</Application>
  <PresentationFormat>Widescreen</PresentationFormat>
  <Paragraphs>70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BTP Title (as agreed upon by the Guide)</vt:lpstr>
      <vt:lpstr>Introduction</vt:lpstr>
      <vt:lpstr>Literature Review</vt:lpstr>
      <vt:lpstr>Motivation (Optional)</vt:lpstr>
      <vt:lpstr>Problem Statement</vt:lpstr>
      <vt:lpstr>Architecture</vt:lpstr>
      <vt:lpstr>Experimental Results</vt:lpstr>
      <vt:lpstr>Demonstration</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StereoDetect — BTP Review</dc:title>
  <dc:creator>StereoDetect Project Team</dc:creator>
  <cp:lastModifiedBy>Jeena Thomas</cp:lastModifiedBy>
  <cp:revision>286</cp:revision>
  <dcterms:created xsi:type="dcterms:W3CDTF">2021-08-20T07:15:07Z</dcterms:created>
  <dcterms:modified xsi:type="dcterms:W3CDTF">2026-09-24T08:22:39Z</dcterms:modified>
  <dc:subject>Model comparison, task adaptation, structured prediction, and explanations</dc:subject>
  <cp:keywords>StereoDetect, ALBERT, ModernBERT-large, Qwen, MiniLM, LIME, SHAP</cp:keywords>
  <dc:description>Built locally from the supplied institutional template and recorded experiment outputs.</dc:description>
</cp:coreProperties>
</file>