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17" autoAdjust="0"/>
  </p:normalViewPr>
  <p:slideViewPr>
    <p:cSldViewPr snapToGrid="0">
      <p:cViewPr varScale="1">
        <p:scale>
          <a:sx n="96" d="100"/>
          <a:sy n="96" d="100"/>
        </p:scale>
        <p:origin x="170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Accuracy</c:v>
                </c:pt>
                <c:pt idx="1">
                  <c:v>Macro F1</c:v>
                </c:pt>
              </c:strCache>
            </c:strRef>
          </c:cat>
          <c:val>
            <c:numRef>
              <c:f>Sheet1!$B$2:$B$3</c:f>
              <c:numCache>
                <c:formatCode>General</c:formatCode>
                <c:ptCount val="2"/>
                <c:pt idx="0">
                  <c:v>23.187571921749136</c:v>
                </c:pt>
                <c:pt idx="1">
                  <c:v>14.21433638938894</c:v>
                </c:pt>
              </c:numCache>
            </c:numRef>
          </c:val>
        </c:ser>
        <c:ser>
          <c:idx val="1"/>
          <c:order val="1"/>
          <c:tx>
            <c:strRef>
              <c:f>Sheet1!$C$1</c:f>
              <c:strCache>
                <c:ptCount val="1"/>
                <c:pt idx="0">
                  <c:v>SFT</c:v>
                </c:pt>
              </c:strCache>
            </c:strRef>
          </c:tx>
          <c:spPr>
            <a:solidFill>
              <a:srgbClr val="76A98B"/>
            </a:solidFill>
            <a:ln>
              <a:noFill/>
            </a:ln>
          </c:spPr>
          <c:cat>
            <c:strRef>
              <c:f>Sheet1!$A$2:$A$3</c:f>
              <c:strCache>
                <c:ptCount val="2"/>
                <c:pt idx="0">
                  <c:v>Accuracy</c:v>
                </c:pt>
                <c:pt idx="1">
                  <c:v>Macro F1</c:v>
                </c:pt>
              </c:strCache>
            </c:strRef>
          </c:cat>
          <c:val>
            <c:numRef>
              <c:f>Sheet1!$C$2:$C$3</c:f>
              <c:numCache>
                <c:formatCode>General</c:formatCode>
                <c:ptCount val="2"/>
                <c:pt idx="0">
                  <c:v>93.84349827387803</c:v>
                </c:pt>
                <c:pt idx="1">
                  <c:v>93.89457497123352</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Label accuracy</c:v>
                </c:pt>
                <c:pt idx="1">
                  <c:v>Label macro F1</c:v>
                </c:pt>
              </c:strCache>
            </c:strRef>
          </c:cat>
          <c:val>
            <c:numRef>
              <c:f>Sheet1!$B$2:$B$3</c:f>
              <c:numCache>
                <c:formatCode>General</c:formatCode>
                <c:ptCount val="2"/>
                <c:pt idx="0">
                  <c:v>34.46490218642118</c:v>
                </c:pt>
                <c:pt idx="1">
                  <c:v>28.082187698611015</c:v>
                </c:pt>
              </c:numCache>
            </c:numRef>
          </c:val>
        </c:ser>
        <c:ser>
          <c:idx val="1"/>
          <c:order val="1"/>
          <c:tx>
            <c:strRef>
              <c:f>Sheet1!$C$1</c:f>
              <c:strCache>
                <c:ptCount val="1"/>
                <c:pt idx="0">
                  <c:v>SFT</c:v>
                </c:pt>
              </c:strCache>
            </c:strRef>
          </c:tx>
          <c:spPr>
            <a:solidFill>
              <a:srgbClr val="76A98B"/>
            </a:solidFill>
            <a:ln>
              <a:noFill/>
            </a:ln>
          </c:spPr>
          <c:cat>
            <c:strRef>
              <c:f>Sheet1!$A$2:$A$3</c:f>
              <c:strCache>
                <c:ptCount val="2"/>
                <c:pt idx="0">
                  <c:v>Label accuracy</c:v>
                </c:pt>
                <c:pt idx="1">
                  <c:v>Label macro F1</c:v>
                </c:pt>
              </c:strCache>
            </c:strRef>
          </c:cat>
          <c:val>
            <c:numRef>
              <c:f>Sheet1!$C$2:$C$3</c:f>
              <c:numCache>
                <c:formatCode>General</c:formatCode>
                <c:ptCount val="2"/>
                <c:pt idx="0">
                  <c:v>93.61334867663982</c:v>
                </c:pt>
                <c:pt idx="1">
                  <c:v>93.64342638738864</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Accuracy</c:v>
                </c:pt>
                <c:pt idx="1">
                  <c:v>Macro F1</c:v>
                </c:pt>
              </c:strCache>
            </c:strRef>
          </c:cat>
          <c:val>
            <c:numRef>
              <c:f>Sheet1!$B$2:$B$3</c:f>
              <c:numCache>
                <c:formatCode>General</c:formatCode>
                <c:ptCount val="2"/>
                <c:pt idx="0">
                  <c:v>33.54430379746836</c:v>
                </c:pt>
                <c:pt idx="1">
                  <c:v>27.62751272962536</c:v>
                </c:pt>
              </c:numCache>
            </c:numRef>
          </c:val>
        </c:ser>
        <c:ser>
          <c:idx val="1"/>
          <c:order val="1"/>
          <c:tx>
            <c:strRef>
              <c:f>Sheet1!$C$1</c:f>
              <c:strCache>
                <c:ptCount val="1"/>
                <c:pt idx="0">
                  <c:v>SFT</c:v>
                </c:pt>
              </c:strCache>
            </c:strRef>
          </c:tx>
          <c:spPr>
            <a:solidFill>
              <a:srgbClr val="76A98B"/>
            </a:solidFill>
            <a:ln>
              <a:noFill/>
            </a:ln>
          </c:spPr>
          <c:cat>
            <c:strRef>
              <c:f>Sheet1!$A$2:$A$3</c:f>
              <c:strCache>
                <c:ptCount val="2"/>
                <c:pt idx="0">
                  <c:v>Accuracy</c:v>
                </c:pt>
                <c:pt idx="1">
                  <c:v>Macro F1</c:v>
                </c:pt>
              </c:strCache>
            </c:strRef>
          </c:cat>
          <c:val>
            <c:numRef>
              <c:f>Sheet1!$C$2:$C$3</c:f>
              <c:numCache>
                <c:formatCode>General</c:formatCode>
                <c:ptCount val="2"/>
                <c:pt idx="0">
                  <c:v>95.512082853855</c:v>
                </c:pt>
                <c:pt idx="1">
                  <c:v>95.5501984393447</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FFFB8-1DD6-4435-808E-1D76E7AD0590}" type="datetimeFigureOut">
              <a:rPr lang="en-IN" smtClean="0"/>
              <a:t>24/09/26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A09-5F36-416A-89C0-E370DBF6CA5C}" type="slidenum">
              <a:rPr lang="en-IN" smtClean="0"/>
              <a:t>‹#›</a:t>
            </a:fld>
            <a:endParaRPr lang="en-IN"/>
          </a:p>
        </p:txBody>
      </p:sp>
    </p:spTree>
    <p:extLst>
      <p:ext uri="{BB962C8B-B14F-4D97-AF65-F5344CB8AC3E}">
        <p14:creationId xmlns:p14="http://schemas.microsoft.com/office/powerpoint/2010/main" val="1336730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title is a working title. The presenter will add the approved title, student names, roll numbers, and guide name. The supplied template logo and institution footer are retained.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StereoDetect as a benchmark-based project. The dataset and definitions are prior work; this project compares model families, task adaptation, structured output, and diagnostic explanations.</a:t>
            </a:r>
          </a:p>
          <a:p/>
          <a:p>
            <a:r>
              <a:t>Sources:</a:t>
            </a:r>
          </a:p>
          <a:p>
            <a:r>
              <a:t>https://aclanthology.org/2025.findings-emnlp.216/</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StereoDetect supplies the five-class task and benchmark definitions. HEARTS supplies a related ALBERT-based binary stereotype detection and explainability approach. Its task and dataset differ from this project; its published scores are not mixed into the local comparison.</a:t>
            </a:r>
          </a:p>
          <a:p/>
          <a:p>
            <a:r>
              <a:t>Sources:</a:t>
            </a:r>
          </a:p>
          <a:p>
            <a:r>
              <a:t>https://aclanthology.org/2025.findings-emnlp.216/</a:t>
            </a:r>
          </a:p>
          <a:p>
            <a:r>
              <a:t>https://aclanthology.org/2025.ijcnlp-long.1/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public model backbones. The exact classifier fitting details for the MiniLM and Qwen3-Embedding baseline runs are not present in the supplied code; their scores are reported from DL-Review-2.docx. Later diagrams mark those task heads as schematic.</a:t>
            </a:r>
          </a:p>
          <a:p/>
          <a:p>
            <a:r>
              <a:t>Sources:</a:t>
            </a:r>
          </a:p>
          <a:p>
            <a:r>
              <a:t>https://arxiv.org/abs/1909.11942</a:t>
            </a:r>
          </a:p>
          <a:p>
            <a:r>
              <a:t>https://arxiv.org/abs/2412.13663</a:t>
            </a:r>
          </a:p>
          <a:p>
            <a:r>
              <a:t>https://arxiv.org/abs/2002.10957</a:t>
            </a:r>
          </a:p>
          <a:p>
            <a:r>
              <a:t>https://huggingface.co/sentence-transformers/all-MiniLM-L6-v2</a:t>
            </a:r>
          </a:p>
          <a:p>
            <a:r>
              <a:t>https://arxiv.org/abs/2506.05176</a:t>
            </a:r>
          </a:p>
          <a:p>
            <a:r>
              <a:t>https://huggingface.co/Qwen/Qwen3.5-2B</a:t>
            </a:r>
          </a:p>
          <a:p>
            <a:r>
              <a:t>https://arxiv.org/abs/2106.09685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project questions, not as claims that no earlier work exists. Dataset-specific label meanings make task adaptation worth measuring. The richer-input label task and sentence-only JSON task must be interpreted separately.</a:t>
            </a:r>
          </a:p>
          <a:p/>
          <a:p>
            <a:r>
              <a:t>Sources:</a:t>
            </a:r>
          </a:p>
          <a:p>
            <a:r>
              <a:t>https://aclanthology.org/2025.findings-emnlp.216/</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independent task adapters: sentence-only numeric labels, metadata-conditioned numeric labels, and sentence-only category/target/label JSON. Each is compared to the base checkpoint under its own prompt. All report the same held-out 1,738 rows. Metadata-conditioned results should not be read as input-matched rankings against sentence-only models.</a:t>
            </a:r>
          </a:p>
          <a:p/>
          <a:p>
            <a:r>
              <a:t>Sources:</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split before model training. Validation selects checkpoints; held-out test evaluation reports task-specific scores. Explanations are produced for saved ALBERT and ModernBERT-large classifiers. Public-backbone baseline scores are retained from the review document.</a:t>
            </a:r>
          </a:p>
          <a:p/>
          <a:p>
            <a:r>
              <a:t>Sources:</a:t>
            </a:r>
          </a:p>
          <a:p>
            <a:r>
              <a:t>src/stereodetect/</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all-MiniLM-L6-v2 backbone uses six transformer layers, 384-dimensional hidden states, mean pooling, and normalized sentence embeddings. The dashed task stage is schematic: the supplied review records its five-class score, but does not include the downstream classifier implementation. Do not imply that a particular classifier or training recipe was verified.</a:t>
            </a:r>
          </a:p>
          <a:p/>
          <a:p>
            <a:r>
              <a:t>Sources:</a:t>
            </a:r>
          </a:p>
          <a:p>
            <a:r>
              <a:t>https://arxiv.org/abs/2002.10957</a:t>
            </a:r>
          </a:p>
          <a:p>
            <a:r>
              <a:t>https://huggingface.co/sentence-transformers/all-MiniLM-L6-v2</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Qwen3-Embedding-0.6B uses a dense Qwen3 decoder backbone with 28 layers. Its official model extracts a final-token representation and supports an embedding dimension up to 1,024. The supplied materials report a five-class baseline score but omit the downstream classifier details, so that stage is explicitly schematic.</a:t>
            </a:r>
          </a:p>
          <a:p/>
          <a:p>
            <a:r>
              <a:t>Sources:</a:t>
            </a:r>
          </a:p>
          <a:p>
            <a:r>
              <a:t>https://arxiv.org/abs/2506.05176</a:t>
            </a:r>
          </a:p>
          <a:p>
            <a:r>
              <a:t>https://huggingface.co/Qwen/Qwen3-Embedding-0.6B</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ALBERT factorizes token embeddings and shares parameters across repeated transformer layers. The local classifier consumes Sentence only, applies the ALBERT pooler to the classification token, and produces five label logits. Category and Target are metadata, not model inputs. This differs from the wording in one row of the supplied review document; the diagram follows the actual code and run configuration.</a:t>
            </a:r>
          </a:p>
          <a:p/>
          <a:p>
            <a:r>
              <a:t>Sources:</a:t>
            </a:r>
          </a:p>
          <a:p>
            <a:r>
              <a:t>https://arxiv.org/abs/1909.11942</a:t>
            </a:r>
          </a:p>
          <a:p>
            <a:r>
              <a:t>src/stereodetect/training/albert.py</a:t>
            </a:r>
          </a:p>
          <a:p>
            <a:r>
              <a:t>outputs/albert_stereodetect/model/config.json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architecture slide describes the saved large-model run; additional base-model experiments are reported in the appendix. The saved configuration has 28 encoder layers, hidden width 1,024, local attention width 128, and global attention every third layer. The classification pooler is mean pooling in the saved configuration; it is not a CLS-only head. RoPE and GeGLU are public backbone design features. The training settings shown are for the additional saved large-model run, rather than an inferred recipe for the earlier review score.</a:t>
            </a:r>
          </a:p>
          <a:p/>
          <a:p>
            <a:r>
              <a:t>Sources:</a:t>
            </a:r>
          </a:p>
          <a:p>
            <a:r>
              <a:t>https://arxiv.org/abs/2412.13663</a:t>
            </a:r>
          </a:p>
          <a:p>
            <a:r>
              <a:t>outputs/modernbert_large_lr3e5_warmup30_wd001_ep3_seed3407/model/config.json</a:t>
            </a:r>
          </a:p>
          <a:p>
            <a:r>
              <a:t>src/stereodetect/training/modernbert.py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uses only the language path of the conditional-generation model. The official 2B text configuration contains 24 layers arranged in six repetitions of three linear-attention layers followed by one full-attention layer. Gated DeltaNet is used for the linear-attention path. LoRA is trained separately for sentence-only labels, conditioned labels, and JSON; the three adapters are not interchangeable. Rank 16, alpha 32, dropout 0.05 are taken from the implementation. No vision input is used.</a:t>
            </a:r>
          </a:p>
          <a:p/>
          <a:p>
            <a:r>
              <a:t>Sources:</a:t>
            </a:r>
          </a:p>
          <a:p>
            <a:r>
              <a:t>https://huggingface.co/Qwen/Qwen3.5-2B</a:t>
            </a:r>
          </a:p>
          <a:p>
            <a:r>
              <a:t>https://huggingface.co/Qwen/Qwen3.5-2B/raw/main/config.json</a:t>
            </a:r>
          </a:p>
          <a:p>
            <a:r>
              <a:t>https://arxiv.org/abs/2106.09685</a:t>
            </a:r>
          </a:p>
          <a:p>
            <a:r>
              <a:t>src/stereodetect/models/qwen/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explainers treat each word occurrence as a feature and replace absent words with the tokenizer mask token. LIME uses 1,000 perturbations. Kernel SHAP uses an all-masked baseline and up to 512 coalitions with no L1 feature selection. Predictions are made on the same perturbed strings by the saved encoder classifier. Explanations concern class probabilities, not moral judgments about words or calibrated prediction confidence. The 100-example sample is deliberately diagnostic and not representative test statistics.</a:t>
            </a:r>
          </a:p>
          <a:p/>
          <a:p>
            <a:r>
              <a:t>Sources:</a:t>
            </a:r>
          </a:p>
          <a:p>
            <a:r>
              <a:t>https://aclanthology.org/2025.ijcnlp-long.1/</a:t>
            </a:r>
          </a:p>
          <a:p>
            <a:r>
              <a:t>https://arxiv.org/abs/1602.04938</a:t>
            </a:r>
          </a:p>
          <a:p>
            <a:r>
              <a:t>https://arxiv.org/abs/1705.07874</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Qwen LoRA uses two T4 GPUs, batch 16 per GPU, global batch 32, three epochs and 570 optimizer steps. It trains in FP32 with LoRA rank 16, alpha 32 and dropout 0.05. The matching base evaluation uses vLLM BF16 on H100 MIG 0. Prompt, test rows and five-label argmax scoring match, but numerical precision and runtime differ. Validation macro F1 selected epoch 3; test was evaluated once after loading that adapter. Other Qwen adapters retain effective batch 16.</a:t>
            </a:r>
          </a:p>
          <a:p/>
          <a:p>
            <a:r>
              <a:t>Sources:</a:t>
            </a:r>
          </a:p>
          <a:p>
            <a:r>
              <a:t>data/train.csv</a:t>
            </a:r>
          </a:p>
          <a:p>
            <a:r>
              <a:t>data/val.csv</a:t>
            </a:r>
          </a:p>
          <a:p>
            <a:r>
              <a:t>data/test.csv</a:t>
            </a:r>
          </a:p>
          <a:p>
            <a:r>
              <a:t>outputs/kaggle_qwen35_sentence_lora_1022-183119/results/artifacts/evaluation.json</a:t>
            </a:r>
          </a:p>
          <a:p>
            <a:r>
              <a:t>outputs/albert_stereodetect/run_config.json</a:t>
            </a:r>
          </a:p>
          <a:p>
            <a:r>
              <a:t>outputs/modernbert_large_lr3e5_warmup30_wd001_ep3_seed3407/run_config.json</a:t>
            </a:r>
          </a:p>
          <a:p>
            <a:r>
              <a:t>outputs/qwen35_2b_stereodetect_json/run_config.json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Qwen label result is 93.84% accuracy and 93.89% macro F1. The conditioned label adapter is a different experiment and receives gold category and target as input. Review-only baseline rows are preserved rather than replaced by later saved runs. Additional saved ModernBERT-base experiments and all full classification reports are included in the appendix. Precision/runtime differ across experiments, so this is descriptive rather than an engine-controlled model ranking.</a:t>
            </a:r>
          </a:p>
          <a:p/>
          <a:p>
            <a:r>
              <a:t>Sources:</a:t>
            </a:r>
          </a:p>
          <a:p>
            <a:r>
              <a:t>presentation/DL-Review-2.docx</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six canonical full-test evaluations: three tasks, each with base and task-specific supervised fine-tuning via LoRA. Base is the same pretrained checkpoint under three prompts. Each SFT task uses its own adapter. Task B predicts category, target and label jointly; the summary scores only its label field. C receives gold category and target as input. We select the standalone test evaluations for B and C, and the completed Kaggle test evaluation for A. Earlier training-time test passes are repeated evaluations, not extra models. All runs disable thinking and use the same 1,738 test rows. Numerical engines and precision differ.</a:t>
            </a:r>
          </a:p>
          <a:p/>
          <a:p>
            <a:r>
              <a:t>Sources:</a:t>
            </a:r>
          </a:p>
          <a:p>
            <a:r>
              <a:t>outputs/eval/qwen35_2b_base_sentence_labels_nothinking_20261022_195718/evaluation.json</a:t>
            </a:r>
          </a:p>
          <a:p>
            <a:r>
              <a:t>outputs/kaggle_qwen35_sentence_lora_1022-183119/results/artifacts/evaluation.json</a:t>
            </a:r>
          </a:p>
          <a:p>
            <a:r>
              <a:t>outputs/eval/qwen35_2b_base_nothinking_20261022_173617/json/evaluation.json</a:t>
            </a:r>
          </a:p>
          <a:p>
            <a:r>
              <a:t>outputs/eval/json_test/evaluation.json</a:t>
            </a:r>
          </a:p>
          <a:p>
            <a:r>
              <a:t>outputs/eval/qwen35_2b_base_nothinking_20261022_173617/labels/evaluation.json</a:t>
            </a:r>
          </a:p>
          <a:p>
            <a:r>
              <a:t>outputs/eval/adapter_test/evaluation.json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take only Sentence and select the largest logit among label tokens 0-4 with thinking disabled. Base has 403 correct, LoRA 1,631 correct out of 1,738. Accuracy rises from 23.19% to 93.84%, an observed gain of 70.66 percentage points. Macro F1 rises from 14.21% to 93.89%. Base uses vLLM BF16; the adapter uses PyTorch FP32, so this is not a precision/engine-controlled ablation.</a:t>
            </a:r>
          </a:p>
          <a:p/>
          <a:p>
            <a:r>
              <a:t>Sources:</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receive only Sentence and generate category, target and label JSON. This chart scores the label field only; it does not mean all fields are correct. Greedy generation and a 96-token cap are used in the saved task configuration. The base run has 599 correct labels, the adapter run 1,627. Both saved evaluations record zero invalid labels. The distinct complete-JSON result appears on the next slide.</a:t>
            </a:r>
          </a:p>
          <a:p/>
          <a:p>
            <a:r>
              <a:t>Sources:</a:t>
            </a:r>
          </a:p>
          <a:p>
            <a:r>
              <a:t>outputs/eval/qwen35_2b_base_nothinking_20261022_173617/json/evaluation.json</a:t>
            </a:r>
          </a:p>
          <a:p>
            <a:r>
              <a:t>outputs/eval/json_test/evaluation.json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saved completion is aligned with its source test row. Category is compared after trimming, case folding and collapsing whitespace. Target uses exact string comparison, including capitalization and underscores. Label must be an integer matching the gold label. Complete JSON accuracy requires all three fields to be correct for the same example. Both sets contain valid JSON objects for all 1,738 rows, so low base accuracy is semantic rather than just JSON formatting. The fine-tuned all-field count agrees with the existing field_validation.json. Base field metrics were computed from saved completions while preparing this deck; no model was rerun.</a:t>
            </a:r>
          </a:p>
          <a:p/>
          <a:p>
            <a:r>
              <a:t>Sources:</a:t>
            </a:r>
          </a:p>
          <a:p>
            <a:r>
              <a:t>outputs/eval/qwen35_2b_base_nothinking_20261022_173617/json/completions.jsonl</a:t>
            </a:r>
          </a:p>
          <a:p>
            <a:r>
              <a:t>outputs/eval/json_test/completions.jsonl</a:t>
            </a:r>
          </a:p>
          <a:p>
            <a:r>
              <a:t>outputs/eval/json_test/field_validation.json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supplements the exact-match field accuracy slide with full classification macro F1. Categories use five fixed normalized classes. Targets use the 87 exact gold target strings, preserving case and underscores. Predictions outside the gold class set are incorrect and appear in the companion reports; macro averages are over the explicit gold class set. The training-time and standalone JSON adapter evaluations have identical category and target prediction vectors and differ on one label. This table uses the standalone adapter evaluation.</a:t>
            </a:r>
          </a:p>
          <a:p/>
          <a:p>
            <a:r>
              <a:t>Sources:</a:t>
            </a:r>
          </a:p>
          <a:p>
            <a:r>
              <a:t>outputs/reports/classification_reports_20261022/report_manifest.json</a:t>
            </a:r>
          </a:p>
          <a:p>
            <a:r>
              <a:t>outputs/reports/classification_reports_20261022/all_label_only_classification_reports.txt</a:t>
            </a:r>
          </a:p>
          <a:p>
            <a:r>
              <a:t>outputs/reports/classification_reports_20261022/all_category_label_target_classification_reports.txt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use Category, Target and Sentence, and choose among the five numeric label-token logits. The base benchmark evaluates the Qwen/Qwen3.5-2B checkpoint without a task adapter; the fine-tuned run loads outputs/qwen35_2b_stereodetect/adapter. Accuracy gain is computed in percentage points, not relative percent. Engines differ (vLLM versus Transformers/PEFT), so this is an observed task-adaptation comparison rather than an isolated engine-controlled ablation.</a:t>
            </a:r>
          </a:p>
          <a:p/>
          <a:p>
            <a:r>
              <a:t>Sources:</a:t>
            </a:r>
          </a:p>
          <a:p>
            <a:r>
              <a:t>outputs/eval/qwen35_2b_base_nothinking_20261022_173617/labels/evaluation.json</a:t>
            </a:r>
          </a:p>
          <a:p>
            <a:r>
              <a:t>outputs/eval/adapter_test/evaluation.json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these three sentence-only experiments, classes 0 and 1 have lower F1 than the neutral and bias classes. For the new sentence-only Qwen LoRA, 46 anti-stereotypes become stereotypes and 36 stereotypes become anti-stereotypes: 82 of 107 errors. This is a confusion-matrix observation, not a linguistic causal explanation.</a:t>
            </a:r>
          </a:p>
          <a:p/>
          <a:p>
            <a:r>
              <a:t>Sources:</a:t>
            </a:r>
          </a:p>
          <a:p>
            <a:r>
              <a:t>outputs/kaggle_qwen35_sentence_lora_1022-183119/results/artifacts/evaluation.json</a:t>
            </a:r>
          </a:p>
          <a:p>
            <a:r>
              <a:t>outputs/eval/json_test/evaluation.json</a:t>
            </a:r>
          </a:p>
          <a:p>
            <a:r>
              <a:t>outputs/modernbert_large_lr3e5_warmup30_wd001_ep3_seed3407/evaluation.json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demonstration replays saved responses for test index 0 and is not a fresh model inference. Dataset annotation: Category Neutral, Target Neutral, Label 2. The base model instead targets dog and predicts class 3. The task adapter recovers the annotated neutral target and class 2. This is a single illustration rather than an estimate of overall accuracy.</a:t>
            </a:r>
          </a:p>
          <a:p/>
          <a:p>
            <a:r>
              <a:t>Sources:</a:t>
            </a:r>
          </a:p>
          <a:p>
            <a:r>
              <a:t>outputs/eval/qwen35_2b_base_nothinking_20261022_173617/json/completions.jsonl</a:t>
            </a:r>
          </a:p>
          <a:p>
            <a:r>
              <a:t>outputs/eval/json_test/completions.jsonl</a:t>
            </a:r>
          </a:p>
          <a:p>
            <a:r>
              <a:t>data/test.csv</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diagnostic test index 1713. Exact word occurrences and attribution arrays are reused; no new explanation inference was run. Gold label 1; model label 1. Both rows explain the predicted class 1. Blue denotes a negative contribution/weight for this class; orange denotes positive; near-white is close to zero. Both slides share a fixed symmetric scale -0.70 to +0.70. LIME surrogate weights and Kernel SHAP contributions are distinct quantities and not word probabilities. Attributions diagnose model sensitivity and do not certify correctness. Signed values are displayed to three decimals.</a:t>
            </a:r>
          </a:p>
          <a:p/>
          <a:p>
            <a:r>
              <a:t>Sources:</a:t>
            </a:r>
          </a:p>
          <a:p>
            <a:r>
              <a:t>outputs/modernbert_large_lr3e5_warmup30_wd001_ep3_seed3407/explanations/explanations.jsonl</a:t>
            </a:r>
          </a:p>
          <a:p>
            <a:r>
              <a:t>data/test.csv</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diagnostic test index 1205. Exact word occurrences and attribution arrays are reused; no new explanation inference was run. Gold label 4; model label 0. Both rows explain the predicted class 0. Blue denotes a negative contribution/weight for this class; orange denotes positive; near-white is close to zero. Both slides share a fixed symmetric scale -0.70 to +0.70. LIME surrogate weights and Kernel SHAP contributions are distinct quantities and not word probabilities. Attributions diagnose model sensitivity and do not certify correctness. Signed values are displayed to three decimals.</a:t>
            </a:r>
          </a:p>
          <a:p/>
          <a:p>
            <a:r>
              <a:t>Sources:</a:t>
            </a:r>
          </a:p>
          <a:p>
            <a:r>
              <a:t>outputs/modernbert_large_lr3e5_warmup30_wd001_ep3_seed3407/explanations/explanations.jsonl</a:t>
            </a:r>
          </a:p>
          <a:p>
            <a:r>
              <a:t>data/test.csv</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label experiment improves from 23.19% to 93.84% accuracy under matched prompt, split and label-token scoring, with differing precision/runtime. The metadata-conditioned label adapter reaches 95.51%; its richer inputs prevent a direct input-matched ranking. Sentence-only JSON label accuracy is 93.61%, category accuracy 99.37%, target exact match 98.16%, and all-three-fields accuracy 92.87%. The explanation examples use ModernBERT-large, not Qwen, and include a misclassification to show why attribution does not certify correctness. Future work is proposed, not performed.</a:t>
            </a:r>
          </a:p>
          <a:p/>
          <a:p>
            <a:r>
              <a:t>Sources:</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a:p>
            <a:r>
              <a:t>outputs/modernbert_large_lr3e5_warmup30_wd001_ep3_seed3407/explanations/explanations.jsonl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https://aclanthology.org/2025.findings-emnlp.216/</a:t>
            </a:r>
          </a:p>
          <a:p>
            <a:r>
              <a:t>https://aclanthology.org/2025.ijcnlp-long.1/</a:t>
            </a:r>
          </a:p>
          <a:p>
            <a:r>
              <a:t>https://arxiv.org/abs/1909.11942</a:t>
            </a:r>
          </a:p>
          <a:p>
            <a:r>
              <a:t>https://arxiv.org/abs/2412.13663</a:t>
            </a:r>
          </a:p>
          <a:p>
            <a:r>
              <a:t>https://arxiv.org/abs/2002.10957</a:t>
            </a:r>
          </a:p>
          <a:p>
            <a:r>
              <a:t>https://huggingface.co/sentence-transformers/all-MiniLM-L6-v2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https://arxiv.org/abs/2506.05176</a:t>
            </a:r>
          </a:p>
          <a:p>
            <a:r>
              <a:t>https://huggingface.co/Qwen/Qwen3.5-2B</a:t>
            </a:r>
          </a:p>
          <a:p>
            <a:r>
              <a:t>https://arxiv.org/abs/2106.09685</a:t>
            </a:r>
          </a:p>
          <a:p>
            <a:r>
              <a:t>https://arxiv.org/abs/1602.04938</a:t>
            </a:r>
          </a:p>
          <a:p>
            <a:r>
              <a:t>https://arxiv.org/abs/1705.07874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Qwen label-only evaluations are tasks A and C, each with Base and SFT. Four encoder runs are also retained. Task B generates JSON and appears in its own report pages. The earlier training-time pass of C uses the same SFT adapter and is preserved only in the companion TXT, not counted as another model. Every result uses all 1,738 test rows.</a:t>
            </a:r>
          </a:p>
          <a:p/>
          <a:p>
            <a:r>
              <a:t>Sources:</a:t>
            </a:r>
          </a:p>
          <a:p>
            <a:r>
              <a:t>outputs/reports/classification_reports_20261022/report_manifest.json</a:t>
            </a:r>
          </a:p>
          <a:p>
            <a:r>
              <a:t>outputs/reports/classification_reports_20261022/all_label_only_classification_reports.txt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outputs/eval/qwen35_2b_base_sentence_labels_nothinking_20261022_195718/predictions.csv</a:t>
            </a:r>
          </a:p>
          <a:p>
            <a:r>
              <a:t>outputs/kaggle_qwen35_sentence_lora_1022-183119/results/artifacts/test_predictions.csv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outputs/eval/qwen35_2b_base_nothinking_20261022_173617/labels/predictions.csv</a:t>
            </a:r>
          </a:p>
          <a:p>
            <a:r>
              <a:t>outputs/eval/adapter_test/predictions.csv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outputs/albert_stereodetect/test_predictions.csv</a:t>
            </a:r>
          </a:p>
          <a:p>
            <a:r>
              <a:t>outputs/modernbert_large_lr3e5_warmup30_wd001_ep3_seed3407/test_predictions.csv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outputs/modernbert_stereodetect/test_predictions.csv</a:t>
            </a:r>
          </a:p>
          <a:p>
            <a:r>
              <a:t>outputs/modernbert_stereodetect_lr5e5_cosine_ep3_seed3407/test_predictions.csv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outputs/eval/qwen35_2b_base_nothinking_20261022_173617/json/completions.jsonl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outputs/eval/qwen35_2b_base_nothinking_20261022_173617/json/completions.jsonl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accompanying text files contain all nine completed label-only test evaluations and three validation class reports; and three completed JSON test evaluations, three complete validation evaluations, plus six partial/incomplete diagnostic runs. The 410-row thinking run is unfinished and is not a full-test result. No new classifier or explanation model was run while revising this deck.</a:t>
            </a:r>
          </a:p>
          <a:p/>
          <a:p>
            <a:r>
              <a:t>Sources:</a:t>
            </a:r>
          </a:p>
          <a:p>
            <a:r>
              <a:t>outputs/reports/classification_reports_20261022/report_manifest.json</a:t>
            </a:r>
          </a:p>
          <a:p>
            <a:r>
              <a:t>outputs/reports/classification_reports_20261022/all_label_only_classification_reports.txt</a:t>
            </a:r>
          </a:p>
          <a:p>
            <a:r>
              <a:t>outputs/reports/classification_reports_20261022/all_category_label_target_classification_reports.txt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B47E-7FD2-4F7F-9381-C4308D2587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12F421-AC29-47BD-8892-41909CF19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9CFB46-51B2-43F8-B3E5-F10413A22C4E}"/>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1E93CC8D-DF4F-4537-888A-8EE6EA88B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83F124-D10F-42EF-94F2-7FBC9565EAF7}"/>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89703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FAF84-1226-4033-A36F-9CBF8F50CB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402083-37E7-4972-9BD5-DD44F1A3C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2F544-050C-4AB9-9095-D9D49AAD20A4}"/>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39DA83C4-112A-4972-9490-E0C0BFDA0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97559D-8902-4FE2-8DC9-183BD5B086A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10023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EF2A-5C6B-4555-B136-8C1C3CF3E7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A2A057-50B5-4DD0-8F0A-F2D8D5D2B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4B264-D1AA-42A0-AFED-4F6CAB8BF12D}"/>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0207B74F-FC03-4A6C-A8E2-A0A538917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910F8-597D-4792-BAC8-A78F4A425F79}"/>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76780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0B0B-FB76-4571-8977-8B3C08C5D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F7BF79-B272-4FC4-9106-632C8D23CA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8AF5FA-67E8-4EBE-A468-53B751D6C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7AA619-C884-49E4-BAB7-9893F9220280}"/>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075F6F1-CD3D-4683-B56A-CA4563B56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C63B8C-7D18-4E19-8978-D5C6EBA98754}"/>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47260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7B01-8C23-4336-B1C3-FF72D68AAD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B695C1-E1E9-4A98-937E-ED1C020AD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75512-181D-4D77-8CAF-A5144E14B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35E4DC-DF2F-4F4A-8F3F-9A0A93E622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C58E7-FA62-4552-96A3-2A99033860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98AE32-9603-437D-8BF7-0E77546FC8D6}"/>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8" name="Footer Placeholder 7">
            <a:extLst>
              <a:ext uri="{FF2B5EF4-FFF2-40B4-BE49-F238E27FC236}">
                <a16:creationId xmlns:a16="http://schemas.microsoft.com/office/drawing/2014/main" id="{A701969E-3CD1-4F9E-A7E7-B9B4EF8A0C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97F010-A6F0-4DF8-A842-5E31FC018D46}"/>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3196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E5A20-2A9F-4D6C-943E-3346E4B88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66C692-C827-4E55-AFA5-76012CD1DAF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4" name="Footer Placeholder 3">
            <a:extLst>
              <a:ext uri="{FF2B5EF4-FFF2-40B4-BE49-F238E27FC236}">
                <a16:creationId xmlns:a16="http://schemas.microsoft.com/office/drawing/2014/main" id="{C49F3284-9696-48B8-984D-EF44AFF57A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3B2182-6056-4315-85AF-6B170A3BD3F2}"/>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117189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3127D1-DB28-4E2E-AB99-81CE7B31D5D9}"/>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3" name="Footer Placeholder 2">
            <a:extLst>
              <a:ext uri="{FF2B5EF4-FFF2-40B4-BE49-F238E27FC236}">
                <a16:creationId xmlns:a16="http://schemas.microsoft.com/office/drawing/2014/main" id="{B6D74E91-7F9D-445A-9D5A-D936D47F61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F7EE57-433A-40AE-9D93-D33BBB3E714A}"/>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41196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5A1A1-4F5E-44F9-B94A-C250BE555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0D6C8D-A700-4FCE-B56C-3A9ABC2F10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410EC8-7B17-4C9B-9964-44916E021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20A7F-94E3-4E5B-BFA0-48322E2FCDB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7E378A7-2C2A-4383-8653-F4DA31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88D93A-9480-4E63-8798-CD24AF0A91EF}"/>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67144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6621-ECC8-4152-9057-81E2FDAEC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3B2BEA-9AD4-4A0C-A422-54C36BB84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126CA7-371A-43DB-8F97-FAC204E22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BBC57-3C07-4506-B4A1-832FDC2AC2BA}"/>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751FE5C9-2CC7-4F1D-BC56-0A551A41B6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8682B3-FAFE-491A-8C8A-4FCDBD771F2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9618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54D76-6DBE-44B7-BA10-CABAE4DC19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D751C6-4C65-4D0C-803C-D873E7572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3335A-CD1D-48A4-BBF1-DFE274F90F02}"/>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2ED7192-B6E0-4D23-B0F4-2ED81C241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35068-BFD5-4BFC-983A-200964FB6DC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67948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84AD-9F49-48BE-9C47-E797DEF603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D3D05-FE87-4F0F-8AD2-D3A0256B3B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D02F6-DF5D-4A18-81E3-7798A49C0063}"/>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AB3DD7E-1A38-4F0A-8410-AFE04DC7F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FA0932-B146-44C0-800B-F7D153BAA7DD}"/>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0325851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5D76-3F76-4440-BE44-E11DC8D09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57BFB-E7FD-43C8-A3D2-454449D5C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78B87-4569-4FAE-AC1E-60B780FF4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D429C498-524F-43DB-8E60-5093D891D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CA8424-BFE9-4B1D-B213-4F570AB349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702D1-3802-43A1-9CC1-AD6315A316D9}" type="slidenum">
              <a:rPr lang="en-IN" smtClean="0"/>
              <a:t>‹#›</a:t>
            </a:fld>
            <a:endParaRPr lang="en-IN"/>
          </a:p>
        </p:txBody>
      </p:sp>
    </p:spTree>
    <p:extLst>
      <p:ext uri="{BB962C8B-B14F-4D97-AF65-F5344CB8AC3E}">
        <p14:creationId xmlns:p14="http://schemas.microsoft.com/office/powerpoint/2010/main" val="7405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7.xml"/><Relationship Id="rId4" Type="http://schemas.openxmlformats.org/officeDocument/2006/relationships/chart" Target="../charts/char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8.xml"/><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1.xml"/><Relationship Id="rId4" Type="http://schemas.openxmlformats.org/officeDocument/2006/relationships/chart" Target="../charts/char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7.xml"/><Relationship Id="rId4" Type="http://schemas.openxmlformats.org/officeDocument/2006/relationships/hyperlink" Target="https://aclanthology.org/2025.findings-emnlp.216/" TargetMode="External"/><Relationship Id="rId5" Type="http://schemas.openxmlformats.org/officeDocument/2006/relationships/hyperlink" Target="https://aclanthology.org/2025.ijcnlp-long.1/" TargetMode="External"/><Relationship Id="rId6" Type="http://schemas.openxmlformats.org/officeDocument/2006/relationships/hyperlink" Target="https://arxiv.org/abs/1909.11942" TargetMode="External"/><Relationship Id="rId7" Type="http://schemas.openxmlformats.org/officeDocument/2006/relationships/hyperlink" Target="https://arxiv.org/abs/2412.13663" TargetMode="External"/><Relationship Id="rId8" Type="http://schemas.openxmlformats.org/officeDocument/2006/relationships/hyperlink" Target="https://arxiv.org/abs/2002.10957" TargetMode="External"/><Relationship Id="rId9" Type="http://schemas.openxmlformats.org/officeDocument/2006/relationships/hyperlink" Target="https://huggingface.co/sentence-transformers/all-MiniLM-L6-v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8.xml"/><Relationship Id="rId4" Type="http://schemas.openxmlformats.org/officeDocument/2006/relationships/hyperlink" Target="https://arxiv.org/abs/2506.05176" TargetMode="External"/><Relationship Id="rId5" Type="http://schemas.openxmlformats.org/officeDocument/2006/relationships/hyperlink" Target="https://huggingface.co/Qwen/Qwen3.5-2B" TargetMode="External"/><Relationship Id="rId6" Type="http://schemas.openxmlformats.org/officeDocument/2006/relationships/hyperlink" Target="https://arxiv.org/abs/2106.09685" TargetMode="External"/><Relationship Id="rId7" Type="http://schemas.openxmlformats.org/officeDocument/2006/relationships/hyperlink" Target="https://arxiv.org/abs/1602.04938" TargetMode="External"/><Relationship Id="rId8" Type="http://schemas.openxmlformats.org/officeDocument/2006/relationships/hyperlink" Target="https://arxiv.org/abs/1705.07874"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2.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t0"/>
          <p:cNvSpPr>
            <a:spLocks noGrp="1"/>
          </p:cNvSpPr>
          <p:nvPr>
            <p:ph type="ctrTitle"/>
          </p:nvPr>
        </p:nvSpPr>
        <p:spPr/>
        <p:txBody>
          <a:bodyPr/>
          <a:lstStyle/>
          <a:p>
            <a:pPr>
              <a:defRPr sz="3600">
                <a:latin typeface="Calibri"/>
              </a:defRPr>
            </a:pPr>
            <a:r>
              <a:t>StereoDetect</a:t>
            </a:r>
            <a:br/>
            <a:r>
              <a:t>Explainable Stereotype Detection</a:t>
            </a:r>
          </a:p>
        </p:txBody>
      </p:sp>
      <p:sp>
        <p:nvSpPr>
          <p:cNvPr id="3" name="clara-claim:s1-t1"/>
          <p:cNvSpPr>
            <a:spLocks noGrp="1"/>
          </p:cNvSpPr>
          <p:nvPr>
            <p:ph type="subTitle" idx="1"/>
          </p:nvPr>
        </p:nvSpPr>
        <p:spPr/>
        <p:txBody>
          <a:bodyPr/>
          <a:lstStyle/>
          <a:p>
            <a:pPr>
              <a:defRPr sz="2400">
                <a:latin typeface="Calibri"/>
              </a:defRPr>
            </a:pPr>
            <a:r>
              <a:t>BY</a:t>
            </a:r>
            <a:br/>
            <a:r>
              <a:t>[Student names and roll numbers]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23813"/>
            <a:ext cx="1751379" cy="815788"/>
          </a:xfrm>
          <a:prstGeom prst="rect">
            <a:avLst/>
          </a:prstGeom>
        </p:spPr>
      </p:pic>
      <p:sp>
        <p:nvSpPr>
          <p:cNvPr id="7" name="clara-claim:s1-t3"/>
          <p:cNvSpPr>
            <a:spLocks noGrp="1"/>
          </p:cNvSpPr>
          <p:nvPr>
            <p:ph type="ftr" sz="quarter" idx="11"/>
          </p:nvPr>
        </p:nvSpPr>
        <p:spPr/>
        <p:txBody>
          <a:bodyPr/>
          <a:lstStyle/>
          <a:p>
            <a:r>
              <a:rPr lang="en-US"/>
              <a:t>Indian Institute of Information Technology Kottayam</a:t>
            </a:r>
          </a:p>
        </p:txBody>
      </p:sp>
      <p:sp>
        <p:nvSpPr>
          <p:cNvPr id="6" name="clara-claim:s1-t4"/>
          <p:cNvSpPr txBox="1">
            <a:spLocks/>
          </p:cNvSpPr>
          <p:nvPr/>
        </p:nvSpPr>
        <p:spPr>
          <a:xfrm>
            <a:off x="7865175" y="5443347"/>
            <a:ext cx="3474492" cy="1029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sz="2200">
                <a:latin typeface="Calibri"/>
              </a:defRPr>
            </a:pPr>
            <a:r>
              <a:t>Guided By,</a:t>
            </a:r>
            <a:br/>
            <a:r>
              <a:t>[Guide name]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t0"/>
          <p:cNvSpPr>
            <a:spLocks noGrp="1"/>
          </p:cNvSpPr>
          <p:nvPr>
            <p:ph type="title"/>
          </p:nvPr>
        </p:nvSpPr>
        <p:spPr/>
        <p:txBody>
          <a:bodyPr/>
          <a:lstStyle/>
          <a:p>
            <a:r>
              <a:t>Introduction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a:t>
            </a:r>
            <a:endParaRPr lang="en-US" sz="1600" dirty="0"/>
          </a:p>
        </p:txBody>
      </p:sp>
      <p:sp>
        <p:nvSpPr>
          <p:cNvPr id="11" name="clara-claim:s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Five labels capture different forms of group-related language</a:t>
            </a:r>
          </a:p>
        </p:txBody>
      </p:sp>
      <p:sp>
        <p:nvSpPr>
          <p:cNvPr id="12" name="Rounded Rectangle 11"/>
          <p:cNvSpPr/>
          <p:nvPr/>
        </p:nvSpPr>
        <p:spPr>
          <a:xfrm>
            <a:off x="932688" y="1901952"/>
            <a:ext cx="4992624" cy="170078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t6"/>
          <p:cNvSpPr txBox="1"/>
          <p:nvPr/>
        </p:nvSpPr>
        <p:spPr>
          <a:xfrm>
            <a:off x="1115568" y="204825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Why this task matters</a:t>
            </a:r>
          </a:p>
        </p:txBody>
      </p:sp>
      <p:sp>
        <p:nvSpPr>
          <p:cNvPr id="14" name="clara-claim:s2-t7"/>
          <p:cNvSpPr txBox="1"/>
          <p:nvPr/>
        </p:nvSpPr>
        <p:spPr>
          <a:xfrm>
            <a:off x="1115568" y="2624328"/>
            <a:ext cx="4626864"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Group references and generalizations require context-sensitive classification.</a:t>
            </a:r>
          </a:p>
        </p:txBody>
      </p:sp>
      <p:sp>
        <p:nvSpPr>
          <p:cNvPr id="15" name="Rounded Rectangle 14"/>
          <p:cNvSpPr/>
          <p:nvPr/>
        </p:nvSpPr>
        <p:spPr>
          <a:xfrm>
            <a:off x="6144768" y="1901952"/>
            <a:ext cx="5093208" cy="170078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2-t9"/>
          <p:cNvSpPr txBox="1"/>
          <p:nvPr/>
        </p:nvSpPr>
        <p:spPr>
          <a:xfrm>
            <a:off x="6327648" y="204825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Project focus</a:t>
            </a:r>
          </a:p>
        </p:txBody>
      </p:sp>
      <p:sp>
        <p:nvSpPr>
          <p:cNvPr id="17" name="clara-claim:s2-t10"/>
          <p:cNvSpPr txBox="1"/>
          <p:nvPr/>
        </p:nvSpPr>
        <p:spPr>
          <a:xfrm>
            <a:off x="6327648" y="2624328"/>
            <a:ext cx="4727448"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Compare model predictions and inspect the words influencing their decisions.</a:t>
            </a:r>
          </a:p>
        </p:txBody>
      </p:sp>
      <p:sp>
        <p:nvSpPr>
          <p:cNvPr id="18" name="Rounded Rectangle 17"/>
          <p:cNvSpPr/>
          <p:nvPr/>
        </p:nvSpPr>
        <p:spPr>
          <a:xfrm>
            <a:off x="941832" y="3950208"/>
            <a:ext cx="1825142" cy="130759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2-t12"/>
          <p:cNvSpPr txBox="1"/>
          <p:nvPr/>
        </p:nvSpPr>
        <p:spPr>
          <a:xfrm>
            <a:off x="10149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0</a:t>
            </a:r>
          </a:p>
          <a:p>
            <a:pPr algn="ctr">
              <a:spcBef>
                <a:spcPts val="0"/>
              </a:spcBef>
              <a:spcAft>
                <a:spcPts val="500"/>
              </a:spcAft>
              <a:defRPr sz="1800" b="1">
                <a:solidFill>
                  <a:srgbClr val="263343"/>
                </a:solidFill>
                <a:latin typeface="Calibri"/>
              </a:defRPr>
            </a:pPr>
            <a:r>
              <a:t>Anti-stereotype</a:t>
            </a:r>
          </a:p>
        </p:txBody>
      </p:sp>
      <p:sp>
        <p:nvSpPr>
          <p:cNvPr id="20" name="Rounded Rectangle 19"/>
          <p:cNvSpPr/>
          <p:nvPr/>
        </p:nvSpPr>
        <p:spPr>
          <a:xfrm>
            <a:off x="3059582" y="3950208"/>
            <a:ext cx="1825142" cy="1307592"/>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2-t14"/>
          <p:cNvSpPr txBox="1"/>
          <p:nvPr/>
        </p:nvSpPr>
        <p:spPr>
          <a:xfrm>
            <a:off x="313273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1</a:t>
            </a:r>
          </a:p>
          <a:p>
            <a:pPr algn="ctr">
              <a:spcBef>
                <a:spcPts val="0"/>
              </a:spcBef>
              <a:spcAft>
                <a:spcPts val="500"/>
              </a:spcAft>
              <a:defRPr sz="1800" b="1">
                <a:solidFill>
                  <a:srgbClr val="263343"/>
                </a:solidFill>
                <a:latin typeface="Calibri"/>
              </a:defRPr>
            </a:pPr>
            <a:r>
              <a:t>Stereotype</a:t>
            </a:r>
          </a:p>
        </p:txBody>
      </p:sp>
      <p:sp>
        <p:nvSpPr>
          <p:cNvPr id="22" name="Rounded Rectangle 21"/>
          <p:cNvSpPr/>
          <p:nvPr/>
        </p:nvSpPr>
        <p:spPr>
          <a:xfrm>
            <a:off x="5177332" y="3950208"/>
            <a:ext cx="1825142" cy="130759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t16"/>
          <p:cNvSpPr txBox="1"/>
          <p:nvPr/>
        </p:nvSpPr>
        <p:spPr>
          <a:xfrm>
            <a:off x="52504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2</a:t>
            </a:r>
          </a:p>
          <a:p>
            <a:pPr algn="ctr">
              <a:spcBef>
                <a:spcPts val="0"/>
              </a:spcBef>
              <a:spcAft>
                <a:spcPts val="500"/>
              </a:spcAft>
              <a:defRPr sz="1800" b="1">
                <a:solidFill>
                  <a:srgbClr val="263343"/>
                </a:solidFill>
                <a:latin typeface="Calibri"/>
              </a:defRPr>
            </a:pPr>
            <a:r>
              <a:t>Neutral without</a:t>
            </a:r>
          </a:p>
          <a:p>
            <a:pPr algn="ctr">
              <a:spcBef>
                <a:spcPts val="0"/>
              </a:spcBef>
              <a:spcAft>
                <a:spcPts val="500"/>
              </a:spcAft>
              <a:defRPr sz="1800" b="1">
                <a:solidFill>
                  <a:srgbClr val="263343"/>
                </a:solidFill>
                <a:latin typeface="Calibri"/>
              </a:defRPr>
            </a:pPr>
            <a:r>
              <a:t>target term</a:t>
            </a:r>
          </a:p>
        </p:txBody>
      </p:sp>
      <p:sp>
        <p:nvSpPr>
          <p:cNvPr id="24" name="Rounded Rectangle 23"/>
          <p:cNvSpPr/>
          <p:nvPr/>
        </p:nvSpPr>
        <p:spPr>
          <a:xfrm>
            <a:off x="7295083" y="3950208"/>
            <a:ext cx="1825142" cy="1307592"/>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lara-claim:s2-t18"/>
          <p:cNvSpPr txBox="1"/>
          <p:nvPr/>
        </p:nvSpPr>
        <p:spPr>
          <a:xfrm>
            <a:off x="736823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3</a:t>
            </a:r>
          </a:p>
          <a:p>
            <a:pPr algn="ctr">
              <a:spcBef>
                <a:spcPts val="0"/>
              </a:spcBef>
              <a:spcAft>
                <a:spcPts val="500"/>
              </a:spcAft>
              <a:defRPr sz="1800" b="1">
                <a:solidFill>
                  <a:srgbClr val="263343"/>
                </a:solidFill>
                <a:latin typeface="Calibri"/>
              </a:defRPr>
            </a:pPr>
            <a:r>
              <a:t>Neutral with</a:t>
            </a:r>
          </a:p>
          <a:p>
            <a:pPr algn="ctr">
              <a:spcBef>
                <a:spcPts val="0"/>
              </a:spcBef>
              <a:spcAft>
                <a:spcPts val="500"/>
              </a:spcAft>
              <a:defRPr sz="1800" b="1">
                <a:solidFill>
                  <a:srgbClr val="263343"/>
                </a:solidFill>
                <a:latin typeface="Calibri"/>
              </a:defRPr>
            </a:pPr>
            <a:r>
              <a:t>target term</a:t>
            </a:r>
          </a:p>
        </p:txBody>
      </p:sp>
      <p:sp>
        <p:nvSpPr>
          <p:cNvPr id="26" name="Rounded Rectangle 25"/>
          <p:cNvSpPr/>
          <p:nvPr/>
        </p:nvSpPr>
        <p:spPr>
          <a:xfrm>
            <a:off x="9412833" y="3950208"/>
            <a:ext cx="1825142" cy="1307592"/>
          </a:xfrm>
          <a:prstGeom prst="roundRect">
            <a:avLst>
              <a:gd name="adj" fmla="val 7000"/>
            </a:avLst>
          </a:prstGeom>
          <a:solidFill>
            <a:srgbClr val="F8EFEF"/>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2-t20"/>
          <p:cNvSpPr txBox="1"/>
          <p:nvPr/>
        </p:nvSpPr>
        <p:spPr>
          <a:xfrm>
            <a:off x="948598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4</a:t>
            </a:r>
          </a:p>
          <a:p>
            <a:pPr algn="ctr">
              <a:spcBef>
                <a:spcPts val="0"/>
              </a:spcBef>
              <a:spcAft>
                <a:spcPts val="500"/>
              </a:spcAft>
              <a:defRPr sz="1800" b="1">
                <a:solidFill>
                  <a:srgbClr val="263343"/>
                </a:solidFill>
                <a:latin typeface="Calibri"/>
              </a:defRPr>
            </a:pPr>
            <a:r>
              <a:t>Bias</a:t>
            </a:r>
          </a:p>
        </p:txBody>
      </p:sp>
      <p:sp>
        <p:nvSpPr>
          <p:cNvPr id="28" name="clara-claim:s2-t2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Dataset definitions: StereoDetect [1]. Labels match the supplied CSV annotations.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t0"/>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a:t>
            </a:r>
            <a:endParaRPr lang="en-US" sz="1600" dirty="0"/>
          </a:p>
        </p:txBody>
      </p:sp>
      <p:sp>
        <p:nvSpPr>
          <p:cNvPr id="11" name="clara-claim:s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foundations and explainable stereotype detection</a:t>
            </a:r>
          </a:p>
        </p:txBody>
      </p:sp>
      <p:sp>
        <p:nvSpPr>
          <p:cNvPr id="12" name="Rounded Rectangle 11"/>
          <p:cNvSpPr/>
          <p:nvPr/>
        </p:nvSpPr>
        <p:spPr>
          <a:xfrm>
            <a:off x="932688" y="1938528"/>
            <a:ext cx="4992624" cy="3145536"/>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3-t6"/>
          <p:cNvSpPr txBox="1"/>
          <p:nvPr/>
        </p:nvSpPr>
        <p:spPr>
          <a:xfrm>
            <a:off x="1115568" y="208483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StereoDetect · Shejole &amp; Bhattacharyya</a:t>
            </a:r>
          </a:p>
        </p:txBody>
      </p:sp>
      <p:sp>
        <p:nvSpPr>
          <p:cNvPr id="14" name="clara-claim:s3-t7"/>
          <p:cNvSpPr txBox="1"/>
          <p:nvPr/>
        </p:nvSpPr>
        <p:spPr>
          <a:xfrm>
            <a:off x="1115568" y="2660904"/>
            <a:ext cx="4626864"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Definition-aligned benchmark for stereotypes, anti-stereotypes, neutrality, and bias.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Provides the five-class labels used in this project. [1]</a:t>
            </a:r>
          </a:p>
        </p:txBody>
      </p:sp>
      <p:sp>
        <p:nvSpPr>
          <p:cNvPr id="15" name="Rounded Rectangle 14"/>
          <p:cNvSpPr/>
          <p:nvPr/>
        </p:nvSpPr>
        <p:spPr>
          <a:xfrm>
            <a:off x="6144768" y="1938528"/>
            <a:ext cx="5093208" cy="3145536"/>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3-t9"/>
          <p:cNvSpPr txBox="1"/>
          <p:nvPr/>
        </p:nvSpPr>
        <p:spPr>
          <a:xfrm>
            <a:off x="6327648" y="208483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HEARTS · King et al.</a:t>
            </a:r>
          </a:p>
        </p:txBody>
      </p:sp>
      <p:sp>
        <p:nvSpPr>
          <p:cNvPr id="17" name="clara-claim:s3-t10"/>
          <p:cNvSpPr txBox="1"/>
          <p:nvPr/>
        </p:nvSpPr>
        <p:spPr>
          <a:xfrm>
            <a:off x="6327648" y="2660904"/>
            <a:ext cx="4727448"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Combines ALBERT-based stereotype detection with LIME/SHAP explanations.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Motivates diagnostic word attribution for our five-class setting. [2]</a:t>
            </a:r>
          </a:p>
        </p:txBody>
      </p:sp>
      <p:sp>
        <p:nvSpPr>
          <p:cNvPr id="18" name="clara-claim:s3-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The HEARTS binary task and StereoDetect five-class task use different evaluation settings.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t0"/>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a:t>
            </a:r>
            <a:endParaRPr lang="en-US" sz="1600" dirty="0"/>
          </a:p>
        </p:txBody>
      </p:sp>
      <p:sp>
        <p:nvSpPr>
          <p:cNvPr id="11" name="clara-claim:s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families used in the comparison</a:t>
            </a:r>
          </a:p>
        </p:txBody>
      </p:sp>
      <p:graphicFrame>
        <p:nvGraphicFramePr>
          <p:cNvPr id="12" name="Table 11"/>
          <p:cNvGraphicFramePr>
            <a:graphicFrameLocks noGrp="1"/>
          </p:cNvGraphicFramePr>
          <p:nvPr/>
        </p:nvGraphicFramePr>
        <p:xfrm>
          <a:off x="932688" y="1938528"/>
          <a:ext cx="10287000" cy="3401568"/>
        </p:xfrm>
        <a:graphic>
          <a:graphicData uri="http://schemas.openxmlformats.org/drawingml/2006/table">
            <a:tbl>
              <a:tblPr firstRow="1" bandRow="1">
                <a:tableStyleId>{5C22544A-7EE6-4342-B048-85BDC9FD1C3A}</a:tableStyleId>
              </a:tblPr>
              <a:tblGrid>
                <a:gridCol w="2880360"/>
                <a:gridCol w="3886200"/>
                <a:gridCol w="3520440"/>
              </a:tblGrid>
              <a:tr h="566928">
                <a:tc>
                  <a:txBody>
                    <a:bodyPr/>
                    <a:lstStyle/>
                    <a:p>
                      <a:pPr algn="l">
                        <a:defRPr sz="1800" b="1">
                          <a:solidFill>
                            <a:srgbClr val="25354A"/>
                          </a:solidFill>
                          <a:latin typeface="Calibri"/>
                        </a:defRPr>
                      </a:pPr>
                      <a:r>
                        <a:t>Model family</a:t>
                      </a:r>
                    </a:p>
                  </a:txBody>
                  <a:tcPr marL="109728" marR="109728" marT="64008" marB="64008" anchor="ctr">
                    <a:solidFill>
                      <a:srgbClr val="EEF3FB"/>
                    </a:solidFill>
                  </a:tcPr>
                </a:tc>
                <a:tc>
                  <a:txBody>
                    <a:bodyPr/>
                    <a:lstStyle/>
                    <a:p>
                      <a:pPr algn="ctr">
                        <a:defRPr sz="1800" b="1">
                          <a:solidFill>
                            <a:srgbClr val="25354A"/>
                          </a:solidFill>
                          <a:latin typeface="Calibri"/>
                        </a:defRPr>
                      </a:pPr>
                      <a:r>
                        <a:t>Core idea</a:t>
                      </a:r>
                    </a:p>
                  </a:txBody>
                  <a:tcPr marL="109728" marR="109728" marT="64008" marB="64008" anchor="ctr">
                    <a:solidFill>
                      <a:srgbClr val="EEF3FB"/>
                    </a:solidFill>
                  </a:tcPr>
                </a:tc>
                <a:tc>
                  <a:txBody>
                    <a:bodyPr/>
                    <a:lstStyle/>
                    <a:p>
                      <a:pPr algn="ctr">
                        <a:defRPr sz="1800" b="1">
                          <a:solidFill>
                            <a:srgbClr val="25354A"/>
                          </a:solidFill>
                          <a:latin typeface="Calibri"/>
                        </a:defRPr>
                      </a:pPr>
                      <a:r>
                        <a:t>Role in this project</a:t>
                      </a:r>
                    </a:p>
                  </a:txBody>
                  <a:tcPr marL="109728" marR="109728" marT="64008" marB="64008" anchor="ctr">
                    <a:solidFill>
                      <a:srgbClr val="EEF3FB"/>
                    </a:solidFill>
                  </a:tcPr>
                </a:tc>
              </a:tr>
              <a:tr h="566928">
                <a:tc>
                  <a:txBody>
                    <a:bodyPr/>
                    <a:lstStyle/>
                    <a:p>
                      <a:pPr algn="l">
                        <a:defRPr sz="1800" b="0">
                          <a:solidFill>
                            <a:srgbClr val="263343"/>
                          </a:solidFill>
                          <a:latin typeface="Calibri"/>
                        </a:defRPr>
                      </a:pPr>
                      <a:r>
                        <a:t>MiniLM [5], [6]</a:t>
                      </a:r>
                    </a:p>
                  </a:txBody>
                  <a:tcPr marL="109728" marR="109728" marT="64008" marB="64008" anchor="ctr">
                    <a:solidFill>
                      <a:srgbClr val="F8FAFC"/>
                    </a:solidFill>
                  </a:tcPr>
                </a:tc>
                <a:tc>
                  <a:txBody>
                    <a:bodyPr/>
                    <a:lstStyle/>
                    <a:p>
                      <a:pPr algn="ctr">
                        <a:defRPr sz="1800" b="0">
                          <a:solidFill>
                            <a:srgbClr val="263343"/>
                          </a:solidFill>
                          <a:latin typeface="Calibri"/>
                        </a:defRPr>
                      </a:pPr>
                      <a:r>
                        <a:t>Distilled transformer embeddings</a:t>
                      </a:r>
                    </a:p>
                  </a:txBody>
                  <a:tcPr marL="109728" marR="109728" marT="64008" marB="64008" anchor="ctr">
                    <a:solidFill>
                      <a:srgbClr val="F8FAFC"/>
                    </a:solidFill>
                  </a:tcPr>
                </a:tc>
                <a:tc>
                  <a:txBody>
                    <a:bodyPr/>
                    <a:lstStyle/>
                    <a:p>
                      <a:pPr algn="ctr">
                        <a:defRPr sz="1800" b="0">
                          <a:solidFill>
                            <a:srgbClr val="263343"/>
                          </a:solidFill>
                          <a:latin typeface="Calibri"/>
                        </a:defRPr>
                      </a:pPr>
                      <a:r>
                        <a:t>Compact baseline</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Qwen3-Embedding [7]</a:t>
                      </a:r>
                    </a:p>
                  </a:txBody>
                  <a:tcPr marL="109728" marR="109728" marT="64008" marB="64008" anchor="ctr">
                    <a:solidFill>
                      <a:srgbClr val="FFFFFF"/>
                    </a:solidFill>
                  </a:tcPr>
                </a:tc>
                <a:tc>
                  <a:txBody>
                    <a:bodyPr/>
                    <a:lstStyle/>
                    <a:p>
                      <a:pPr algn="ctr">
                        <a:defRPr sz="1800" b="0">
                          <a:solidFill>
                            <a:srgbClr val="263343"/>
                          </a:solidFill>
                          <a:latin typeface="Calibri"/>
                        </a:defRPr>
                      </a:pPr>
                      <a:r>
                        <a:t>Decoder-derived text embeddings</a:t>
                      </a:r>
                    </a:p>
                  </a:txBody>
                  <a:tcPr marL="109728" marR="109728" marT="64008" marB="64008" anchor="ctr">
                    <a:solidFill>
                      <a:srgbClr val="FFFFFF"/>
                    </a:solidFill>
                  </a:tcPr>
                </a:tc>
                <a:tc>
                  <a:txBody>
                    <a:bodyPr/>
                    <a:lstStyle/>
                    <a:p>
                      <a:pPr algn="ctr">
                        <a:defRPr sz="1800" b="0">
                          <a:solidFill>
                            <a:srgbClr val="263343"/>
                          </a:solidFill>
                          <a:latin typeface="Calibri"/>
                        </a:defRPr>
                      </a:pPr>
                      <a:r>
                        <a:t>Embedding baseline</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ALBERT [3]</a:t>
                      </a:r>
                    </a:p>
                  </a:txBody>
                  <a:tcPr marL="109728" marR="109728" marT="64008" marB="64008" anchor="ctr">
                    <a:solidFill>
                      <a:srgbClr val="F8FAFC"/>
                    </a:solidFill>
                  </a:tcPr>
                </a:tc>
                <a:tc>
                  <a:txBody>
                    <a:bodyPr/>
                    <a:lstStyle/>
                    <a:p>
                      <a:pPr algn="ctr">
                        <a:defRPr sz="1800" b="0">
                          <a:solidFill>
                            <a:srgbClr val="263343"/>
                          </a:solidFill>
                          <a:latin typeface="Calibri"/>
                        </a:defRPr>
                      </a:pPr>
                      <a:r>
                        <a:t>Factorized embeddings; shared layers</a:t>
                      </a:r>
                    </a:p>
                  </a:txBody>
                  <a:tcPr marL="109728" marR="109728" marT="64008" marB="64008" anchor="ctr">
                    <a:solidFill>
                      <a:srgbClr val="F8FAFC"/>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ModernBERT-large [4]</a:t>
                      </a:r>
                    </a:p>
                  </a:txBody>
                  <a:tcPr marL="109728" marR="109728" marT="64008" marB="64008" anchor="ctr">
                    <a:solidFill>
                      <a:srgbClr val="FFFFFF"/>
                    </a:solidFill>
                  </a:tcPr>
                </a:tc>
                <a:tc>
                  <a:txBody>
                    <a:bodyPr/>
                    <a:lstStyle/>
                    <a:p>
                      <a:pPr algn="ctr">
                        <a:defRPr sz="1800" b="0">
                          <a:solidFill>
                            <a:srgbClr val="263343"/>
                          </a:solidFill>
                          <a:latin typeface="Calibri"/>
                        </a:defRPr>
                      </a:pPr>
                      <a:r>
                        <a:t>Local/global encoder attention</a:t>
                      </a:r>
                    </a:p>
                  </a:txBody>
                  <a:tcPr marL="109728" marR="109728" marT="64008" marB="64008" anchor="ctr">
                    <a:solidFill>
                      <a:srgbClr val="FFFFFF"/>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Qwen3.5-2B + LoRA [8], [9]</a:t>
                      </a:r>
                    </a:p>
                  </a:txBody>
                  <a:tcPr marL="109728" marR="109728" marT="64008" marB="64008" anchor="ctr">
                    <a:solidFill>
                      <a:srgbClr val="F8FAFC"/>
                    </a:solidFill>
                  </a:tcPr>
                </a:tc>
                <a:tc>
                  <a:txBody>
                    <a:bodyPr/>
                    <a:lstStyle/>
                    <a:p>
                      <a:pPr algn="ctr">
                        <a:defRPr sz="1800" b="0">
                          <a:solidFill>
                            <a:srgbClr val="263343"/>
                          </a:solidFill>
                          <a:latin typeface="Calibri"/>
                        </a:defRPr>
                      </a:pPr>
                      <a:r>
                        <a:t>Hybrid decoder; task adaptation</a:t>
                      </a:r>
                    </a:p>
                  </a:txBody>
                  <a:tcPr marL="109728" marR="109728" marT="64008" marB="64008" anchor="ctr">
                    <a:solidFill>
                      <a:srgbClr val="F8FAFC"/>
                    </a:solidFill>
                  </a:tcPr>
                </a:tc>
                <a:tc>
                  <a:txBody>
                    <a:bodyPr/>
                    <a:lstStyle/>
                    <a:p>
                      <a:pPr algn="ctr">
                        <a:defRPr sz="1800" b="0">
                          <a:solidFill>
                            <a:srgbClr val="263343"/>
                          </a:solidFill>
                          <a:latin typeface="Calibri"/>
                        </a:defRPr>
                      </a:pPr>
                      <a:r>
                        <a:t>Label or JSON output</a:t>
                      </a:r>
                    </a:p>
                  </a:txBody>
                  <a:tcPr marL="109728" marR="109728" marT="64008" marB="64008" anchor="ctr">
                    <a:solidFill>
                      <a:srgbClr val="F8FAFC"/>
                    </a:solidFill>
                  </a:tcPr>
                </a:tc>
              </a:tr>
            </a:tbl>
          </a:graphicData>
        </a:graphic>
      </p:graphicFrame>
      <p:sp>
        <p:nvSpPr>
          <p:cNvPr id="13" name="clara-claim:s4-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Architectures: original papers and official model cards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5-t0"/>
          <p:cNvSpPr>
            <a:spLocks noGrp="1"/>
          </p:cNvSpPr>
          <p:nvPr>
            <p:ph type="title"/>
          </p:nvPr>
        </p:nvSpPr>
        <p:spPr/>
        <p:txBody>
          <a:bodyPr/>
          <a:lstStyle/>
          <a:p>
            <a:r>
              <a:t>Motivation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5</a:t>
            </a:r>
            <a:endParaRPr lang="en-US" sz="1600" dirty="0"/>
          </a:p>
        </p:txBody>
      </p:sp>
      <p:sp>
        <p:nvSpPr>
          <p:cNvPr id="11" name="clara-claim:s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Test both classification quality and the usefulness of the output</a:t>
            </a:r>
          </a:p>
        </p:txBody>
      </p:sp>
      <p:sp>
        <p:nvSpPr>
          <p:cNvPr id="12" name="Rounded Rectangle 11"/>
          <p:cNvSpPr/>
          <p:nvPr/>
        </p:nvSpPr>
        <p:spPr>
          <a:xfrm>
            <a:off x="932688" y="1975104"/>
            <a:ext cx="3291840" cy="333756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5-t6"/>
          <p:cNvSpPr txBox="1"/>
          <p:nvPr/>
        </p:nvSpPr>
        <p:spPr>
          <a:xfrm>
            <a:off x="1115568"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1 · Adaptation</a:t>
            </a:r>
          </a:p>
        </p:txBody>
      </p:sp>
      <p:sp>
        <p:nvSpPr>
          <p:cNvPr id="14" name="clara-claim:s5-t7"/>
          <p:cNvSpPr txBox="1"/>
          <p:nvPr/>
        </p:nvSpPr>
        <p:spPr>
          <a:xfrm>
            <a:off x="1115568"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How much does task-specific fine-tuning improve the existing Qwen checkpoint?</a:t>
            </a:r>
          </a:p>
        </p:txBody>
      </p:sp>
      <p:sp>
        <p:nvSpPr>
          <p:cNvPr id="15" name="Rounded Rectangle 14"/>
          <p:cNvSpPr/>
          <p:nvPr/>
        </p:nvSpPr>
        <p:spPr>
          <a:xfrm>
            <a:off x="4434840" y="1975104"/>
            <a:ext cx="3291840" cy="333756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5-t9"/>
          <p:cNvSpPr txBox="1"/>
          <p:nvPr/>
        </p:nvSpPr>
        <p:spPr>
          <a:xfrm>
            <a:off x="4617720"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2 · Output scope</a:t>
            </a:r>
          </a:p>
        </p:txBody>
      </p:sp>
      <p:sp>
        <p:nvSpPr>
          <p:cNvPr id="17" name="clara-claim:s5-t10"/>
          <p:cNvSpPr txBox="1"/>
          <p:nvPr/>
        </p:nvSpPr>
        <p:spPr>
          <a:xfrm>
            <a:off x="4617720"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Can one sentence produce the category, target group, and label together?</a:t>
            </a:r>
          </a:p>
        </p:txBody>
      </p:sp>
      <p:sp>
        <p:nvSpPr>
          <p:cNvPr id="18" name="Rounded Rectangle 17"/>
          <p:cNvSpPr/>
          <p:nvPr/>
        </p:nvSpPr>
        <p:spPr>
          <a:xfrm>
            <a:off x="7936992" y="1975104"/>
            <a:ext cx="3291840" cy="333756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5-t12"/>
          <p:cNvSpPr txBox="1"/>
          <p:nvPr/>
        </p:nvSpPr>
        <p:spPr>
          <a:xfrm>
            <a:off x="8119871"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3 · Explanation</a:t>
            </a:r>
          </a:p>
        </p:txBody>
      </p:sp>
      <p:sp>
        <p:nvSpPr>
          <p:cNvPr id="20" name="clara-claim:s5-t13"/>
          <p:cNvSpPr txBox="1"/>
          <p:nvPr/>
        </p:nvSpPr>
        <p:spPr>
          <a:xfrm>
            <a:off x="8119871"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Which words influence an encoder decision, including a wrong prediction?</a:t>
            </a:r>
          </a:p>
        </p:txBody>
      </p:sp>
      <p:sp>
        <p:nvSpPr>
          <p:cNvPr id="21" name="clara-claim:s5-t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Project questions evaluated on the supplied StereoDetect splits.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6-t0"/>
          <p:cNvSpPr>
            <a:spLocks noGrp="1"/>
          </p:cNvSpPr>
          <p:nvPr>
            <p:ph type="title"/>
          </p:nvPr>
        </p:nvSpPr>
        <p:spPr/>
        <p:txBody>
          <a:bodyPr/>
          <a:lstStyle/>
          <a:p>
            <a:r>
              <a:t>Problem Statement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6</a:t>
            </a:r>
            <a:endParaRPr lang="en-US" sz="1600" dirty="0"/>
          </a:p>
        </p:txBody>
      </p:sp>
      <p:sp>
        <p:nvSpPr>
          <p:cNvPr id="11" name="clara-claim:s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Three Qwen task contracts on the same held-out test split</a:t>
            </a:r>
          </a:p>
        </p:txBody>
      </p:sp>
      <p:sp>
        <p:nvSpPr>
          <p:cNvPr id="12" name="Rounded Rectangle 11"/>
          <p:cNvSpPr/>
          <p:nvPr/>
        </p:nvSpPr>
        <p:spPr>
          <a:xfrm>
            <a:off x="932688" y="1956816"/>
            <a:ext cx="3291840" cy="28346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6-t6"/>
          <p:cNvSpPr txBox="1"/>
          <p:nvPr/>
        </p:nvSpPr>
        <p:spPr>
          <a:xfrm>
            <a:off x="1115568"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A · Sentence-only labels</a:t>
            </a:r>
          </a:p>
        </p:txBody>
      </p:sp>
      <p:sp>
        <p:nvSpPr>
          <p:cNvPr id="14" name="clara-claim:s6-t7"/>
          <p:cNvSpPr txBox="1"/>
          <p:nvPr/>
        </p:nvSpPr>
        <p:spPr>
          <a:xfrm>
            <a:off x="1115568"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Sentence only</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one label, 0–4</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Five-label token scoring</a:t>
            </a:r>
          </a:p>
        </p:txBody>
      </p:sp>
      <p:sp>
        <p:nvSpPr>
          <p:cNvPr id="15" name="Rounded Rectangle 14"/>
          <p:cNvSpPr/>
          <p:nvPr/>
        </p:nvSpPr>
        <p:spPr>
          <a:xfrm>
            <a:off x="4434840" y="1956816"/>
            <a:ext cx="3291840" cy="283464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6-t9"/>
          <p:cNvSpPr txBox="1"/>
          <p:nvPr/>
        </p:nvSpPr>
        <p:spPr>
          <a:xfrm>
            <a:off x="4617720"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B · Predict all fields</a:t>
            </a:r>
          </a:p>
        </p:txBody>
      </p:sp>
      <p:sp>
        <p:nvSpPr>
          <p:cNvPr id="17" name="clara-claim:s6-t10"/>
          <p:cNvSpPr txBox="1"/>
          <p:nvPr/>
        </p:nvSpPr>
        <p:spPr>
          <a:xfrm>
            <a:off x="4617720"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Sentence only</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category + target</a:t>
            </a:r>
          </a:p>
          <a:p>
            <a:pPr algn="l">
              <a:spcBef>
                <a:spcPts val="0"/>
              </a:spcBef>
              <a:spcAft>
                <a:spcPts val="500"/>
              </a:spcAft>
              <a:defRPr sz="2000" b="0">
                <a:solidFill>
                  <a:srgbClr val="263343"/>
                </a:solidFill>
                <a:latin typeface="Calibri"/>
              </a:defRPr>
            </a:pPr>
            <a:r>
              <a:t>+ label JSON</a:t>
            </a:r>
          </a:p>
        </p:txBody>
      </p:sp>
      <p:sp>
        <p:nvSpPr>
          <p:cNvPr id="18" name="Rounded Rectangle 17"/>
          <p:cNvSpPr/>
          <p:nvPr/>
        </p:nvSpPr>
        <p:spPr>
          <a:xfrm>
            <a:off x="7936992" y="1956816"/>
            <a:ext cx="3291840" cy="28346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6-t12"/>
          <p:cNvSpPr txBox="1"/>
          <p:nvPr/>
        </p:nvSpPr>
        <p:spPr>
          <a:xfrm>
            <a:off x="8119871"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C · Label with metadata</a:t>
            </a:r>
          </a:p>
        </p:txBody>
      </p:sp>
      <p:sp>
        <p:nvSpPr>
          <p:cNvPr id="20" name="clara-claim:s6-t13"/>
          <p:cNvSpPr txBox="1"/>
          <p:nvPr/>
        </p:nvSpPr>
        <p:spPr>
          <a:xfrm>
            <a:off x="8119871"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Sentence + Category</a:t>
            </a:r>
          </a:p>
          <a:p>
            <a:pPr algn="l">
              <a:spcBef>
                <a:spcPts val="0"/>
              </a:spcBef>
              <a:spcAft>
                <a:spcPts val="500"/>
              </a:spcAft>
              <a:defRPr sz="2000" b="0">
                <a:solidFill>
                  <a:srgbClr val="263343"/>
                </a:solidFill>
                <a:latin typeface="Calibri"/>
              </a:defRPr>
            </a:pPr>
            <a:r>
              <a:t>+ Target</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one label, 0–4</a:t>
            </a:r>
          </a:p>
        </p:txBody>
      </p:sp>
      <p:sp>
        <p:nvSpPr>
          <p:cNvPr id="21" name="clara-claim:s6-t14"/>
          <p:cNvSpPr txBox="1"/>
          <p:nvPr/>
        </p:nvSpPr>
        <p:spPr>
          <a:xfrm>
            <a:off x="1051560" y="5074920"/>
            <a:ext cx="10040112" cy="731520"/>
          </a:xfrm>
          <a:prstGeom prst="rect">
            <a:avLst/>
          </a:prstGeom>
          <a:noFill/>
        </p:spPr>
        <p:txBody>
          <a:bodyPr wrap="square" lIns="0" rIns="0" tIns="0" bIns="0" anchor="t">
            <a:spAutoFit/>
          </a:bodyPr>
          <a:lstStyle/>
          <a:p>
            <a:pPr algn="ctr">
              <a:spcBef>
                <a:spcPts val="0"/>
              </a:spcBef>
              <a:spcAft>
                <a:spcPts val="500"/>
              </a:spcAft>
              <a:defRPr sz="2100" b="1">
                <a:solidFill>
                  <a:srgbClr val="263343"/>
                </a:solidFill>
                <a:latin typeface="Calibri"/>
              </a:defRPr>
            </a:pPr>
            <a:r>
              <a:t>Each task has a Base and an SFT evaluation.</a:t>
            </a:r>
          </a:p>
          <a:p>
            <a:pPr algn="ctr">
              <a:spcBef>
                <a:spcPts val="0"/>
              </a:spcBef>
              <a:spcAft>
                <a:spcPts val="500"/>
              </a:spcAft>
              <a:defRPr sz="2100" b="1">
                <a:solidFill>
                  <a:srgbClr val="263343"/>
                </a:solidFill>
                <a:latin typeface="Calibri"/>
              </a:defRPr>
            </a:pPr>
            <a:r>
              <a:t>Metadata means category + target; task B also predicts the label.</a:t>
            </a:r>
          </a:p>
        </p:txBody>
      </p:sp>
      <p:sp>
        <p:nvSpPr>
          <p:cNvPr id="22" name="clara-claim:s6-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completed test evaluations use 1,738 examples. Category and target are never supplied to sentence-only tasks.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7-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7</a:t>
            </a:r>
            <a:endParaRPr lang="en-US" sz="1600" dirty="0"/>
          </a:p>
        </p:txBody>
      </p:sp>
      <p:sp>
        <p:nvSpPr>
          <p:cNvPr id="11" name="clara-claim:s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Overall experimental pipeline</a:t>
            </a:r>
          </a:p>
        </p:txBody>
      </p:sp>
      <p:sp>
        <p:nvSpPr>
          <p:cNvPr id="12" name="Rounded Rectangle 11"/>
          <p:cNvSpPr/>
          <p:nvPr/>
        </p:nvSpPr>
        <p:spPr>
          <a:xfrm>
            <a:off x="9418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7-t6"/>
          <p:cNvSpPr txBox="1"/>
          <p:nvPr/>
        </p:nvSpPr>
        <p:spPr>
          <a:xfrm>
            <a:off x="10149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StereoDetect</a:t>
            </a:r>
          </a:p>
          <a:p>
            <a:pPr algn="ctr">
              <a:spcBef>
                <a:spcPts val="0"/>
              </a:spcBef>
              <a:spcAft>
                <a:spcPts val="500"/>
              </a:spcAft>
              <a:defRPr sz="1900" b="1">
                <a:solidFill>
                  <a:srgbClr val="263343"/>
                </a:solidFill>
                <a:latin typeface="Calibri"/>
              </a:defRPr>
            </a:pPr>
            <a:r>
              <a:t>CSV splits</a:t>
            </a:r>
          </a:p>
        </p:txBody>
      </p:sp>
      <p:sp>
        <p:nvSpPr>
          <p:cNvPr id="14" name="Rounded Rectangle 13"/>
          <p:cNvSpPr/>
          <p:nvPr/>
        </p:nvSpPr>
        <p:spPr>
          <a:xfrm>
            <a:off x="3059582"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7-t8"/>
          <p:cNvSpPr txBox="1"/>
          <p:nvPr/>
        </p:nvSpPr>
        <p:spPr>
          <a:xfrm>
            <a:off x="313273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Task-specific</a:t>
            </a:r>
          </a:p>
          <a:p>
            <a:pPr algn="ctr">
              <a:spcBef>
                <a:spcPts val="0"/>
              </a:spcBef>
              <a:spcAft>
                <a:spcPts val="500"/>
              </a:spcAft>
              <a:defRPr sz="1900" b="1">
                <a:solidFill>
                  <a:srgbClr val="263343"/>
                </a:solidFill>
                <a:latin typeface="Calibri"/>
              </a:defRPr>
            </a:pPr>
            <a:r>
              <a:t>inputs</a:t>
            </a:r>
          </a:p>
        </p:txBody>
      </p:sp>
      <p:cxnSp>
        <p:nvCxnSpPr>
          <p:cNvPr id="16" name="Connector 15"/>
          <p:cNvCxnSpPr/>
          <p:nvPr/>
        </p:nvCxnSpPr>
        <p:spPr>
          <a:xfrm>
            <a:off x="278983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7-t11"/>
          <p:cNvSpPr txBox="1"/>
          <p:nvPr/>
        </p:nvSpPr>
        <p:spPr>
          <a:xfrm>
            <a:off x="52504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Model training</a:t>
            </a:r>
          </a:p>
          <a:p>
            <a:pPr algn="ctr">
              <a:spcBef>
                <a:spcPts val="0"/>
              </a:spcBef>
              <a:spcAft>
                <a:spcPts val="500"/>
              </a:spcAft>
              <a:defRPr sz="1900" b="1">
                <a:solidFill>
                  <a:srgbClr val="263343"/>
                </a:solidFill>
                <a:latin typeface="Calibri"/>
              </a:defRPr>
            </a:pPr>
            <a:r>
              <a:t>/ adaptation</a:t>
            </a:r>
          </a:p>
        </p:txBody>
      </p:sp>
      <p:cxnSp>
        <p:nvCxnSpPr>
          <p:cNvPr id="19" name="Connector 18"/>
          <p:cNvCxnSpPr/>
          <p:nvPr/>
        </p:nvCxnSpPr>
        <p:spPr>
          <a:xfrm>
            <a:off x="490758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7-t14"/>
          <p:cNvSpPr txBox="1"/>
          <p:nvPr/>
        </p:nvSpPr>
        <p:spPr>
          <a:xfrm>
            <a:off x="736823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Held-out</a:t>
            </a:r>
          </a:p>
          <a:p>
            <a:pPr algn="ctr">
              <a:spcBef>
                <a:spcPts val="0"/>
              </a:spcBef>
              <a:spcAft>
                <a:spcPts val="500"/>
              </a:spcAft>
              <a:defRPr sz="1900" b="1">
                <a:solidFill>
                  <a:srgbClr val="263343"/>
                </a:solidFill>
                <a:latin typeface="Calibri"/>
              </a:defRPr>
            </a:pPr>
            <a:r>
              <a:t>predictions</a:t>
            </a:r>
          </a:p>
        </p:txBody>
      </p:sp>
      <p:cxnSp>
        <p:nvCxnSpPr>
          <p:cNvPr id="22" name="Connector 21"/>
          <p:cNvCxnSpPr/>
          <p:nvPr/>
        </p:nvCxnSpPr>
        <p:spPr>
          <a:xfrm>
            <a:off x="702533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167128"/>
            <a:ext cx="1825142" cy="109728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7-t17"/>
          <p:cNvSpPr txBox="1"/>
          <p:nvPr/>
        </p:nvSpPr>
        <p:spPr>
          <a:xfrm>
            <a:off x="948598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Metrics +</a:t>
            </a:r>
          </a:p>
          <a:p>
            <a:pPr algn="ctr">
              <a:spcBef>
                <a:spcPts val="0"/>
              </a:spcBef>
              <a:spcAft>
                <a:spcPts val="500"/>
              </a:spcAft>
              <a:defRPr sz="1900" b="1">
                <a:solidFill>
                  <a:srgbClr val="263343"/>
                </a:solidFill>
                <a:latin typeface="Calibri"/>
              </a:defRPr>
            </a:pPr>
            <a:r>
              <a:t>explanations</a:t>
            </a:r>
          </a:p>
        </p:txBody>
      </p:sp>
      <p:cxnSp>
        <p:nvCxnSpPr>
          <p:cNvPr id="25" name="Connector 24"/>
          <p:cNvCxnSpPr/>
          <p:nvPr/>
        </p:nvCxnSpPr>
        <p:spPr>
          <a:xfrm>
            <a:off x="914308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694176"/>
            <a:ext cx="3291840" cy="16550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7-t20"/>
          <p:cNvSpPr txBox="1"/>
          <p:nvPr/>
        </p:nvSpPr>
        <p:spPr>
          <a:xfrm>
            <a:off x="1115568"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Data</a:t>
            </a:r>
          </a:p>
        </p:txBody>
      </p:sp>
      <p:sp>
        <p:nvSpPr>
          <p:cNvPr id="28" name="clara-claim:s7-t21"/>
          <p:cNvSpPr txBox="1"/>
          <p:nvPr/>
        </p:nvSpPr>
        <p:spPr>
          <a:xfrm>
            <a:off x="1115568"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Train 6,080 · validation 868</a:t>
            </a:r>
          </a:p>
          <a:p>
            <a:pPr algn="l">
              <a:spcBef>
                <a:spcPts val="0"/>
              </a:spcBef>
              <a:spcAft>
                <a:spcPts val="500"/>
              </a:spcAft>
              <a:defRPr sz="2000" b="0">
                <a:solidFill>
                  <a:srgbClr val="263343"/>
                </a:solidFill>
                <a:latin typeface="Calibri"/>
              </a:defRPr>
            </a:pPr>
            <a:r>
              <a:t>Test 1,738</a:t>
            </a:r>
          </a:p>
        </p:txBody>
      </p:sp>
      <p:sp>
        <p:nvSpPr>
          <p:cNvPr id="29" name="Rounded Rectangle 28"/>
          <p:cNvSpPr/>
          <p:nvPr/>
        </p:nvSpPr>
        <p:spPr>
          <a:xfrm>
            <a:off x="4434840" y="3694176"/>
            <a:ext cx="3291840" cy="165506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7-t23"/>
          <p:cNvSpPr txBox="1"/>
          <p:nvPr/>
        </p:nvSpPr>
        <p:spPr>
          <a:xfrm>
            <a:off x="4617720"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Outputs</a:t>
            </a:r>
          </a:p>
        </p:txBody>
      </p:sp>
      <p:sp>
        <p:nvSpPr>
          <p:cNvPr id="31" name="clara-claim:s7-t24"/>
          <p:cNvSpPr txBox="1"/>
          <p:nvPr/>
        </p:nvSpPr>
        <p:spPr>
          <a:xfrm>
            <a:off x="4617720"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Five labels, or structured</a:t>
            </a:r>
          </a:p>
          <a:p>
            <a:pPr algn="l">
              <a:spcBef>
                <a:spcPts val="0"/>
              </a:spcBef>
              <a:spcAft>
                <a:spcPts val="500"/>
              </a:spcAft>
              <a:defRPr sz="2000" b="0">
                <a:solidFill>
                  <a:srgbClr val="263343"/>
                </a:solidFill>
                <a:latin typeface="Calibri"/>
              </a:defRPr>
            </a:pPr>
            <a:r>
              <a:t>category/target/label JSON</a:t>
            </a:r>
          </a:p>
        </p:txBody>
      </p:sp>
      <p:sp>
        <p:nvSpPr>
          <p:cNvPr id="32" name="Rounded Rectangle 31"/>
          <p:cNvSpPr/>
          <p:nvPr/>
        </p:nvSpPr>
        <p:spPr>
          <a:xfrm>
            <a:off x="7936992" y="3694176"/>
            <a:ext cx="3291840" cy="16550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lara-claim:s7-t26"/>
          <p:cNvSpPr txBox="1"/>
          <p:nvPr/>
        </p:nvSpPr>
        <p:spPr>
          <a:xfrm>
            <a:off x="8119871"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Inspection</a:t>
            </a:r>
          </a:p>
        </p:txBody>
      </p:sp>
      <p:sp>
        <p:nvSpPr>
          <p:cNvPr id="34" name="clara-claim:s7-t27"/>
          <p:cNvSpPr txBox="1"/>
          <p:nvPr/>
        </p:nvSpPr>
        <p:spPr>
          <a:xfrm>
            <a:off x="8119871"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Class-wise scores and</a:t>
            </a:r>
          </a:p>
          <a:p>
            <a:pPr algn="l">
              <a:spcBef>
                <a:spcPts val="0"/>
              </a:spcBef>
              <a:spcAft>
                <a:spcPts val="500"/>
              </a:spcAft>
              <a:defRPr sz="2000" b="0">
                <a:solidFill>
                  <a:srgbClr val="263343"/>
                </a:solidFill>
                <a:latin typeface="Calibri"/>
              </a:defRPr>
            </a:pPr>
            <a:r>
              <a:t>LIME/SHAP diagnostics</a:t>
            </a:r>
          </a:p>
        </p:txBody>
      </p:sp>
      <p:sp>
        <p:nvSpPr>
          <p:cNvPr id="35" name="clara-claim:s7-t2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Implementation: stereodetect package. Dataset split sizes are counted from local CSV 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8-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8</a:t>
            </a:r>
            <a:endParaRPr lang="en-US" sz="1600" dirty="0"/>
          </a:p>
        </p:txBody>
      </p:sp>
      <p:sp>
        <p:nvSpPr>
          <p:cNvPr id="11" name="clara-claim:s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all-MiniLM-L6-v2 · Compact sentence-embedding backbone</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8-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8-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8-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MiniLM encoder</a:t>
            </a:r>
          </a:p>
          <a:p>
            <a:pPr algn="ctr">
              <a:spcBef>
                <a:spcPts val="0"/>
              </a:spcBef>
              <a:spcAft>
                <a:spcPts val="500"/>
              </a:spcAft>
              <a:defRPr sz="1900" b="1">
                <a:solidFill>
                  <a:srgbClr val="263343"/>
                </a:solidFill>
                <a:latin typeface="Calibri"/>
              </a:defRPr>
            </a:pPr>
            <a:r>
              <a:t>6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8-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normalize</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8-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384-D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8-t22"/>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clara-claim:s8-t23"/>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compact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clara-claim:s8-t2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MiniLM and official all-MiniLM-L6-v2 model card [5], [6]. Baseline result: review document.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9-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9</a:t>
            </a:r>
            <a:endParaRPr lang="en-US" sz="1600" dirty="0"/>
          </a:p>
        </p:txBody>
      </p:sp>
      <p:sp>
        <p:nvSpPr>
          <p:cNvPr id="11" name="clara-claim:s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Qwen3-Embedding-0.6B · Decoder-derived sentence representation</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9-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9-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9-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Qwen3 decoder</a:t>
            </a:r>
          </a:p>
          <a:p>
            <a:pPr algn="ctr">
              <a:spcBef>
                <a:spcPts val="0"/>
              </a:spcBef>
              <a:spcAft>
                <a:spcPts val="500"/>
              </a:spcAft>
              <a:defRPr sz="1900" b="1">
                <a:solidFill>
                  <a:srgbClr val="263343"/>
                </a:solidFill>
                <a:latin typeface="Calibri"/>
              </a:defRPr>
            </a:pPr>
            <a:r>
              <a:t>28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9-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Final-token</a:t>
            </a:r>
          </a:p>
          <a:p>
            <a:pPr algn="ctr">
              <a:spcBef>
                <a:spcPts val="0"/>
              </a:spcBef>
              <a:spcAft>
                <a:spcPts val="500"/>
              </a:spcAft>
              <a:defRPr sz="1900" b="1">
                <a:solidFill>
                  <a:srgbClr val="263343"/>
                </a:solidFill>
                <a:latin typeface="Calibri"/>
              </a:defRPr>
            </a:pPr>
            <a:r>
              <a:t>pooling</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9-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Up to 1024-D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9-t22"/>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clara-claim:s9-t23"/>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larger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clara-claim:s9-t2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Qwen3 Embedding paper and official 0.6B model card [7]. Baseline result: review document.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0-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10</a:t>
            </a:r>
            <a:endParaRPr lang="en-US" sz="1600" dirty="0"/>
          </a:p>
        </p:txBody>
      </p:sp>
      <p:sp>
        <p:nvSpPr>
          <p:cNvPr id="11" name="clara-claim:s1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ALBERT-base-v2 · Sentence-only five-class classifier</a:t>
            </a:r>
          </a:p>
        </p:txBody>
      </p:sp>
      <p:sp>
        <p:nvSpPr>
          <p:cNvPr id="12" name="Rounded Rectangle 11"/>
          <p:cNvSpPr/>
          <p:nvPr/>
        </p:nvSpPr>
        <p:spPr>
          <a:xfrm>
            <a:off x="9418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0-t6"/>
          <p:cNvSpPr txBox="1"/>
          <p:nvPr/>
        </p:nvSpPr>
        <p:spPr>
          <a:xfrm>
            <a:off x="10149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special tokens</a:t>
            </a:r>
          </a:p>
        </p:txBody>
      </p:sp>
      <p:sp>
        <p:nvSpPr>
          <p:cNvPr id="14" name="Rounded Rectangle 13"/>
          <p:cNvSpPr/>
          <p:nvPr/>
        </p:nvSpPr>
        <p:spPr>
          <a:xfrm>
            <a:off x="305958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0-t8"/>
          <p:cNvSpPr txBox="1"/>
          <p:nvPr/>
        </p:nvSpPr>
        <p:spPr>
          <a:xfrm>
            <a:off x="313273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Factorized</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0-t11"/>
          <p:cNvSpPr txBox="1"/>
          <p:nvPr/>
        </p:nvSpPr>
        <p:spPr>
          <a:xfrm>
            <a:off x="52504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Shared ALBERT</a:t>
            </a:r>
          </a:p>
          <a:p>
            <a:pPr algn="ctr">
              <a:spcBef>
                <a:spcPts val="0"/>
              </a:spcBef>
              <a:spcAft>
                <a:spcPts val="500"/>
              </a:spcAft>
              <a:defRPr sz="1900" b="1">
                <a:solidFill>
                  <a:srgbClr val="263343"/>
                </a:solidFill>
                <a:latin typeface="Calibri"/>
              </a:defRPr>
            </a:pPr>
            <a:r>
              <a:t>encoder ×12</a:t>
            </a:r>
          </a:p>
        </p:txBody>
      </p:sp>
      <p:cxnSp>
        <p:nvCxnSpPr>
          <p:cNvPr id="19" name="Connector 18"/>
          <p:cNvCxnSpPr/>
          <p:nvPr/>
        </p:nvCxnSpPr>
        <p:spPr>
          <a:xfrm>
            <a:off x="490758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0-t14"/>
          <p:cNvSpPr txBox="1"/>
          <p:nvPr/>
        </p:nvSpPr>
        <p:spPr>
          <a:xfrm>
            <a:off x="736823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[CLS] pooler</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0-t17"/>
          <p:cNvSpPr txBox="1"/>
          <p:nvPr/>
        </p:nvSpPr>
        <p:spPr>
          <a:xfrm>
            <a:off x="948598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86200"/>
            <a:ext cx="4992624" cy="15727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0-t20"/>
          <p:cNvSpPr txBox="1"/>
          <p:nvPr/>
        </p:nvSpPr>
        <p:spPr>
          <a:xfrm>
            <a:off x="1115568" y="403250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Parameter efficiency</a:t>
            </a:r>
          </a:p>
        </p:txBody>
      </p:sp>
      <p:sp>
        <p:nvSpPr>
          <p:cNvPr id="28" name="clara-claim:s10-t21"/>
          <p:cNvSpPr txBox="1"/>
          <p:nvPr/>
        </p:nvSpPr>
        <p:spPr>
          <a:xfrm>
            <a:off x="1115568" y="4608576"/>
            <a:ext cx="4626864"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Embedding projection and cross-layer sharing reduce learned parameters.</a:t>
            </a:r>
          </a:p>
        </p:txBody>
      </p:sp>
      <p:sp>
        <p:nvSpPr>
          <p:cNvPr id="29" name="Rounded Rectangle 28"/>
          <p:cNvSpPr/>
          <p:nvPr/>
        </p:nvSpPr>
        <p:spPr>
          <a:xfrm>
            <a:off x="6144768" y="3886200"/>
            <a:ext cx="5093208" cy="15727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10-t23"/>
          <p:cNvSpPr txBox="1"/>
          <p:nvPr/>
        </p:nvSpPr>
        <p:spPr>
          <a:xfrm>
            <a:off x="6327648" y="403250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Local experiment</a:t>
            </a:r>
          </a:p>
        </p:txBody>
      </p:sp>
      <p:sp>
        <p:nvSpPr>
          <p:cNvPr id="31" name="clara-claim:s10-t24"/>
          <p:cNvSpPr txBox="1"/>
          <p:nvPr/>
        </p:nvSpPr>
        <p:spPr>
          <a:xfrm>
            <a:off x="6327648" y="4608576"/>
            <a:ext cx="4727448"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Six epochs · effective batch 64</a:t>
            </a:r>
          </a:p>
          <a:p>
            <a:pPr algn="l">
              <a:spcBef>
                <a:spcPts val="0"/>
              </a:spcBef>
              <a:spcAft>
                <a:spcPts val="500"/>
              </a:spcAft>
              <a:defRPr sz="2100" b="0">
                <a:solidFill>
                  <a:srgbClr val="263343"/>
                </a:solidFill>
                <a:latin typeface="Calibri"/>
              </a:defRPr>
            </a:pPr>
            <a:r>
              <a:t>Learning rate 2 × 10⁻⁵</a:t>
            </a:r>
          </a:p>
        </p:txBody>
      </p:sp>
      <p:sp>
        <p:nvSpPr>
          <p:cNvPr id="32" name="clara-claim:s10-t2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ALBERT [3]. Local task and head: saved configuration and training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1-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11</a:t>
            </a:r>
            <a:endParaRPr lang="en-US" sz="1600" dirty="0"/>
          </a:p>
        </p:txBody>
      </p:sp>
      <p:sp>
        <p:nvSpPr>
          <p:cNvPr id="11" name="clara-claim:s1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Sentence-only five-class classifier</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1-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tokenizer</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1-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1-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Local/global</a:t>
            </a:r>
          </a:p>
          <a:p>
            <a:pPr algn="ctr">
              <a:spcBef>
                <a:spcPts val="0"/>
              </a:spcBef>
              <a:spcAft>
                <a:spcPts val="500"/>
              </a:spcAft>
              <a:defRPr sz="1900" b="1">
                <a:solidFill>
                  <a:srgbClr val="263343"/>
                </a:solidFill>
                <a:latin typeface="Calibri"/>
              </a:defRPr>
            </a:pPr>
            <a:r>
              <a:t>encoder ×28</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1-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1-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514600" y="3657600"/>
            <a:ext cx="7178040" cy="73152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1-t20"/>
          <p:cNvSpPr txBox="1"/>
          <p:nvPr/>
        </p:nvSpPr>
        <p:spPr>
          <a:xfrm>
            <a:off x="2697480" y="3822191"/>
            <a:ext cx="6812280" cy="365760"/>
          </a:xfrm>
          <a:prstGeom prst="rect">
            <a:avLst/>
          </a:prstGeom>
          <a:noFill/>
        </p:spPr>
        <p:txBody>
          <a:bodyPr wrap="square" lIns="0" rIns="0" tIns="0" bIns="0" anchor="t">
            <a:spAutoFit/>
          </a:bodyPr>
          <a:lstStyle/>
          <a:p>
            <a:pPr algn="ctr">
              <a:spcBef>
                <a:spcPts val="0"/>
              </a:spcBef>
              <a:spcAft>
                <a:spcPts val="500"/>
              </a:spcAft>
              <a:defRPr sz="2300" b="1">
                <a:solidFill>
                  <a:srgbClr val="263343"/>
                </a:solidFill>
                <a:latin typeface="Calibri"/>
              </a:defRPr>
            </a:pPr>
            <a:r>
              <a:t>RoPE · GeGLU · periodic global attention</a:t>
            </a:r>
          </a:p>
        </p:txBody>
      </p:sp>
      <p:sp>
        <p:nvSpPr>
          <p:cNvPr id="28" name="clara-claim:s11-t21"/>
          <p:cNvSpPr txBox="1"/>
          <p:nvPr/>
        </p:nvSpPr>
        <p:spPr>
          <a:xfrm>
            <a:off x="1005840" y="4745736"/>
            <a:ext cx="10149840" cy="77724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Saved large-model run: 3 epochs · effective batch 32 · LR 3 × 10⁻⁵</a:t>
            </a:r>
          </a:p>
          <a:p>
            <a:pPr algn="ctr">
              <a:spcBef>
                <a:spcPts val="0"/>
              </a:spcBef>
              <a:spcAft>
                <a:spcPts val="500"/>
              </a:spcAft>
              <a:defRPr sz="2200" b="0">
                <a:solidFill>
                  <a:srgbClr val="263343"/>
                </a:solidFill>
                <a:latin typeface="Calibri"/>
              </a:defRPr>
            </a:pPr>
            <a:r>
              <a:t>Checkpoint selected by validation macro F1.</a:t>
            </a:r>
          </a:p>
        </p:txBody>
      </p:sp>
      <p:sp>
        <p:nvSpPr>
          <p:cNvPr id="29" name="clara-claim:s11-t2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ModernBERT [4]. Large variant: 28 layers, hidden width 1024; details verified in the saved model config.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2-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12</a:t>
            </a:r>
            <a:endParaRPr lang="en-US" sz="1600" dirty="0"/>
          </a:p>
        </p:txBody>
      </p:sp>
      <p:sp>
        <p:nvSpPr>
          <p:cNvPr id="11" name="clara-claim:s1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Shared language backbone, three task adapters</a:t>
            </a:r>
          </a:p>
        </p:txBody>
      </p:sp>
      <p:sp>
        <p:nvSpPr>
          <p:cNvPr id="12" name="Rounded Rectangle 11"/>
          <p:cNvSpPr/>
          <p:nvPr/>
        </p:nvSpPr>
        <p:spPr>
          <a:xfrm>
            <a:off x="941832"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2-t6"/>
          <p:cNvSpPr txBox="1"/>
          <p:nvPr/>
        </p:nvSpPr>
        <p:spPr>
          <a:xfrm>
            <a:off x="1014984"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Task prompt</a:t>
            </a:r>
          </a:p>
          <a:p>
            <a:pPr algn="ctr">
              <a:spcBef>
                <a:spcPts val="0"/>
              </a:spcBef>
              <a:spcAft>
                <a:spcPts val="500"/>
              </a:spcAft>
              <a:defRPr sz="2000" b="1">
                <a:solidFill>
                  <a:srgbClr val="263343"/>
                </a:solidFill>
                <a:latin typeface="Calibri"/>
              </a:defRPr>
            </a:pPr>
            <a:r>
              <a:t>+ tokenizer</a:t>
            </a:r>
          </a:p>
        </p:txBody>
      </p:sp>
      <p:sp>
        <p:nvSpPr>
          <p:cNvPr id="14" name="Rounded Rectangle 13"/>
          <p:cNvSpPr/>
          <p:nvPr/>
        </p:nvSpPr>
        <p:spPr>
          <a:xfrm>
            <a:off x="3569208"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2-t8"/>
          <p:cNvSpPr txBox="1"/>
          <p:nvPr/>
        </p:nvSpPr>
        <p:spPr>
          <a:xfrm>
            <a:off x="3642360"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Hybrid language</a:t>
            </a:r>
          </a:p>
          <a:p>
            <a:pPr algn="ctr">
              <a:spcBef>
                <a:spcPts val="0"/>
              </a:spcBef>
              <a:spcAft>
                <a:spcPts val="500"/>
              </a:spcAft>
              <a:defRPr sz="2000" b="1">
                <a:solidFill>
                  <a:srgbClr val="263343"/>
                </a:solidFill>
                <a:latin typeface="Calibri"/>
              </a:defRPr>
            </a:pPr>
            <a:r>
              <a:t>decoder ×24</a:t>
            </a:r>
          </a:p>
        </p:txBody>
      </p:sp>
      <p:cxnSp>
        <p:nvCxnSpPr>
          <p:cNvPr id="16" name="Connector 15"/>
          <p:cNvCxnSpPr/>
          <p:nvPr/>
        </p:nvCxnSpPr>
        <p:spPr>
          <a:xfrm>
            <a:off x="3299460"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96584"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2-t11"/>
          <p:cNvSpPr txBox="1"/>
          <p:nvPr/>
        </p:nvSpPr>
        <p:spPr>
          <a:xfrm>
            <a:off x="6269736"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Language-model</a:t>
            </a:r>
          </a:p>
          <a:p>
            <a:pPr algn="ctr">
              <a:spcBef>
                <a:spcPts val="0"/>
              </a:spcBef>
              <a:spcAft>
                <a:spcPts val="500"/>
              </a:spcAft>
              <a:defRPr sz="2000" b="1">
                <a:solidFill>
                  <a:srgbClr val="263343"/>
                </a:solidFill>
                <a:latin typeface="Calibri"/>
              </a:defRPr>
            </a:pPr>
            <a:r>
              <a:t>head</a:t>
            </a:r>
          </a:p>
        </p:txBody>
      </p:sp>
      <p:cxnSp>
        <p:nvCxnSpPr>
          <p:cNvPr id="19" name="Connector 18"/>
          <p:cNvCxnSpPr/>
          <p:nvPr/>
        </p:nvCxnSpPr>
        <p:spPr>
          <a:xfrm>
            <a:off x="5926836"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96528" y="2029968"/>
            <a:ext cx="2423160" cy="9692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2-t14"/>
          <p:cNvSpPr txBox="1"/>
          <p:nvPr/>
        </p:nvSpPr>
        <p:spPr>
          <a:xfrm>
            <a:off x="8924544" y="2194560"/>
            <a:ext cx="2167128" cy="621792"/>
          </a:xfrm>
          <a:prstGeom prst="rect">
            <a:avLst/>
          </a:prstGeom>
          <a:noFill/>
        </p:spPr>
        <p:txBody>
          <a:bodyPr wrap="square" lIns="0" rIns="0" tIns="0" bIns="0" anchor="t">
            <a:spAutoFit/>
          </a:bodyPr>
          <a:lstStyle/>
          <a:p>
            <a:pPr algn="ctr">
              <a:spcBef>
                <a:spcPts val="0"/>
              </a:spcBef>
              <a:spcAft>
                <a:spcPts val="500"/>
              </a:spcAft>
              <a:defRPr sz="2000" b="1">
                <a:solidFill>
                  <a:srgbClr val="263343"/>
                </a:solidFill>
                <a:latin typeface="Calibri"/>
              </a:defRPr>
            </a:pPr>
            <a:r>
              <a:t>Task LoRA</a:t>
            </a:r>
          </a:p>
          <a:p>
            <a:pPr algn="ctr">
              <a:spcBef>
                <a:spcPts val="0"/>
              </a:spcBef>
              <a:spcAft>
                <a:spcPts val="500"/>
              </a:spcAft>
              <a:defRPr sz="2000" b="1">
                <a:solidFill>
                  <a:srgbClr val="263343"/>
                </a:solidFill>
                <a:latin typeface="Calibri"/>
              </a:defRPr>
            </a:pPr>
            <a:r>
              <a:t>r=16 · α=32</a:t>
            </a:r>
          </a:p>
        </p:txBody>
      </p:sp>
      <p:cxnSp>
        <p:nvCxnSpPr>
          <p:cNvPr id="22" name="Connector 21"/>
          <p:cNvCxnSpPr/>
          <p:nvPr/>
        </p:nvCxnSpPr>
        <p:spPr>
          <a:xfrm>
            <a:off x="10003536"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736592" y="3163824"/>
            <a:ext cx="5266944" cy="0"/>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36592"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32688" y="33192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lara-claim:s12-t19"/>
          <p:cNvSpPr txBox="1"/>
          <p:nvPr/>
        </p:nvSpPr>
        <p:spPr>
          <a:xfrm>
            <a:off x="1097280" y="3465576"/>
            <a:ext cx="9957816" cy="32004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Repeated block: 3 × gated linear attention + 1 × full attention</a:t>
            </a:r>
          </a:p>
        </p:txBody>
      </p:sp>
      <p:sp>
        <p:nvSpPr>
          <p:cNvPr id="27" name="Rounded Rectangle 26"/>
          <p:cNvSpPr/>
          <p:nvPr/>
        </p:nvSpPr>
        <p:spPr>
          <a:xfrm>
            <a:off x="932688" y="4151376"/>
            <a:ext cx="4992624" cy="144475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lara-claim:s12-t21"/>
          <p:cNvSpPr txBox="1"/>
          <p:nvPr/>
        </p:nvSpPr>
        <p:spPr>
          <a:xfrm>
            <a:off x="1115568" y="4297680"/>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Two label adapters</a:t>
            </a:r>
          </a:p>
        </p:txBody>
      </p:sp>
      <p:sp>
        <p:nvSpPr>
          <p:cNvPr id="29" name="clara-claim:s12-t22"/>
          <p:cNvSpPr txBox="1"/>
          <p:nvPr/>
        </p:nvSpPr>
        <p:spPr>
          <a:xfrm>
            <a:off x="1115568" y="4873752"/>
            <a:ext cx="4626864" cy="603504"/>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t>Sentence → label</a:t>
            </a:r>
          </a:p>
          <a:p>
            <a:pPr algn="l">
              <a:spcBef>
                <a:spcPts val="0"/>
              </a:spcBef>
              <a:spcAft>
                <a:spcPts val="500"/>
              </a:spcAft>
              <a:defRPr sz="1700" b="0">
                <a:solidFill>
                  <a:srgbClr val="263343"/>
                </a:solidFill>
                <a:latin typeface="Calibri"/>
              </a:defRPr>
            </a:pPr>
            <a:r>
              <a:t>Category + Target + Sentence → label</a:t>
            </a:r>
          </a:p>
        </p:txBody>
      </p:sp>
      <p:sp>
        <p:nvSpPr>
          <p:cNvPr id="30" name="Rounded Rectangle 29"/>
          <p:cNvSpPr/>
          <p:nvPr/>
        </p:nvSpPr>
        <p:spPr>
          <a:xfrm>
            <a:off x="6144768" y="4151376"/>
            <a:ext cx="5093208" cy="144475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lara-claim:s12-t24"/>
          <p:cNvSpPr txBox="1"/>
          <p:nvPr/>
        </p:nvSpPr>
        <p:spPr>
          <a:xfrm>
            <a:off x="6327648" y="4297680"/>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JSON task</a:t>
            </a:r>
          </a:p>
        </p:txBody>
      </p:sp>
      <p:sp>
        <p:nvSpPr>
          <p:cNvPr id="32" name="clara-claim:s12-t25"/>
          <p:cNvSpPr txBox="1"/>
          <p:nvPr/>
        </p:nvSpPr>
        <p:spPr>
          <a:xfrm>
            <a:off x="6327648" y="4873752"/>
            <a:ext cx="4727448" cy="603504"/>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Sentence → category + target + label</a:t>
            </a:r>
          </a:p>
        </p:txBody>
      </p:sp>
      <p:sp>
        <p:nvSpPr>
          <p:cNvPr id="33" name="clara-claim:s12-t2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Qwen3.5-2B model configuration [8]; LoRA [9]. Text pathway only; separate task adapters.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3-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13</a:t>
            </a:r>
            <a:endParaRPr lang="en-US" sz="1600" dirty="0"/>
          </a:p>
        </p:txBody>
      </p:sp>
      <p:sp>
        <p:nvSpPr>
          <p:cNvPr id="11" name="clara-claim:s1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Aligned word-level explanations for the encoder classifiers</a:t>
            </a:r>
          </a:p>
        </p:txBody>
      </p:sp>
      <p:sp>
        <p:nvSpPr>
          <p:cNvPr id="12" name="Rounded Rectangle 11"/>
          <p:cNvSpPr/>
          <p:nvPr/>
        </p:nvSpPr>
        <p:spPr>
          <a:xfrm>
            <a:off x="9418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3-t6"/>
          <p:cNvSpPr txBox="1"/>
          <p:nvPr/>
        </p:nvSpPr>
        <p:spPr>
          <a:xfrm>
            <a:off x="10149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word positions</a:t>
            </a:r>
          </a:p>
        </p:txBody>
      </p:sp>
      <p:sp>
        <p:nvSpPr>
          <p:cNvPr id="14" name="Rounded Rectangle 13"/>
          <p:cNvSpPr/>
          <p:nvPr/>
        </p:nvSpPr>
        <p:spPr>
          <a:xfrm>
            <a:off x="3059582"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3-t8"/>
          <p:cNvSpPr txBox="1"/>
          <p:nvPr/>
        </p:nvSpPr>
        <p:spPr>
          <a:xfrm>
            <a:off x="313273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Masked-word</a:t>
            </a:r>
          </a:p>
          <a:p>
            <a:pPr algn="ctr">
              <a:spcBef>
                <a:spcPts val="0"/>
              </a:spcBef>
              <a:spcAft>
                <a:spcPts val="500"/>
              </a:spcAft>
              <a:defRPr sz="1900" b="1">
                <a:solidFill>
                  <a:srgbClr val="263343"/>
                </a:solidFill>
                <a:latin typeface="Calibri"/>
              </a:defRPr>
            </a:pPr>
            <a:r>
              <a:t>variants</a:t>
            </a:r>
          </a:p>
        </p:txBody>
      </p:sp>
      <p:cxnSp>
        <p:nvCxnSpPr>
          <p:cNvPr id="16" name="Connector 15"/>
          <p:cNvCxnSpPr/>
          <p:nvPr/>
        </p:nvCxnSpPr>
        <p:spPr>
          <a:xfrm>
            <a:off x="278983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3-t11"/>
          <p:cNvSpPr txBox="1"/>
          <p:nvPr/>
        </p:nvSpPr>
        <p:spPr>
          <a:xfrm>
            <a:off x="52504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Saved encoder</a:t>
            </a:r>
          </a:p>
          <a:p>
            <a:pPr algn="ctr">
              <a:spcBef>
                <a:spcPts val="0"/>
              </a:spcBef>
              <a:spcAft>
                <a:spcPts val="500"/>
              </a:spcAft>
              <a:defRPr sz="1900" b="1">
                <a:solidFill>
                  <a:srgbClr val="263343"/>
                </a:solidFill>
                <a:latin typeface="Calibri"/>
              </a:defRPr>
            </a:pPr>
            <a:r>
              <a:t>probabilities</a:t>
            </a:r>
          </a:p>
        </p:txBody>
      </p:sp>
      <p:cxnSp>
        <p:nvCxnSpPr>
          <p:cNvPr id="19" name="Connector 18"/>
          <p:cNvCxnSpPr/>
          <p:nvPr/>
        </p:nvCxnSpPr>
        <p:spPr>
          <a:xfrm>
            <a:off x="490758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31136"/>
            <a:ext cx="1825142" cy="1115568"/>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3-t14"/>
          <p:cNvSpPr txBox="1"/>
          <p:nvPr/>
        </p:nvSpPr>
        <p:spPr>
          <a:xfrm>
            <a:off x="736823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LIME /</a:t>
            </a:r>
          </a:p>
          <a:p>
            <a:pPr algn="ctr">
              <a:spcBef>
                <a:spcPts val="0"/>
              </a:spcBef>
              <a:spcAft>
                <a:spcPts val="500"/>
              </a:spcAft>
              <a:defRPr sz="1900" b="1">
                <a:solidFill>
                  <a:srgbClr val="263343"/>
                </a:solidFill>
                <a:latin typeface="Calibri"/>
              </a:defRPr>
            </a:pPr>
            <a:r>
              <a:t>Kernel SHAP</a:t>
            </a:r>
          </a:p>
        </p:txBody>
      </p:sp>
      <p:cxnSp>
        <p:nvCxnSpPr>
          <p:cNvPr id="22" name="Connector 21"/>
          <p:cNvCxnSpPr/>
          <p:nvPr/>
        </p:nvCxnSpPr>
        <p:spPr>
          <a:xfrm>
            <a:off x="702533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3-t17"/>
          <p:cNvSpPr txBox="1"/>
          <p:nvPr/>
        </p:nvSpPr>
        <p:spPr>
          <a:xfrm>
            <a:off x="948598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Word scores</a:t>
            </a:r>
          </a:p>
          <a:p>
            <a:pPr algn="ctr">
              <a:spcBef>
                <a:spcPts val="0"/>
              </a:spcBef>
              <a:spcAft>
                <a:spcPts val="500"/>
              </a:spcAft>
              <a:defRPr sz="1900" b="1">
                <a:solidFill>
                  <a:srgbClr val="263343"/>
                </a:solidFill>
                <a:latin typeface="Calibri"/>
              </a:defRPr>
            </a:pPr>
            <a:r>
              <a:t>+ masking checks</a:t>
            </a:r>
          </a:p>
        </p:txBody>
      </p:sp>
      <p:cxnSp>
        <p:nvCxnSpPr>
          <p:cNvPr id="25" name="Connector 24"/>
          <p:cNvCxnSpPr/>
          <p:nvPr/>
        </p:nvCxnSpPr>
        <p:spPr>
          <a:xfrm>
            <a:off x="914308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13048"/>
            <a:ext cx="4992624" cy="16459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3-t20"/>
          <p:cNvSpPr txBox="1"/>
          <p:nvPr/>
        </p:nvSpPr>
        <p:spPr>
          <a:xfrm>
            <a:off x="1115568" y="395935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Matched features</a:t>
            </a:r>
          </a:p>
        </p:txBody>
      </p:sp>
      <p:sp>
        <p:nvSpPr>
          <p:cNvPr id="28" name="clara-claim:s13-t21"/>
          <p:cNvSpPr txBox="1"/>
          <p:nvPr/>
        </p:nvSpPr>
        <p:spPr>
          <a:xfrm>
            <a:off x="1115568" y="4535424"/>
            <a:ext cx="4626864"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Same word positions, masking token, and explained class for both methods.</a:t>
            </a:r>
          </a:p>
        </p:txBody>
      </p:sp>
      <p:sp>
        <p:nvSpPr>
          <p:cNvPr id="29" name="Rounded Rectangle 28"/>
          <p:cNvSpPr/>
          <p:nvPr/>
        </p:nvSpPr>
        <p:spPr>
          <a:xfrm>
            <a:off x="6144768" y="3813048"/>
            <a:ext cx="5093208" cy="1645920"/>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13-t23"/>
          <p:cNvSpPr txBox="1"/>
          <p:nvPr/>
        </p:nvSpPr>
        <p:spPr>
          <a:xfrm>
            <a:off x="6327648" y="395935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Diagnostic interpretation</a:t>
            </a:r>
          </a:p>
        </p:txBody>
      </p:sp>
      <p:sp>
        <p:nvSpPr>
          <p:cNvPr id="31" name="clara-claim:s13-t24"/>
          <p:cNvSpPr txBox="1"/>
          <p:nvPr/>
        </p:nvSpPr>
        <p:spPr>
          <a:xfrm>
            <a:off x="6327648" y="4535424"/>
            <a:ext cx="4727448"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Agreement describes model sensitivity; it does not establish that a prediction is correct.</a:t>
            </a:r>
          </a:p>
        </p:txBody>
      </p:sp>
      <p:sp>
        <p:nvSpPr>
          <p:cNvPr id="32" name="clara-claim:s13-t2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Method sources: HEARTS [2], LIME [10], SHAP [11]. Local explanation settings are recorded per 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4-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14</a:t>
            </a:r>
            <a:endParaRPr lang="en-US" sz="1600" dirty="0"/>
          </a:p>
        </p:txBody>
      </p:sp>
      <p:sp>
        <p:nvSpPr>
          <p:cNvPr id="11" name="clara-claim:s1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training setup, and evaluation protocol</a:t>
            </a:r>
          </a:p>
        </p:txBody>
      </p:sp>
      <p:sp>
        <p:nvSpPr>
          <p:cNvPr id="12" name="Rounded Rectangle 11"/>
          <p:cNvSpPr/>
          <p:nvPr/>
        </p:nvSpPr>
        <p:spPr>
          <a:xfrm>
            <a:off x="932688" y="1920240"/>
            <a:ext cx="3291840" cy="12344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4-t6"/>
          <p:cNvSpPr txBox="1"/>
          <p:nvPr/>
        </p:nvSpPr>
        <p:spPr>
          <a:xfrm>
            <a:off x="1069848"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6,080</a:t>
            </a:r>
          </a:p>
        </p:txBody>
      </p:sp>
      <p:sp>
        <p:nvSpPr>
          <p:cNvPr id="14" name="clara-claim:s14-t7"/>
          <p:cNvSpPr txBox="1"/>
          <p:nvPr/>
        </p:nvSpPr>
        <p:spPr>
          <a:xfrm>
            <a:off x="1042416"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Training examples</a:t>
            </a:r>
          </a:p>
        </p:txBody>
      </p:sp>
      <p:sp>
        <p:nvSpPr>
          <p:cNvPr id="15" name="Rounded Rectangle 14"/>
          <p:cNvSpPr/>
          <p:nvPr/>
        </p:nvSpPr>
        <p:spPr>
          <a:xfrm>
            <a:off x="4434840" y="1920240"/>
            <a:ext cx="3291840"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868</a:t>
            </a:r>
          </a:p>
        </p:txBody>
      </p:sp>
      <p:sp>
        <p:nvSpPr>
          <p:cNvPr id="17" name="clara-claim:s14-t10"/>
          <p:cNvSpPr txBox="1"/>
          <p:nvPr/>
        </p:nvSpPr>
        <p:spPr>
          <a:xfrm>
            <a:off x="4544568"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Validation examples</a:t>
            </a:r>
          </a:p>
        </p:txBody>
      </p:sp>
      <p:sp>
        <p:nvSpPr>
          <p:cNvPr id="18" name="Rounded Rectangle 17"/>
          <p:cNvSpPr/>
          <p:nvPr/>
        </p:nvSpPr>
        <p:spPr>
          <a:xfrm>
            <a:off x="7936992" y="1920240"/>
            <a:ext cx="3291840" cy="123444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14-t12"/>
          <p:cNvSpPr txBox="1"/>
          <p:nvPr/>
        </p:nvSpPr>
        <p:spPr>
          <a:xfrm>
            <a:off x="8074152"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1,738</a:t>
            </a:r>
          </a:p>
        </p:txBody>
      </p:sp>
      <p:sp>
        <p:nvSpPr>
          <p:cNvPr id="20" name="clara-claim:s14-t13"/>
          <p:cNvSpPr txBox="1"/>
          <p:nvPr/>
        </p:nvSpPr>
        <p:spPr>
          <a:xfrm>
            <a:off x="8046719"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Test examples</a:t>
            </a:r>
          </a:p>
        </p:txBody>
      </p:sp>
      <p:graphicFrame>
        <p:nvGraphicFramePr>
          <p:cNvPr id="21" name="Table 20"/>
          <p:cNvGraphicFramePr>
            <a:graphicFrameLocks noGrp="1"/>
          </p:cNvGraphicFramePr>
          <p:nvPr/>
        </p:nvGraphicFramePr>
        <p:xfrm>
          <a:off x="932688" y="3447288"/>
          <a:ext cx="10286999" cy="2194560"/>
        </p:xfrm>
        <a:graphic>
          <a:graphicData uri="http://schemas.openxmlformats.org/drawingml/2006/table">
            <a:tbl>
              <a:tblPr firstRow="1" bandRow="1">
                <a:tableStyleId>{5C22544A-7EE6-4342-B048-85BDC9FD1C3A}</a:tableStyleId>
              </a:tblPr>
              <a:tblGrid>
                <a:gridCol w="3977639"/>
                <a:gridCol w="1325880"/>
                <a:gridCol w="2423160"/>
                <a:gridCol w="2560320"/>
              </a:tblGrid>
              <a:tr h="438912">
                <a:tc>
                  <a:txBody>
                    <a:bodyPr/>
                    <a:lstStyle/>
                    <a:p>
                      <a:pPr algn="l">
                        <a:defRPr sz="1700" b="1">
                          <a:solidFill>
                            <a:srgbClr val="25354A"/>
                          </a:solidFill>
                          <a:latin typeface="Calibri"/>
                        </a:defRPr>
                      </a:pPr>
                      <a:r>
                        <a:t>Saved training run</a:t>
                      </a:r>
                    </a:p>
                  </a:txBody>
                  <a:tcPr marL="109728" marR="109728" marT="64008" marB="64008" anchor="ctr">
                    <a:solidFill>
                      <a:srgbClr val="EEF3FB"/>
                    </a:solidFill>
                  </a:tcPr>
                </a:tc>
                <a:tc>
                  <a:txBody>
                    <a:bodyPr/>
                    <a:lstStyle/>
                    <a:p>
                      <a:pPr algn="ctr">
                        <a:defRPr sz="1700" b="1">
                          <a:solidFill>
                            <a:srgbClr val="25354A"/>
                          </a:solidFill>
                          <a:latin typeface="Calibri"/>
                        </a:defRPr>
                      </a:pPr>
                      <a:r>
                        <a:t>Epochs</a:t>
                      </a:r>
                    </a:p>
                  </a:txBody>
                  <a:tcPr marL="109728" marR="109728" marT="64008" marB="64008" anchor="ctr">
                    <a:solidFill>
                      <a:srgbClr val="EEF3FB"/>
                    </a:solidFill>
                  </a:tcPr>
                </a:tc>
                <a:tc>
                  <a:txBody>
                    <a:bodyPr/>
                    <a:lstStyle/>
                    <a:p>
                      <a:pPr algn="ctr">
                        <a:defRPr sz="1700" b="1">
                          <a:solidFill>
                            <a:srgbClr val="25354A"/>
                          </a:solidFill>
                          <a:latin typeface="Calibri"/>
                        </a:defRPr>
                      </a:pPr>
                      <a:r>
                        <a:t>Global batch</a:t>
                      </a:r>
                    </a:p>
                  </a:txBody>
                  <a:tcPr marL="109728" marR="109728" marT="64008" marB="64008" anchor="ctr">
                    <a:solidFill>
                      <a:srgbClr val="EEF3FB"/>
                    </a:solidFill>
                  </a:tcPr>
                </a:tc>
                <a:tc>
                  <a:txBody>
                    <a:bodyPr/>
                    <a:lstStyle/>
                    <a:p>
                      <a:pPr algn="ctr">
                        <a:defRPr sz="1700" b="1">
                          <a:solidFill>
                            <a:srgbClr val="25354A"/>
                          </a:solidFill>
                          <a:latin typeface="Calibri"/>
                        </a:defRPr>
                      </a:pPr>
                      <a:r>
                        <a:t>Learning rate</a:t>
                      </a:r>
                    </a:p>
                  </a:txBody>
                  <a:tcPr marL="109728" marR="109728" marT="64008" marB="64008" anchor="ctr">
                    <a:solidFill>
                      <a:srgbClr val="EEF3FB"/>
                    </a:solidFill>
                  </a:tcPr>
                </a:tc>
              </a:tr>
              <a:tr h="438912">
                <a:tc>
                  <a:txBody>
                    <a:bodyPr/>
                    <a:lstStyle/>
                    <a:p>
                      <a:pPr algn="l">
                        <a:defRPr sz="17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700" b="0">
                          <a:solidFill>
                            <a:srgbClr val="263343"/>
                          </a:solidFill>
                          <a:latin typeface="Calibri"/>
                        </a:defRPr>
                      </a:pPr>
                      <a:r>
                        <a:t>6</a:t>
                      </a:r>
                    </a:p>
                  </a:txBody>
                  <a:tcPr marL="109728" marR="109728" marT="64008" marB="64008" anchor="ctr">
                    <a:solidFill>
                      <a:srgbClr val="F8FAFC"/>
                    </a:solidFill>
                  </a:tcPr>
                </a:tc>
                <a:tc>
                  <a:txBody>
                    <a:bodyPr/>
                    <a:lstStyle/>
                    <a:p>
                      <a:pPr algn="ctr">
                        <a:defRPr sz="1700" b="0">
                          <a:solidFill>
                            <a:srgbClr val="263343"/>
                          </a:solidFill>
                          <a:latin typeface="Calibri"/>
                        </a:defRPr>
                      </a:pPr>
                      <a:r>
                        <a:t>64</a:t>
                      </a:r>
                    </a:p>
                  </a:txBody>
                  <a:tcPr marL="109728" marR="109728" marT="64008" marB="64008" anchor="ctr">
                    <a:solidFill>
                      <a:srgbClr val="F8FAFC"/>
                    </a:solidFill>
                  </a:tcPr>
                </a:tc>
                <a:tc>
                  <a:txBody>
                    <a:bodyPr/>
                    <a:lstStyle/>
                    <a:p>
                      <a:pPr algn="ctr">
                        <a:defRPr sz="1700" b="0">
                          <a:solidFill>
                            <a:srgbClr val="263343"/>
                          </a:solidFill>
                          <a:latin typeface="Calibri"/>
                        </a:defRPr>
                      </a:pPr>
                      <a:r>
                        <a:t>2 × 10⁻⁵</a:t>
                      </a:r>
                    </a:p>
                  </a:txBody>
                  <a:tcPr marL="109728" marR="109728" marT="64008" marB="64008" anchor="ctr">
                    <a:solidFill>
                      <a:srgbClr val="F8FAFC"/>
                    </a:solidFill>
                  </a:tcPr>
                </a:tc>
              </a:tr>
              <a:tr h="438912">
                <a:tc>
                  <a:txBody>
                    <a:bodyPr/>
                    <a:lstStyle/>
                    <a:p>
                      <a:pPr algn="l">
                        <a:defRPr sz="1700" b="0">
                          <a:solidFill>
                            <a:srgbClr val="263343"/>
                          </a:solidFill>
                          <a:latin typeface="Calibri"/>
                        </a:defRPr>
                      </a:pPr>
                      <a:r>
                        <a:t>ModernBERT-large</a:t>
                      </a:r>
                    </a:p>
                  </a:txBody>
                  <a:tcPr marL="109728" marR="109728" marT="64008" marB="64008" anchor="ctr">
                    <a:solidFill>
                      <a:srgbClr val="FFFFFF"/>
                    </a:solidFill>
                  </a:tcPr>
                </a:tc>
                <a:tc>
                  <a:txBody>
                    <a:bodyPr/>
                    <a:lstStyle/>
                    <a:p>
                      <a:pPr algn="ctr">
                        <a:defRPr sz="1700" b="0">
                          <a:solidFill>
                            <a:srgbClr val="263343"/>
                          </a:solidFill>
                          <a:latin typeface="Calibri"/>
                        </a:defRPr>
                      </a:pPr>
                      <a:r>
                        <a:t>3</a:t>
                      </a:r>
                    </a:p>
                  </a:txBody>
                  <a:tcPr marL="109728" marR="109728" marT="64008" marB="64008" anchor="ctr">
                    <a:solidFill>
                      <a:srgbClr val="FFFFFF"/>
                    </a:solidFill>
                  </a:tcPr>
                </a:tc>
                <a:tc>
                  <a:txBody>
                    <a:bodyPr/>
                    <a:lstStyle/>
                    <a:p>
                      <a:pPr algn="ctr">
                        <a:defRPr sz="1700" b="0">
                          <a:solidFill>
                            <a:srgbClr val="263343"/>
                          </a:solidFill>
                          <a:latin typeface="Calibri"/>
                        </a:defRPr>
                      </a:pPr>
                      <a:r>
                        <a:t>32</a:t>
                      </a:r>
                    </a:p>
                  </a:txBody>
                  <a:tcPr marL="109728" marR="109728" marT="64008" marB="64008" anchor="ctr">
                    <a:solidFill>
                      <a:srgbClr val="FFFFFF"/>
                    </a:solidFill>
                  </a:tcPr>
                </a:tc>
                <a:tc>
                  <a:txBody>
                    <a:bodyPr/>
                    <a:lstStyle/>
                    <a:p>
                      <a:pPr algn="ctr">
                        <a:defRPr sz="1700" b="0">
                          <a:solidFill>
                            <a:srgbClr val="263343"/>
                          </a:solidFill>
                          <a:latin typeface="Calibri"/>
                        </a:defRPr>
                      </a:pPr>
                      <a:r>
                        <a:t>3 × 10⁻⁵</a:t>
                      </a:r>
                    </a:p>
                  </a:txBody>
                  <a:tcPr marL="109728" marR="109728" marT="64008" marB="64008" anchor="ctr">
                    <a:solidFill>
                      <a:srgbClr val="FFFFFF"/>
                    </a:solidFill>
                  </a:tcPr>
                </a:tc>
              </a:tr>
              <a:tr h="438912">
                <a:tc>
                  <a:txBody>
                    <a:bodyPr/>
                    <a:lstStyle/>
                    <a:p>
                      <a:pPr algn="l">
                        <a:defRPr sz="1700" b="0">
                          <a:solidFill>
                            <a:srgbClr val="263343"/>
                          </a:solidFill>
                          <a:latin typeface="Calibri"/>
                        </a:defRPr>
                      </a:pPr>
                      <a:r>
                        <a:t>Qwen · conditioned label / JSON</a:t>
                      </a:r>
                    </a:p>
                  </a:txBody>
                  <a:tcPr marL="109728" marR="109728" marT="64008" marB="64008" anchor="ctr">
                    <a:solidFill>
                      <a:srgbClr val="F8FAFC"/>
                    </a:solidFill>
                  </a:tcPr>
                </a:tc>
                <a:tc>
                  <a:txBody>
                    <a:bodyPr/>
                    <a:lstStyle/>
                    <a:p>
                      <a:pPr algn="ctr">
                        <a:defRPr sz="1700" b="0">
                          <a:solidFill>
                            <a:srgbClr val="263343"/>
                          </a:solidFill>
                          <a:latin typeface="Calibri"/>
                        </a:defRPr>
                      </a:pPr>
                      <a:r>
                        <a:t>3</a:t>
                      </a:r>
                    </a:p>
                  </a:txBody>
                  <a:tcPr marL="109728" marR="109728" marT="64008" marB="64008" anchor="ctr">
                    <a:solidFill>
                      <a:srgbClr val="F8FAFC"/>
                    </a:solidFill>
                  </a:tcPr>
                </a:tc>
                <a:tc>
                  <a:txBody>
                    <a:bodyPr/>
                    <a:lstStyle/>
                    <a:p>
                      <a:pPr algn="ctr">
                        <a:defRPr sz="1700" b="0">
                          <a:solidFill>
                            <a:srgbClr val="263343"/>
                          </a:solidFill>
                          <a:latin typeface="Calibri"/>
                        </a:defRPr>
                      </a:pPr>
                      <a:r>
                        <a:t>16</a:t>
                      </a:r>
                    </a:p>
                  </a:txBody>
                  <a:tcPr marL="109728" marR="109728" marT="64008" marB="64008" anchor="ctr">
                    <a:solidFill>
                      <a:srgbClr val="F8FAFC"/>
                    </a:solidFill>
                  </a:tcPr>
                </a:tc>
                <a:tc>
                  <a:txBody>
                    <a:bodyPr/>
                    <a:lstStyle/>
                    <a:p>
                      <a:pPr algn="ctr">
                        <a:defRPr sz="1700" b="0">
                          <a:solidFill>
                            <a:srgbClr val="263343"/>
                          </a:solidFill>
                          <a:latin typeface="Calibri"/>
                        </a:defRPr>
                      </a:pPr>
                      <a:r>
                        <a:t>2 × 10⁻⁴</a:t>
                      </a:r>
                    </a:p>
                  </a:txBody>
                  <a:tcPr marL="109728" marR="109728" marT="64008" marB="64008" anchor="ctr">
                    <a:solidFill>
                      <a:srgbClr val="F8FAFC"/>
                    </a:solidFill>
                  </a:tcPr>
                </a:tc>
              </a:tr>
              <a:tr h="438912">
                <a:tc>
                  <a:txBody>
                    <a:bodyPr/>
                    <a:lstStyle/>
                    <a:p>
                      <a:pPr algn="l">
                        <a:defRPr sz="1700" b="0">
                          <a:solidFill>
                            <a:srgbClr val="263343"/>
                          </a:solidFill>
                          <a:latin typeface="Calibri"/>
                        </a:defRPr>
                      </a:pPr>
                      <a:r>
                        <a:t>Qwen · sentence-only label (2×T4)</a:t>
                      </a:r>
                    </a:p>
                  </a:txBody>
                  <a:tcPr marL="109728" marR="109728" marT="64008" marB="64008" anchor="ctr">
                    <a:solidFill>
                      <a:srgbClr val="EFF6F0"/>
                    </a:solidFill>
                  </a:tcPr>
                </a:tc>
                <a:tc>
                  <a:txBody>
                    <a:bodyPr/>
                    <a:lstStyle/>
                    <a:p>
                      <a:pPr algn="ctr">
                        <a:defRPr sz="1700" b="0">
                          <a:solidFill>
                            <a:srgbClr val="263343"/>
                          </a:solidFill>
                          <a:latin typeface="Calibri"/>
                        </a:defRPr>
                      </a:pPr>
                      <a:r>
                        <a:t>3</a:t>
                      </a:r>
                    </a:p>
                  </a:txBody>
                  <a:tcPr marL="109728" marR="109728" marT="64008" marB="64008" anchor="ctr">
                    <a:solidFill>
                      <a:srgbClr val="EFF6F0"/>
                    </a:solidFill>
                  </a:tcPr>
                </a:tc>
                <a:tc>
                  <a:txBody>
                    <a:bodyPr/>
                    <a:lstStyle/>
                    <a:p>
                      <a:pPr algn="ctr">
                        <a:defRPr sz="1700" b="0">
                          <a:solidFill>
                            <a:srgbClr val="263343"/>
                          </a:solidFill>
                          <a:latin typeface="Calibri"/>
                        </a:defRPr>
                      </a:pPr>
                      <a:r>
                        <a:t>32</a:t>
                      </a:r>
                    </a:p>
                  </a:txBody>
                  <a:tcPr marL="109728" marR="109728" marT="64008" marB="64008" anchor="ctr">
                    <a:solidFill>
                      <a:srgbClr val="EFF6F0"/>
                    </a:solidFill>
                  </a:tcPr>
                </a:tc>
                <a:tc>
                  <a:txBody>
                    <a:bodyPr/>
                    <a:lstStyle/>
                    <a:p>
                      <a:pPr algn="ctr">
                        <a:defRPr sz="1700" b="0">
                          <a:solidFill>
                            <a:srgbClr val="263343"/>
                          </a:solidFill>
                          <a:latin typeface="Calibri"/>
                        </a:defRPr>
                      </a:pPr>
                      <a:r>
                        <a:t>2 × 10⁻⁴</a:t>
                      </a:r>
                    </a:p>
                  </a:txBody>
                  <a:tcPr marL="109728" marR="109728" marT="64008" marB="64008" anchor="ctr">
                    <a:solidFill>
                      <a:srgbClr val="EFF6F0"/>
                    </a:solidFill>
                  </a:tcPr>
                </a:tc>
              </a:tr>
            </a:tbl>
          </a:graphicData>
        </a:graphic>
      </p:graphicFrame>
      <p:sp>
        <p:nvSpPr>
          <p:cNvPr id="22" name="clara-claim:s14-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New LoRA: 16 examples/GPU, 570 optimizer steps, FP32. Base: vLLM BF16. Validation macro F1 selects the adapter.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5-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15</a:t>
            </a:r>
            <a:endParaRPr lang="en-US" sz="1600" dirty="0"/>
          </a:p>
        </p:txBody>
      </p:sp>
      <p:sp>
        <p:nvSpPr>
          <p:cNvPr id="11" name="clara-claim:s1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comparison on the 1,738-example test split</a:t>
            </a:r>
          </a:p>
        </p:txBody>
      </p:sp>
      <p:graphicFrame>
        <p:nvGraphicFramePr>
          <p:cNvPr id="12" name="Table 11"/>
          <p:cNvGraphicFramePr>
            <a:graphicFrameLocks noGrp="1"/>
          </p:cNvGraphicFramePr>
          <p:nvPr/>
        </p:nvGraphicFramePr>
        <p:xfrm>
          <a:off x="932688" y="1901952"/>
          <a:ext cx="10286999" cy="3538728"/>
        </p:xfrm>
        <a:graphic>
          <a:graphicData uri="http://schemas.openxmlformats.org/drawingml/2006/table">
            <a:tbl>
              <a:tblPr firstRow="1" bandRow="1">
                <a:tableStyleId>{5C22544A-7EE6-4342-B048-85BDC9FD1C3A}</a:tableStyleId>
              </a:tblPr>
              <a:tblGrid>
                <a:gridCol w="3977639"/>
                <a:gridCol w="3063240"/>
                <a:gridCol w="1600200"/>
                <a:gridCol w="1645920"/>
              </a:tblGrid>
              <a:tr h="393192">
                <a:tc>
                  <a:txBody>
                    <a:bodyPr/>
                    <a:lstStyle/>
                    <a:p>
                      <a:pPr algn="l">
                        <a:defRPr sz="1600" b="1">
                          <a:solidFill>
                            <a:srgbClr val="25354A"/>
                          </a:solidFill>
                          <a:latin typeface="Calibri"/>
                        </a:defRPr>
                      </a:pPr>
                      <a:r>
                        <a:t>Model / run</a:t>
                      </a:r>
                    </a:p>
                  </a:txBody>
                  <a:tcPr marL="109728" marR="109728" marT="64008" marB="64008" anchor="ctr">
                    <a:solidFill>
                      <a:srgbClr val="EEF3FB"/>
                    </a:solidFill>
                  </a:tcPr>
                </a:tc>
                <a:tc>
                  <a:txBody>
                    <a:bodyPr/>
                    <a:lstStyle/>
                    <a:p>
                      <a:pPr algn="ctr">
                        <a:defRPr sz="1600" b="1">
                          <a:solidFill>
                            <a:srgbClr val="25354A"/>
                          </a:solidFill>
                          <a:latin typeface="Calibri"/>
                        </a:defRPr>
                      </a:pPr>
                      <a:r>
                        <a:t>Input / source</a:t>
                      </a:r>
                    </a:p>
                  </a:txBody>
                  <a:tcPr marL="109728" marR="109728" marT="64008" marB="64008" anchor="ctr">
                    <a:solidFill>
                      <a:srgbClr val="EEF3FB"/>
                    </a:solidFill>
                  </a:tcPr>
                </a:tc>
                <a:tc>
                  <a:txBody>
                    <a:bodyPr/>
                    <a:lstStyle/>
                    <a:p>
                      <a:pPr algn="ctr">
                        <a:defRPr sz="1600" b="1">
                          <a:solidFill>
                            <a:srgbClr val="25354A"/>
                          </a:solidFill>
                          <a:latin typeface="Calibri"/>
                        </a:defRPr>
                      </a:pPr>
                      <a:r>
                        <a:t>Accuracy (%)</a:t>
                      </a:r>
                    </a:p>
                  </a:txBody>
                  <a:tcPr marL="109728" marR="109728" marT="64008" marB="64008" anchor="ctr">
                    <a:solidFill>
                      <a:srgbClr val="EEF3FB"/>
                    </a:solidFill>
                  </a:tcPr>
                </a:tc>
                <a:tc>
                  <a:txBody>
                    <a:bodyPr/>
                    <a:lstStyle/>
                    <a:p>
                      <a:pPr algn="ctr">
                        <a:defRPr sz="1600" b="1">
                          <a:solidFill>
                            <a:srgbClr val="25354A"/>
                          </a:solidFill>
                          <a:latin typeface="Calibri"/>
                        </a:defRPr>
                      </a:pPr>
                      <a:r>
                        <a:t>Macro F1 (%)</a:t>
                      </a:r>
                    </a:p>
                  </a:txBody>
                  <a:tcPr marL="109728" marR="109728" marT="64008" marB="64008" anchor="ctr">
                    <a:solidFill>
                      <a:srgbClr val="EEF3FB"/>
                    </a:solidFill>
                  </a:tcPr>
                </a:tc>
              </a:tr>
              <a:tr h="393192">
                <a:tc>
                  <a:txBody>
                    <a:bodyPr/>
                    <a:lstStyle/>
                    <a:p>
                      <a:pPr algn="l">
                        <a:defRPr sz="1600" b="0">
                          <a:solidFill>
                            <a:srgbClr val="263343"/>
                          </a:solidFill>
                          <a:latin typeface="Calibri"/>
                        </a:defRPr>
                      </a:pPr>
                      <a:r>
                        <a:t>all-MiniLM-L6-v2</a:t>
                      </a:r>
                    </a:p>
                  </a:txBody>
                  <a:tcPr marL="109728" marR="109728" marT="64008" marB="64008" anchor="ctr">
                    <a:solidFill>
                      <a:srgbClr val="F8FAFC"/>
                    </a:solidFill>
                  </a:tcPr>
                </a:tc>
                <a:tc>
                  <a:txBody>
                    <a:bodyPr/>
                    <a:lstStyle/>
                    <a:p>
                      <a:pPr algn="ctr">
                        <a:defRPr sz="1600" b="0">
                          <a:solidFill>
                            <a:srgbClr val="263343"/>
                          </a:solidFill>
                          <a:latin typeface="Calibri"/>
                        </a:defRPr>
                      </a:pPr>
                      <a:r>
                        <a:t>Review baseline</a:t>
                      </a:r>
                    </a:p>
                  </a:txBody>
                  <a:tcPr marL="109728" marR="109728" marT="64008" marB="64008" anchor="ctr">
                    <a:solidFill>
                      <a:srgbClr val="F8FAFC"/>
                    </a:solidFill>
                  </a:tcPr>
                </a:tc>
                <a:tc>
                  <a:txBody>
                    <a:bodyPr/>
                    <a:lstStyle/>
                    <a:p>
                      <a:pPr algn="ctr">
                        <a:defRPr sz="1600" b="0">
                          <a:solidFill>
                            <a:srgbClr val="263343"/>
                          </a:solidFill>
                          <a:latin typeface="Calibri"/>
                        </a:defRPr>
                      </a:pPr>
                      <a:r>
                        <a:t>77.33</a:t>
                      </a:r>
                    </a:p>
                  </a:txBody>
                  <a:tcPr marL="109728" marR="109728" marT="64008" marB="64008" anchor="ctr">
                    <a:solidFill>
                      <a:srgbClr val="F8FAFC"/>
                    </a:solidFill>
                  </a:tcPr>
                </a:tc>
                <a:tc>
                  <a:txBody>
                    <a:bodyPr/>
                    <a:lstStyle/>
                    <a:p>
                      <a:pPr algn="ctr">
                        <a:defRPr sz="1600" b="0">
                          <a:solidFill>
                            <a:srgbClr val="263343"/>
                          </a:solidFill>
                          <a:latin typeface="Calibri"/>
                        </a:defRPr>
                      </a:pPr>
                      <a:r>
                        <a:t>74.29</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Qwen3-Embedding-0.6B</a:t>
                      </a:r>
                    </a:p>
                  </a:txBody>
                  <a:tcPr marL="109728" marR="109728" marT="64008" marB="64008" anchor="ctr">
                    <a:solidFill>
                      <a:srgbClr val="FFFFFF"/>
                    </a:solidFill>
                  </a:tcPr>
                </a:tc>
                <a:tc>
                  <a:txBody>
                    <a:bodyPr/>
                    <a:lstStyle/>
                    <a:p>
                      <a:pPr algn="ctr">
                        <a:defRPr sz="1600" b="0">
                          <a:solidFill>
                            <a:srgbClr val="263343"/>
                          </a:solidFill>
                          <a:latin typeface="Calibri"/>
                        </a:defRPr>
                      </a:pPr>
                      <a:r>
                        <a:t>Review baseline</a:t>
                      </a:r>
                    </a:p>
                  </a:txBody>
                  <a:tcPr marL="109728" marR="109728" marT="64008" marB="64008" anchor="ctr">
                    <a:solidFill>
                      <a:srgbClr val="FFFFFF"/>
                    </a:solidFill>
                  </a:tcPr>
                </a:tc>
                <a:tc>
                  <a:txBody>
                    <a:bodyPr/>
                    <a:lstStyle/>
                    <a:p>
                      <a:pPr algn="ctr">
                        <a:defRPr sz="1600" b="0">
                          <a:solidFill>
                            <a:srgbClr val="263343"/>
                          </a:solidFill>
                          <a:latin typeface="Calibri"/>
                        </a:defRPr>
                      </a:pPr>
                      <a:r>
                        <a:t>91.08</a:t>
                      </a:r>
                    </a:p>
                  </a:txBody>
                  <a:tcPr marL="109728" marR="109728" marT="64008" marB="64008" anchor="ctr">
                    <a:solidFill>
                      <a:srgbClr val="FFFFFF"/>
                    </a:solidFill>
                  </a:tcPr>
                </a:tc>
                <a:tc>
                  <a:txBody>
                    <a:bodyPr/>
                    <a:lstStyle/>
                    <a:p>
                      <a:pPr algn="ctr">
                        <a:defRPr sz="1600" b="0">
                          <a:solidFill>
                            <a:srgbClr val="263343"/>
                          </a:solidFill>
                          <a:latin typeface="Calibri"/>
                        </a:defRPr>
                      </a:pPr>
                      <a:r>
                        <a:t>91.11</a:t>
                      </a:r>
                    </a:p>
                  </a:txBody>
                  <a:tcPr marL="109728" marR="109728" marT="64008" marB="64008" anchor="ctr">
                    <a:solidFill>
                      <a:srgbClr val="FFFFFF"/>
                    </a:solidFill>
                  </a:tcPr>
                </a:tc>
              </a:tr>
              <a:tr h="393192">
                <a:tc>
                  <a:txBody>
                    <a:bodyPr/>
                    <a:lstStyle/>
                    <a:p>
                      <a:pPr algn="l">
                        <a:defRPr sz="16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600" b="0">
                          <a:solidFill>
                            <a:srgbClr val="263343"/>
                          </a:solidFill>
                          <a:latin typeface="Calibri"/>
                        </a:defRPr>
                      </a:pPr>
                      <a:r>
                        <a:t>88.09</a:t>
                      </a:r>
                    </a:p>
                  </a:txBody>
                  <a:tcPr marL="109728" marR="109728" marT="64008" marB="64008" anchor="ctr">
                    <a:solidFill>
                      <a:srgbClr val="F8FAFC"/>
                    </a:solidFill>
                  </a:tcPr>
                </a:tc>
                <a:tc>
                  <a:txBody>
                    <a:bodyPr/>
                    <a:lstStyle/>
                    <a:p>
                      <a:pPr algn="ctr">
                        <a:defRPr sz="1600" b="0">
                          <a:solidFill>
                            <a:srgbClr val="263343"/>
                          </a:solidFill>
                          <a:latin typeface="Calibri"/>
                        </a:defRPr>
                      </a:pPr>
                      <a:r>
                        <a:t>88.20</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ModernBERT-large · review</a:t>
                      </a:r>
                    </a:p>
                  </a:txBody>
                  <a:tcPr marL="109728" marR="109728" marT="64008" marB="64008" anchor="ctr">
                    <a:solidFill>
                      <a:srgbClr val="FFFFFF"/>
                    </a:solidFill>
                  </a:tcPr>
                </a:tc>
                <a:tc>
                  <a:txBody>
                    <a:bodyPr/>
                    <a:lstStyle/>
                    <a:p>
                      <a:pPr algn="ctr">
                        <a:defRPr sz="1600" b="0">
                          <a:solidFill>
                            <a:srgbClr val="263343"/>
                          </a:solidFill>
                          <a:latin typeface="Calibri"/>
                        </a:defRPr>
                      </a:pPr>
                      <a:r>
                        <a:t>Review run</a:t>
                      </a:r>
                    </a:p>
                  </a:txBody>
                  <a:tcPr marL="109728" marR="109728" marT="64008" marB="64008" anchor="ctr">
                    <a:solidFill>
                      <a:srgbClr val="FFFFFF"/>
                    </a:solidFill>
                  </a:tcPr>
                </a:tc>
                <a:tc>
                  <a:txBody>
                    <a:bodyPr/>
                    <a:lstStyle/>
                    <a:p>
                      <a:pPr algn="ctr">
                        <a:defRPr sz="1600" b="0">
                          <a:solidFill>
                            <a:srgbClr val="263343"/>
                          </a:solidFill>
                          <a:latin typeface="Calibri"/>
                        </a:defRPr>
                      </a:pPr>
                      <a:r>
                        <a:t>92.98</a:t>
                      </a:r>
                    </a:p>
                  </a:txBody>
                  <a:tcPr marL="109728" marR="109728" marT="64008" marB="64008" anchor="ctr">
                    <a:solidFill>
                      <a:srgbClr val="FFFFFF"/>
                    </a:solidFill>
                  </a:tcPr>
                </a:tc>
                <a:tc>
                  <a:txBody>
                    <a:bodyPr/>
                    <a:lstStyle/>
                    <a:p>
                      <a:pPr algn="ctr">
                        <a:defRPr sz="1600" b="0">
                          <a:solidFill>
                            <a:srgbClr val="263343"/>
                          </a:solidFill>
                          <a:latin typeface="Calibri"/>
                        </a:defRPr>
                      </a:pPr>
                      <a:r>
                        <a:t>93.05</a:t>
                      </a:r>
                    </a:p>
                  </a:txBody>
                  <a:tcPr marL="109728" marR="109728" marT="64008" marB="64008" anchor="ctr">
                    <a:solidFill>
                      <a:srgbClr val="FFFFFF"/>
                    </a:solidFill>
                  </a:tcPr>
                </a:tc>
              </a:tr>
              <a:tr h="393192">
                <a:tc>
                  <a:txBody>
                    <a:bodyPr/>
                    <a:lstStyle/>
                    <a:p>
                      <a:pPr algn="l">
                        <a:defRPr sz="1600" b="0">
                          <a:solidFill>
                            <a:srgbClr val="263343"/>
                          </a:solidFill>
                          <a:latin typeface="Calibri"/>
                        </a:defRPr>
                      </a:pPr>
                      <a:r>
                        <a:t>ModernBERT-large · saved</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600" b="0">
                          <a:solidFill>
                            <a:srgbClr val="263343"/>
                          </a:solidFill>
                          <a:latin typeface="Calibri"/>
                        </a:defRPr>
                      </a:pPr>
                      <a:r>
                        <a:t>93.33</a:t>
                      </a:r>
                    </a:p>
                  </a:txBody>
                  <a:tcPr marL="109728" marR="109728" marT="64008" marB="64008" anchor="ctr">
                    <a:solidFill>
                      <a:srgbClr val="F8FAFC"/>
                    </a:solidFill>
                  </a:tcPr>
                </a:tc>
                <a:tc>
                  <a:txBody>
                    <a:bodyPr/>
                    <a:lstStyle/>
                    <a:p>
                      <a:pPr algn="ctr">
                        <a:defRPr sz="1600" b="0">
                          <a:solidFill>
                            <a:srgbClr val="263343"/>
                          </a:solidFill>
                          <a:latin typeface="Calibri"/>
                        </a:defRPr>
                      </a:pPr>
                      <a:r>
                        <a:t>93.39</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 SFT · A · sentence → label</a:t>
                      </a:r>
                    </a:p>
                  </a:txBody>
                  <a:tcPr marL="109728" marR="109728" marT="64008" marB="64008" anchor="ctr">
                    <a:solidFill>
                      <a:srgbClr val="EFF6F0"/>
                    </a:solidFill>
                  </a:tcPr>
                </a:tc>
                <a:tc>
                  <a:txBody>
                    <a:bodyPr/>
                    <a:lstStyle/>
                    <a:p>
                      <a:pPr algn="ctr">
                        <a:defRPr sz="1600" b="0">
                          <a:solidFill>
                            <a:srgbClr val="263343"/>
                          </a:solidFill>
                          <a:latin typeface="Calibri"/>
                        </a:defRPr>
                      </a:pPr>
                      <a:r>
                        <a:t>Sentence only</a:t>
                      </a:r>
                    </a:p>
                  </a:txBody>
                  <a:tcPr marL="109728" marR="109728" marT="64008" marB="64008" anchor="ctr">
                    <a:solidFill>
                      <a:srgbClr val="EFF6F0"/>
                    </a:solidFill>
                  </a:tcPr>
                </a:tc>
                <a:tc>
                  <a:txBody>
                    <a:bodyPr/>
                    <a:lstStyle/>
                    <a:p>
                      <a:pPr algn="ctr">
                        <a:defRPr sz="1600" b="0">
                          <a:solidFill>
                            <a:srgbClr val="263343"/>
                          </a:solidFill>
                          <a:latin typeface="Calibri"/>
                        </a:defRPr>
                      </a:pPr>
                      <a:r>
                        <a:t>93.84</a:t>
                      </a:r>
                    </a:p>
                  </a:txBody>
                  <a:tcPr marL="109728" marR="109728" marT="64008" marB="64008" anchor="ctr">
                    <a:solidFill>
                      <a:srgbClr val="EFF6F0"/>
                    </a:solidFill>
                  </a:tcPr>
                </a:tc>
                <a:tc>
                  <a:txBody>
                    <a:bodyPr/>
                    <a:lstStyle/>
                    <a:p>
                      <a:pPr algn="ctr">
                        <a:defRPr sz="1600" b="0">
                          <a:solidFill>
                            <a:srgbClr val="263343"/>
                          </a:solidFill>
                          <a:latin typeface="Calibri"/>
                        </a:defRPr>
                      </a:pPr>
                      <a:r>
                        <a:t>93.89</a:t>
                      </a:r>
                    </a:p>
                  </a:txBody>
                  <a:tcPr marL="109728" marR="109728" marT="64008" marB="64008" anchor="ctr">
                    <a:solidFill>
                      <a:srgbClr val="EFF6F0"/>
                    </a:solidFill>
                  </a:tcPr>
                </a:tc>
              </a:tr>
              <a:tr h="393192">
                <a:tc>
                  <a:txBody>
                    <a:bodyPr/>
                    <a:lstStyle/>
                    <a:p>
                      <a:pPr algn="l">
                        <a:defRPr sz="1600" b="0">
                          <a:solidFill>
                            <a:srgbClr val="263343"/>
                          </a:solidFill>
                          <a:latin typeface="Calibri"/>
                        </a:defRPr>
                      </a:pPr>
                      <a:r>
                        <a:t>Qwen SFT · B · all fields</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600" b="0">
                          <a:solidFill>
                            <a:srgbClr val="263343"/>
                          </a:solidFill>
                          <a:latin typeface="Calibri"/>
                        </a:defRPr>
                      </a:pPr>
                      <a:r>
                        <a:t>93.61</a:t>
                      </a:r>
                    </a:p>
                  </a:txBody>
                  <a:tcPr marL="109728" marR="109728" marT="64008" marB="64008" anchor="ctr">
                    <a:solidFill>
                      <a:srgbClr val="F8FAFC"/>
                    </a:solidFill>
                  </a:tcPr>
                </a:tc>
                <a:tc>
                  <a:txBody>
                    <a:bodyPr/>
                    <a:lstStyle/>
                    <a:p>
                      <a:pPr algn="ctr">
                        <a:defRPr sz="1600" b="0">
                          <a:solidFill>
                            <a:srgbClr val="263343"/>
                          </a:solidFill>
                          <a:latin typeface="Calibri"/>
                        </a:defRPr>
                      </a:pPr>
                      <a:r>
                        <a:t>93.64</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 SFT · C · metadata → label</a:t>
                      </a:r>
                    </a:p>
                  </a:txBody>
                  <a:tcPr marL="109728" marR="109728" marT="64008" marB="64008" anchor="ctr">
                    <a:solidFill>
                      <a:srgbClr val="FFFFFF"/>
                    </a:solidFill>
                  </a:tcPr>
                </a:tc>
                <a:tc>
                  <a:txBody>
                    <a:bodyPr/>
                    <a:lstStyle/>
                    <a:p>
                      <a:pPr algn="ctr">
                        <a:defRPr sz="1600" b="0">
                          <a:solidFill>
                            <a:srgbClr val="263343"/>
                          </a:solidFill>
                          <a:latin typeface="Calibri"/>
                        </a:defRPr>
                      </a:pPr>
                      <a:r>
                        <a:t>Sentence + metadata</a:t>
                      </a:r>
                    </a:p>
                  </a:txBody>
                  <a:tcPr marL="109728" marR="109728" marT="64008" marB="64008" anchor="ctr">
                    <a:solidFill>
                      <a:srgbClr val="FFFFFF"/>
                    </a:solidFill>
                  </a:tcPr>
                </a:tc>
                <a:tc>
                  <a:txBody>
                    <a:bodyPr/>
                    <a:lstStyle/>
                    <a:p>
                      <a:pPr algn="ctr">
                        <a:defRPr sz="1600" b="0">
                          <a:solidFill>
                            <a:srgbClr val="263343"/>
                          </a:solidFill>
                          <a:latin typeface="Calibri"/>
                        </a:defRPr>
                      </a:pPr>
                      <a:r>
                        <a:t>95.51</a:t>
                      </a:r>
                    </a:p>
                  </a:txBody>
                  <a:tcPr marL="109728" marR="109728" marT="64008" marB="64008" anchor="ctr">
                    <a:solidFill>
                      <a:srgbClr val="FFFFFF"/>
                    </a:solidFill>
                  </a:tcPr>
                </a:tc>
                <a:tc>
                  <a:txBody>
                    <a:bodyPr/>
                    <a:lstStyle/>
                    <a:p>
                      <a:pPr algn="ctr">
                        <a:defRPr sz="1600" b="0">
                          <a:solidFill>
                            <a:srgbClr val="263343"/>
                          </a:solidFill>
                          <a:latin typeface="Calibri"/>
                        </a:defRPr>
                      </a:pPr>
                      <a:r>
                        <a:t>95.55</a:t>
                      </a:r>
                    </a:p>
                  </a:txBody>
                  <a:tcPr marL="109728" marR="109728" marT="64008" marB="64008" anchor="ctr">
                    <a:solidFill>
                      <a:srgbClr val="FFFFFF"/>
                    </a:solidFill>
                  </a:tcPr>
                </a:tc>
              </a:tr>
            </a:tbl>
          </a:graphicData>
        </a:graphic>
      </p:graphicFrame>
      <p:sp>
        <p:nvSpPr>
          <p:cNvPr id="13" name="clara-claim:s15-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Qwen rows use the label metric. A/B/C are separate SFT adapters; Base/SFT pairs are on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6-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16</a:t>
            </a:r>
            <a:endParaRPr lang="en-US" sz="1600" dirty="0"/>
          </a:p>
        </p:txBody>
      </p:sp>
      <p:sp>
        <p:nvSpPr>
          <p:cNvPr id="11" name="clara-claim:s1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Three tasks × Base / SFT</a:t>
            </a:r>
          </a:p>
        </p:txBody>
      </p:sp>
      <p:graphicFrame>
        <p:nvGraphicFramePr>
          <p:cNvPr id="12" name="Table 11"/>
          <p:cNvGraphicFramePr>
            <a:graphicFrameLocks noGrp="1"/>
          </p:cNvGraphicFramePr>
          <p:nvPr/>
        </p:nvGraphicFramePr>
        <p:xfrm>
          <a:off x="932688" y="1938528"/>
          <a:ext cx="10287000" cy="3392424"/>
        </p:xfrm>
        <a:graphic>
          <a:graphicData uri="http://schemas.openxmlformats.org/drawingml/2006/table">
            <a:tbl>
              <a:tblPr firstRow="1" bandRow="1">
                <a:tableStyleId>{5C22544A-7EE6-4342-B048-85BDC9FD1C3A}</a:tableStyleId>
              </a:tblPr>
              <a:tblGrid>
                <a:gridCol w="5074920"/>
                <a:gridCol w="1143000"/>
                <a:gridCol w="1965960"/>
                <a:gridCol w="2103120"/>
              </a:tblGrid>
              <a:tr h="484632">
                <a:tc>
                  <a:txBody>
                    <a:bodyPr/>
                    <a:lstStyle/>
                    <a:p>
                      <a:pPr algn="l">
                        <a:defRPr sz="1700" b="1">
                          <a:solidFill>
                            <a:srgbClr val="25354A"/>
                          </a:solidFill>
                          <a:latin typeface="Calibri"/>
                        </a:defRPr>
                      </a:pPr>
                      <a:r>
                        <a:t>Input → predicted output</a:t>
                      </a:r>
                    </a:p>
                  </a:txBody>
                  <a:tcPr marL="109728" marR="109728" marT="64008" marB="64008" anchor="ctr">
                    <a:solidFill>
                      <a:srgbClr val="EEF3FB"/>
                    </a:solidFill>
                  </a:tcPr>
                </a:tc>
                <a:tc>
                  <a:txBody>
                    <a:bodyPr/>
                    <a:lstStyle/>
                    <a:p>
                      <a:pPr algn="ctr">
                        <a:defRPr sz="1700" b="1">
                          <a:solidFill>
                            <a:srgbClr val="25354A"/>
                          </a:solidFill>
                          <a:latin typeface="Calibri"/>
                        </a:defRPr>
                      </a:pPr>
                      <a:r>
                        <a:t>Model state</a:t>
                      </a:r>
                    </a:p>
                  </a:txBody>
                  <a:tcPr marL="109728" marR="109728" marT="64008" marB="64008" anchor="ctr">
                    <a:solidFill>
                      <a:srgbClr val="EEF3FB"/>
                    </a:solidFill>
                  </a:tcPr>
                </a:tc>
                <a:tc>
                  <a:txBody>
                    <a:bodyPr/>
                    <a:lstStyle/>
                    <a:p>
                      <a:pPr algn="ctr">
                        <a:defRPr sz="1700" b="1">
                          <a:solidFill>
                            <a:srgbClr val="25354A"/>
                          </a:solidFill>
                          <a:latin typeface="Calibri"/>
                        </a:defRPr>
                      </a:pPr>
                      <a:r>
                        <a:t>Label acc (%)</a:t>
                      </a:r>
                    </a:p>
                  </a:txBody>
                  <a:tcPr marL="109728" marR="109728" marT="64008" marB="64008" anchor="ctr">
                    <a:solidFill>
                      <a:srgbClr val="EEF3FB"/>
                    </a:solidFill>
                  </a:tcPr>
                </a:tc>
                <a:tc>
                  <a:txBody>
                    <a:bodyPr/>
                    <a:lstStyle/>
                    <a:p>
                      <a:pPr algn="ctr">
                        <a:defRPr sz="1700" b="1">
                          <a:solidFill>
                            <a:srgbClr val="25354A"/>
                          </a:solidFill>
                          <a:latin typeface="Calibri"/>
                        </a:defRPr>
                      </a:pPr>
                      <a:r>
                        <a:t>Label macro F1 (%)</a:t>
                      </a:r>
                    </a:p>
                  </a:txBody>
                  <a:tcPr marL="109728" marR="109728" marT="64008" marB="64008" anchor="ctr">
                    <a:solidFill>
                      <a:srgbClr val="EEF3FB"/>
                    </a:solidFill>
                  </a:tcPr>
                </a:tc>
              </a:tr>
              <a:tr h="484632">
                <a:tc>
                  <a:txBody>
                    <a:bodyPr/>
                    <a:lstStyle/>
                    <a:p>
                      <a:pPr algn="l">
                        <a:defRPr sz="1700" b="0">
                          <a:solidFill>
                            <a:srgbClr val="263343"/>
                          </a:solidFill>
                          <a:latin typeface="Calibri"/>
                        </a:defRPr>
                      </a:pPr>
                      <a:r>
                        <a:t>A · Sentence → label</a:t>
                      </a:r>
                    </a:p>
                  </a:txBody>
                  <a:tcPr marL="109728" marR="109728" marT="64008" marB="64008" anchor="ctr">
                    <a:solidFill>
                      <a:srgbClr val="F8FAFC"/>
                    </a:solidFill>
                  </a:tcPr>
                </a:tc>
                <a:tc>
                  <a:txBody>
                    <a:bodyPr/>
                    <a:lstStyle/>
                    <a:p>
                      <a:pPr algn="ctr">
                        <a:defRPr sz="1700" b="0">
                          <a:solidFill>
                            <a:srgbClr val="263343"/>
                          </a:solidFill>
                          <a:latin typeface="Calibri"/>
                        </a:defRPr>
                      </a:pPr>
                      <a:r>
                        <a:t>Base</a:t>
                      </a:r>
                    </a:p>
                  </a:txBody>
                  <a:tcPr marL="109728" marR="109728" marT="64008" marB="64008" anchor="ctr">
                    <a:solidFill>
                      <a:srgbClr val="F8FAFC"/>
                    </a:solidFill>
                  </a:tcPr>
                </a:tc>
                <a:tc>
                  <a:txBody>
                    <a:bodyPr/>
                    <a:lstStyle/>
                    <a:p>
                      <a:pPr algn="ctr">
                        <a:defRPr sz="1700" b="0">
                          <a:solidFill>
                            <a:srgbClr val="263343"/>
                          </a:solidFill>
                          <a:latin typeface="Calibri"/>
                        </a:defRPr>
                      </a:pPr>
                      <a:r>
                        <a:t>23.19</a:t>
                      </a:r>
                    </a:p>
                  </a:txBody>
                  <a:tcPr marL="109728" marR="109728" marT="64008" marB="64008" anchor="ctr">
                    <a:solidFill>
                      <a:srgbClr val="F8FAFC"/>
                    </a:solidFill>
                  </a:tcPr>
                </a:tc>
                <a:tc>
                  <a:txBody>
                    <a:bodyPr/>
                    <a:lstStyle/>
                    <a:p>
                      <a:pPr algn="ctr">
                        <a:defRPr sz="1700" b="0">
                          <a:solidFill>
                            <a:srgbClr val="263343"/>
                          </a:solidFill>
                          <a:latin typeface="Calibri"/>
                        </a:defRPr>
                      </a:pPr>
                      <a:r>
                        <a:t>14.21</a:t>
                      </a:r>
                    </a:p>
                  </a:txBody>
                  <a:tcPr marL="109728" marR="109728" marT="64008" marB="64008" anchor="ctr">
                    <a:solidFill>
                      <a:srgbClr val="F8FAFC"/>
                    </a:solidFill>
                  </a:tcPr>
                </a:tc>
              </a:tr>
              <a:tr h="484632">
                <a:tc>
                  <a:txBody>
                    <a:bodyPr/>
                    <a:lstStyle/>
                    <a:p>
                      <a:pPr algn="l">
                        <a:defRPr sz="1700" b="0">
                          <a:solidFill>
                            <a:srgbClr val="263343"/>
                          </a:solidFill>
                          <a:latin typeface="Calibri"/>
                        </a:defRPr>
                      </a:pPr>
                      <a:r>
                        <a:t>A · Sentence → label</a:t>
                      </a:r>
                    </a:p>
                  </a:txBody>
                  <a:tcPr marL="109728" marR="109728" marT="64008" marB="64008" anchor="ctr">
                    <a:solidFill>
                      <a:srgbClr val="EFF6F0"/>
                    </a:solidFill>
                  </a:tcPr>
                </a:tc>
                <a:tc>
                  <a:txBody>
                    <a:bodyPr/>
                    <a:lstStyle/>
                    <a:p>
                      <a:pPr algn="ctr">
                        <a:defRPr sz="1700" b="0">
                          <a:solidFill>
                            <a:srgbClr val="263343"/>
                          </a:solidFill>
                          <a:latin typeface="Calibri"/>
                        </a:defRPr>
                      </a:pPr>
                      <a:r>
                        <a:t>SFT</a:t>
                      </a:r>
                    </a:p>
                  </a:txBody>
                  <a:tcPr marL="109728" marR="109728" marT="64008" marB="64008" anchor="ctr">
                    <a:solidFill>
                      <a:srgbClr val="EFF6F0"/>
                    </a:solidFill>
                  </a:tcPr>
                </a:tc>
                <a:tc>
                  <a:txBody>
                    <a:bodyPr/>
                    <a:lstStyle/>
                    <a:p>
                      <a:pPr algn="ctr">
                        <a:defRPr sz="1700" b="0">
                          <a:solidFill>
                            <a:srgbClr val="263343"/>
                          </a:solidFill>
                          <a:latin typeface="Calibri"/>
                        </a:defRPr>
                      </a:pPr>
                      <a:r>
                        <a:t>93.84</a:t>
                      </a:r>
                    </a:p>
                  </a:txBody>
                  <a:tcPr marL="109728" marR="109728" marT="64008" marB="64008" anchor="ctr">
                    <a:solidFill>
                      <a:srgbClr val="EFF6F0"/>
                    </a:solidFill>
                  </a:tcPr>
                </a:tc>
                <a:tc>
                  <a:txBody>
                    <a:bodyPr/>
                    <a:lstStyle/>
                    <a:p>
                      <a:pPr algn="ctr">
                        <a:defRPr sz="1700" b="0">
                          <a:solidFill>
                            <a:srgbClr val="263343"/>
                          </a:solidFill>
                          <a:latin typeface="Calibri"/>
                        </a:defRPr>
                      </a:pPr>
                      <a:r>
                        <a:t>93.89</a:t>
                      </a:r>
                    </a:p>
                  </a:txBody>
                  <a:tcPr marL="109728" marR="109728" marT="64008" marB="64008" anchor="ctr">
                    <a:solidFill>
                      <a:srgbClr val="EFF6F0"/>
                    </a:solidFill>
                  </a:tcPr>
                </a:tc>
              </a:tr>
              <a:tr h="484632">
                <a:tc>
                  <a:txBody>
                    <a:bodyPr/>
                    <a:lstStyle/>
                    <a:p>
                      <a:pPr algn="l">
                        <a:defRPr sz="1700" b="0">
                          <a:solidFill>
                            <a:srgbClr val="263343"/>
                          </a:solidFill>
                          <a:latin typeface="Calibri"/>
                        </a:defRPr>
                      </a:pPr>
                      <a:r>
                        <a:t>B · Sentence → category + target + label</a:t>
                      </a:r>
                    </a:p>
                  </a:txBody>
                  <a:tcPr marL="109728" marR="109728" marT="64008" marB="64008" anchor="ctr">
                    <a:solidFill>
                      <a:srgbClr val="F8FAFC"/>
                    </a:solidFill>
                  </a:tcPr>
                </a:tc>
                <a:tc>
                  <a:txBody>
                    <a:bodyPr/>
                    <a:lstStyle/>
                    <a:p>
                      <a:pPr algn="ctr">
                        <a:defRPr sz="1700" b="0">
                          <a:solidFill>
                            <a:srgbClr val="263343"/>
                          </a:solidFill>
                          <a:latin typeface="Calibri"/>
                        </a:defRPr>
                      </a:pPr>
                      <a:r>
                        <a:t>Base</a:t>
                      </a:r>
                    </a:p>
                  </a:txBody>
                  <a:tcPr marL="109728" marR="109728" marT="64008" marB="64008" anchor="ctr">
                    <a:solidFill>
                      <a:srgbClr val="F8FAFC"/>
                    </a:solidFill>
                  </a:tcPr>
                </a:tc>
                <a:tc>
                  <a:txBody>
                    <a:bodyPr/>
                    <a:lstStyle/>
                    <a:p>
                      <a:pPr algn="ctr">
                        <a:defRPr sz="1700" b="0">
                          <a:solidFill>
                            <a:srgbClr val="263343"/>
                          </a:solidFill>
                          <a:latin typeface="Calibri"/>
                        </a:defRPr>
                      </a:pPr>
                      <a:r>
                        <a:t>34.46</a:t>
                      </a:r>
                    </a:p>
                  </a:txBody>
                  <a:tcPr marL="109728" marR="109728" marT="64008" marB="64008" anchor="ctr">
                    <a:solidFill>
                      <a:srgbClr val="F8FAFC"/>
                    </a:solidFill>
                  </a:tcPr>
                </a:tc>
                <a:tc>
                  <a:txBody>
                    <a:bodyPr/>
                    <a:lstStyle/>
                    <a:p>
                      <a:pPr algn="ctr">
                        <a:defRPr sz="1700" b="0">
                          <a:solidFill>
                            <a:srgbClr val="263343"/>
                          </a:solidFill>
                          <a:latin typeface="Calibri"/>
                        </a:defRPr>
                      </a:pPr>
                      <a:r>
                        <a:t>28.08</a:t>
                      </a:r>
                    </a:p>
                  </a:txBody>
                  <a:tcPr marL="109728" marR="109728" marT="64008" marB="64008" anchor="ctr">
                    <a:solidFill>
                      <a:srgbClr val="F8FAFC"/>
                    </a:solidFill>
                  </a:tcPr>
                </a:tc>
              </a:tr>
              <a:tr h="484632">
                <a:tc>
                  <a:txBody>
                    <a:bodyPr/>
                    <a:lstStyle/>
                    <a:p>
                      <a:pPr algn="l">
                        <a:defRPr sz="1700" b="0">
                          <a:solidFill>
                            <a:srgbClr val="263343"/>
                          </a:solidFill>
                          <a:latin typeface="Calibri"/>
                        </a:defRPr>
                      </a:pPr>
                      <a:r>
                        <a:t>B · Sentence → category + target + label</a:t>
                      </a:r>
                    </a:p>
                  </a:txBody>
                  <a:tcPr marL="109728" marR="109728" marT="64008" marB="64008" anchor="ctr">
                    <a:solidFill>
                      <a:srgbClr val="EFF6F0"/>
                    </a:solidFill>
                  </a:tcPr>
                </a:tc>
                <a:tc>
                  <a:txBody>
                    <a:bodyPr/>
                    <a:lstStyle/>
                    <a:p>
                      <a:pPr algn="ctr">
                        <a:defRPr sz="1700" b="0">
                          <a:solidFill>
                            <a:srgbClr val="263343"/>
                          </a:solidFill>
                          <a:latin typeface="Calibri"/>
                        </a:defRPr>
                      </a:pPr>
                      <a:r>
                        <a:t>SFT</a:t>
                      </a:r>
                    </a:p>
                  </a:txBody>
                  <a:tcPr marL="109728" marR="109728" marT="64008" marB="64008" anchor="ctr">
                    <a:solidFill>
                      <a:srgbClr val="EFF6F0"/>
                    </a:solidFill>
                  </a:tcPr>
                </a:tc>
                <a:tc>
                  <a:txBody>
                    <a:bodyPr/>
                    <a:lstStyle/>
                    <a:p>
                      <a:pPr algn="ctr">
                        <a:defRPr sz="1700" b="0">
                          <a:solidFill>
                            <a:srgbClr val="263343"/>
                          </a:solidFill>
                          <a:latin typeface="Calibri"/>
                        </a:defRPr>
                      </a:pPr>
                      <a:r>
                        <a:t>93.61</a:t>
                      </a:r>
                    </a:p>
                  </a:txBody>
                  <a:tcPr marL="109728" marR="109728" marT="64008" marB="64008" anchor="ctr">
                    <a:solidFill>
                      <a:srgbClr val="EFF6F0"/>
                    </a:solidFill>
                  </a:tcPr>
                </a:tc>
                <a:tc>
                  <a:txBody>
                    <a:bodyPr/>
                    <a:lstStyle/>
                    <a:p>
                      <a:pPr algn="ctr">
                        <a:defRPr sz="1700" b="0">
                          <a:solidFill>
                            <a:srgbClr val="263343"/>
                          </a:solidFill>
                          <a:latin typeface="Calibri"/>
                        </a:defRPr>
                      </a:pPr>
                      <a:r>
                        <a:t>93.64</a:t>
                      </a:r>
                    </a:p>
                  </a:txBody>
                  <a:tcPr marL="109728" marR="109728" marT="64008" marB="64008" anchor="ctr">
                    <a:solidFill>
                      <a:srgbClr val="EFF6F0"/>
                    </a:solidFill>
                  </a:tcPr>
                </a:tc>
              </a:tr>
              <a:tr h="484632">
                <a:tc>
                  <a:txBody>
                    <a:bodyPr/>
                    <a:lstStyle/>
                    <a:p>
                      <a:pPr algn="l">
                        <a:defRPr sz="1700" b="0">
                          <a:solidFill>
                            <a:srgbClr val="263343"/>
                          </a:solidFill>
                          <a:latin typeface="Calibri"/>
                        </a:defRPr>
                      </a:pPr>
                      <a:r>
                        <a:t>C · Sentence + category + target → label</a:t>
                      </a:r>
                    </a:p>
                  </a:txBody>
                  <a:tcPr marL="109728" marR="109728" marT="64008" marB="64008" anchor="ctr">
                    <a:solidFill>
                      <a:srgbClr val="F8FAFC"/>
                    </a:solidFill>
                  </a:tcPr>
                </a:tc>
                <a:tc>
                  <a:txBody>
                    <a:bodyPr/>
                    <a:lstStyle/>
                    <a:p>
                      <a:pPr algn="ctr">
                        <a:defRPr sz="1700" b="0">
                          <a:solidFill>
                            <a:srgbClr val="263343"/>
                          </a:solidFill>
                          <a:latin typeface="Calibri"/>
                        </a:defRPr>
                      </a:pPr>
                      <a:r>
                        <a:t>Base</a:t>
                      </a:r>
                    </a:p>
                  </a:txBody>
                  <a:tcPr marL="109728" marR="109728" marT="64008" marB="64008" anchor="ctr">
                    <a:solidFill>
                      <a:srgbClr val="F8FAFC"/>
                    </a:solidFill>
                  </a:tcPr>
                </a:tc>
                <a:tc>
                  <a:txBody>
                    <a:bodyPr/>
                    <a:lstStyle/>
                    <a:p>
                      <a:pPr algn="ctr">
                        <a:defRPr sz="1700" b="0">
                          <a:solidFill>
                            <a:srgbClr val="263343"/>
                          </a:solidFill>
                          <a:latin typeface="Calibri"/>
                        </a:defRPr>
                      </a:pPr>
                      <a:r>
                        <a:t>33.54</a:t>
                      </a:r>
                    </a:p>
                  </a:txBody>
                  <a:tcPr marL="109728" marR="109728" marT="64008" marB="64008" anchor="ctr">
                    <a:solidFill>
                      <a:srgbClr val="F8FAFC"/>
                    </a:solidFill>
                  </a:tcPr>
                </a:tc>
                <a:tc>
                  <a:txBody>
                    <a:bodyPr/>
                    <a:lstStyle/>
                    <a:p>
                      <a:pPr algn="ctr">
                        <a:defRPr sz="1700" b="0">
                          <a:solidFill>
                            <a:srgbClr val="263343"/>
                          </a:solidFill>
                          <a:latin typeface="Calibri"/>
                        </a:defRPr>
                      </a:pPr>
                      <a:r>
                        <a:t>27.63</a:t>
                      </a:r>
                    </a:p>
                  </a:txBody>
                  <a:tcPr marL="109728" marR="109728" marT="64008" marB="64008" anchor="ctr">
                    <a:solidFill>
                      <a:srgbClr val="F8FAFC"/>
                    </a:solidFill>
                  </a:tcPr>
                </a:tc>
              </a:tr>
              <a:tr h="484632">
                <a:tc>
                  <a:txBody>
                    <a:bodyPr/>
                    <a:lstStyle/>
                    <a:p>
                      <a:pPr algn="l">
                        <a:defRPr sz="1700" b="0">
                          <a:solidFill>
                            <a:srgbClr val="263343"/>
                          </a:solidFill>
                          <a:latin typeface="Calibri"/>
                        </a:defRPr>
                      </a:pPr>
                      <a:r>
                        <a:t>C · Sentence + category + target → label</a:t>
                      </a:r>
                    </a:p>
                  </a:txBody>
                  <a:tcPr marL="109728" marR="109728" marT="64008" marB="64008" anchor="ctr">
                    <a:solidFill>
                      <a:srgbClr val="EFF6F0"/>
                    </a:solidFill>
                  </a:tcPr>
                </a:tc>
                <a:tc>
                  <a:txBody>
                    <a:bodyPr/>
                    <a:lstStyle/>
                    <a:p>
                      <a:pPr algn="ctr">
                        <a:defRPr sz="1700" b="0">
                          <a:solidFill>
                            <a:srgbClr val="263343"/>
                          </a:solidFill>
                          <a:latin typeface="Calibri"/>
                        </a:defRPr>
                      </a:pPr>
                      <a:r>
                        <a:t>SFT</a:t>
                      </a:r>
                    </a:p>
                  </a:txBody>
                  <a:tcPr marL="109728" marR="109728" marT="64008" marB="64008" anchor="ctr">
                    <a:solidFill>
                      <a:srgbClr val="EFF6F0"/>
                    </a:solidFill>
                  </a:tcPr>
                </a:tc>
                <a:tc>
                  <a:txBody>
                    <a:bodyPr/>
                    <a:lstStyle/>
                    <a:p>
                      <a:pPr algn="ctr">
                        <a:defRPr sz="1700" b="0">
                          <a:solidFill>
                            <a:srgbClr val="263343"/>
                          </a:solidFill>
                          <a:latin typeface="Calibri"/>
                        </a:defRPr>
                      </a:pPr>
                      <a:r>
                        <a:t>95.51</a:t>
                      </a:r>
                    </a:p>
                  </a:txBody>
                  <a:tcPr marL="109728" marR="109728" marT="64008" marB="64008" anchor="ctr">
                    <a:solidFill>
                      <a:srgbClr val="EFF6F0"/>
                    </a:solidFill>
                  </a:tcPr>
                </a:tc>
                <a:tc>
                  <a:txBody>
                    <a:bodyPr/>
                    <a:lstStyle/>
                    <a:p>
                      <a:pPr algn="ctr">
                        <a:defRPr sz="1700" b="0">
                          <a:solidFill>
                            <a:srgbClr val="263343"/>
                          </a:solidFill>
                          <a:latin typeface="Calibri"/>
                        </a:defRPr>
                      </a:pPr>
                      <a:r>
                        <a:t>95.55</a:t>
                      </a:r>
                    </a:p>
                  </a:txBody>
                  <a:tcPr marL="109728" marR="109728" marT="64008" marB="64008" anchor="ctr">
                    <a:solidFill>
                      <a:srgbClr val="EFF6F0"/>
                    </a:solidFill>
                  </a:tcPr>
                </a:tc>
              </a:tr>
            </a:tbl>
          </a:graphicData>
        </a:graphic>
      </p:graphicFrame>
      <p:sp>
        <p:nvSpPr>
          <p:cNvPr id="13" name="clara-claim:s16-t6"/>
          <p:cNvSpPr txBox="1"/>
          <p:nvPr/>
        </p:nvSpPr>
        <p:spPr>
          <a:xfrm>
            <a:off x="1005840" y="5486400"/>
            <a:ext cx="10058400" cy="36576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SFT = supervised fine-tuning with LoRA. One base checkpoint; three task-specific adapters.</a:t>
            </a:r>
          </a:p>
        </p:txBody>
      </p:sp>
      <p:sp>
        <p:nvSpPr>
          <p:cNvPr id="14" name="clara-claim:s16-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scores here evaluate the label. Task B's category, target and joint exact-match scores follow separately.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7-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17</a:t>
            </a:r>
            <a:endParaRPr lang="en-US" sz="1600" dirty="0"/>
          </a:p>
        </p:txBody>
      </p:sp>
      <p:sp>
        <p:nvSpPr>
          <p:cNvPr id="11" name="clara-claim:s1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 · Sentence → label · Base vs SFT</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17-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+70.66 pp</a:t>
            </a:r>
          </a:p>
        </p:txBody>
      </p:sp>
      <p:sp>
        <p:nvSpPr>
          <p:cNvPr id="15" name="clara-claim:s17-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accuracy gain</a:t>
            </a:r>
          </a:p>
        </p:txBody>
      </p:sp>
      <p:sp>
        <p:nvSpPr>
          <p:cNvPr id="16" name="Rounded Rectangle 15"/>
          <p:cNvSpPr/>
          <p:nvPr/>
        </p:nvSpPr>
        <p:spPr>
          <a:xfrm>
            <a:off x="7982712" y="3630168"/>
            <a:ext cx="3227832" cy="19385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17-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Sentence-only input</a:t>
            </a:r>
          </a:p>
        </p:txBody>
      </p:sp>
      <p:sp>
        <p:nvSpPr>
          <p:cNvPr id="18" name="clara-claim:s17-t11"/>
          <p:cNvSpPr txBox="1"/>
          <p:nvPr/>
        </p:nvSpPr>
        <p:spPr>
          <a:xfrm>
            <a:off x="8165592" y="4352544"/>
            <a:ext cx="2862072" cy="1097280"/>
          </a:xfrm>
          <a:prstGeom prst="rect">
            <a:avLst/>
          </a:prstGeom>
          <a:noFill/>
        </p:spPr>
        <p:txBody>
          <a:bodyPr wrap="square" lIns="0" rIns="0" tIns="0" bIns="0" anchor="t">
            <a:spAutoFit/>
          </a:bodyPr>
          <a:lstStyle/>
          <a:p>
            <a:pPr algn="l">
              <a:spcBef>
                <a:spcPts val="0"/>
              </a:spcBef>
              <a:spcAft>
                <a:spcPts val="500"/>
              </a:spcAft>
              <a:defRPr sz="1900" b="0">
                <a:solidFill>
                  <a:srgbClr val="263343"/>
                </a:solidFill>
                <a:latin typeface="Calibri"/>
              </a:defRPr>
            </a:pPr>
            <a:r>
              <a:t>No category/target input</a:t>
            </a:r>
          </a:p>
          <a:p>
            <a:pPr algn="l">
              <a:spcBef>
                <a:spcPts val="0"/>
              </a:spcBef>
              <a:spcAft>
                <a:spcPts val="500"/>
              </a:spcAft>
              <a:defRPr sz="1900" b="0">
                <a:solidFill>
                  <a:srgbClr val="263343"/>
                </a:solidFill>
                <a:latin typeface="Calibri"/>
              </a:defRPr>
            </a:pPr>
            <a:r>
              <a:t>Label-token argmax, 0–4</a:t>
            </a:r>
          </a:p>
          <a:p>
            <a:pPr algn="l">
              <a:spcBef>
                <a:spcPts val="0"/>
              </a:spcBef>
              <a:spcAft>
                <a:spcPts val="500"/>
              </a:spcAft>
              <a:defRPr sz="1900" b="0">
                <a:solidFill>
                  <a:srgbClr val="263343"/>
                </a:solidFill>
                <a:latin typeface="Calibri"/>
              </a:defRPr>
            </a:pPr>
            <a:r>
              <a:t>All 1,738 test examples</a:t>
            </a:r>
          </a:p>
        </p:txBody>
      </p:sp>
      <p:sp>
        <p:nvSpPr>
          <p:cNvPr id="19" name="clara-claim:s17-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23.19% accuracy / 14.21% macro F1; LoRA 93.84% / 93.89%. Base BF16; LoRA FP32; runtimes differ.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8-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18</a:t>
            </a:r>
            <a:endParaRPr lang="en-US" sz="1600" dirty="0"/>
          </a:p>
        </p:txBody>
      </p:sp>
      <p:sp>
        <p:nvSpPr>
          <p:cNvPr id="11" name="clara-claim:s1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Sentence → category + target + label · Base vs SFT</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18-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+59.15 pp</a:t>
            </a:r>
          </a:p>
        </p:txBody>
      </p:sp>
      <p:sp>
        <p:nvSpPr>
          <p:cNvPr id="15" name="clara-claim:s18-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label accuracy gain</a:t>
            </a:r>
          </a:p>
        </p:txBody>
      </p:sp>
      <p:sp>
        <p:nvSpPr>
          <p:cNvPr id="16" name="Rounded Rectangle 15"/>
          <p:cNvSpPr/>
          <p:nvPr/>
        </p:nvSpPr>
        <p:spPr>
          <a:xfrm>
            <a:off x="7982712" y="3630168"/>
            <a:ext cx="3227832" cy="181051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18-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Sentence-only input</a:t>
            </a:r>
          </a:p>
        </p:txBody>
      </p:sp>
      <p:sp>
        <p:nvSpPr>
          <p:cNvPr id="18" name="clara-claim:s18-t11"/>
          <p:cNvSpPr txBox="1"/>
          <p:nvPr/>
        </p:nvSpPr>
        <p:spPr>
          <a:xfrm>
            <a:off x="8165592" y="4352544"/>
            <a:ext cx="2862072" cy="969264"/>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Generate all three fields.</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This chart scores the label.</a:t>
            </a:r>
          </a:p>
        </p:txBody>
      </p:sp>
      <p:sp>
        <p:nvSpPr>
          <p:cNvPr id="19" name="clara-claim:s18-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599 correct labels. Fine-tuned: 1,627 correct labels. Both use the complete 1,738-example test split.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9-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19</a:t>
            </a:r>
            <a:endParaRPr lang="en-US" sz="1600" dirty="0"/>
          </a:p>
        </p:txBody>
      </p:sp>
      <p:sp>
        <p:nvSpPr>
          <p:cNvPr id="11" name="clara-claim:s1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Generated JSON · Per-field and all-fields accuracy</a:t>
            </a:r>
          </a:p>
        </p:txBody>
      </p:sp>
      <p:graphicFrame>
        <p:nvGraphicFramePr>
          <p:cNvPr id="12" name="Table 11"/>
          <p:cNvGraphicFramePr>
            <a:graphicFrameLocks noGrp="1"/>
          </p:cNvGraphicFramePr>
          <p:nvPr/>
        </p:nvGraphicFramePr>
        <p:xfrm>
          <a:off x="932688" y="2039112"/>
          <a:ext cx="10287000" cy="2926080"/>
        </p:xfrm>
        <a:graphic>
          <a:graphicData uri="http://schemas.openxmlformats.org/drawingml/2006/table">
            <a:tbl>
              <a:tblPr firstRow="1" bandRow="1">
                <a:tableStyleId>{5C22544A-7EE6-4342-B048-85BDC9FD1C3A}</a:tableStyleId>
              </a:tblPr>
              <a:tblGrid>
                <a:gridCol w="3291840"/>
                <a:gridCol w="1828800"/>
                <a:gridCol w="2331720"/>
                <a:gridCol w="2834640"/>
              </a:tblGrid>
              <a:tr h="585216">
                <a:tc>
                  <a:txBody>
                    <a:bodyPr/>
                    <a:lstStyle/>
                    <a:p>
                      <a:pPr algn="l">
                        <a:defRPr sz="2000" b="1">
                          <a:solidFill>
                            <a:srgbClr val="25354A"/>
                          </a:solidFill>
                          <a:latin typeface="Calibri"/>
                        </a:defRPr>
                      </a:pPr>
                      <a:r>
                        <a:t>Metric</a:t>
                      </a:r>
                    </a:p>
                  </a:txBody>
                  <a:tcPr marL="109728" marR="109728" marT="64008" marB="64008" anchor="ctr">
                    <a:solidFill>
                      <a:srgbClr val="EEF3FB"/>
                    </a:solidFill>
                  </a:tcPr>
                </a:tc>
                <a:tc>
                  <a:txBody>
                    <a:bodyPr/>
                    <a:lstStyle/>
                    <a:p>
                      <a:pPr algn="ctr">
                        <a:defRPr sz="2000" b="1">
                          <a:solidFill>
                            <a:srgbClr val="25354A"/>
                          </a:solidFill>
                          <a:latin typeface="Calibri"/>
                        </a:defRPr>
                      </a:pPr>
                      <a:r>
                        <a:t>Base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correct</a:t>
                      </a:r>
                    </a:p>
                  </a:txBody>
                  <a:tcPr marL="109728" marR="109728" marT="64008" marB="64008" anchor="ctr">
                    <a:solidFill>
                      <a:srgbClr val="EEF3FB"/>
                    </a:solidFill>
                  </a:tcPr>
                </a:tc>
              </a:tr>
              <a:tr h="585216">
                <a:tc>
                  <a:txBody>
                    <a:bodyPr/>
                    <a:lstStyle/>
                    <a:p>
                      <a:pPr algn="l">
                        <a:defRPr sz="2000" b="0">
                          <a:solidFill>
                            <a:srgbClr val="263343"/>
                          </a:solidFill>
                          <a:latin typeface="Calibri"/>
                        </a:defRPr>
                      </a:pPr>
                      <a:r>
                        <a:t>Category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51.96</a:t>
                      </a:r>
                    </a:p>
                  </a:txBody>
                  <a:tcPr marL="109728" marR="109728" marT="64008" marB="64008" anchor="ctr">
                    <a:solidFill>
                      <a:srgbClr val="F8FAFC"/>
                    </a:solidFill>
                  </a:tcPr>
                </a:tc>
                <a:tc>
                  <a:txBody>
                    <a:bodyPr/>
                    <a:lstStyle/>
                    <a:p>
                      <a:pPr algn="ctr">
                        <a:defRPr sz="2000" b="0">
                          <a:solidFill>
                            <a:srgbClr val="263343"/>
                          </a:solidFill>
                          <a:latin typeface="Calibri"/>
                        </a:defRPr>
                      </a:pPr>
                      <a:r>
                        <a:t>99.37</a:t>
                      </a:r>
                    </a:p>
                  </a:txBody>
                  <a:tcPr marL="109728" marR="109728" marT="64008" marB="64008" anchor="ctr">
                    <a:solidFill>
                      <a:srgbClr val="F8FAFC"/>
                    </a:solidFill>
                  </a:tcPr>
                </a:tc>
                <a:tc>
                  <a:txBody>
                    <a:bodyPr/>
                    <a:lstStyle/>
                    <a:p>
                      <a:pPr algn="ctr">
                        <a:defRPr sz="2000" b="0">
                          <a:solidFill>
                            <a:srgbClr val="263343"/>
                          </a:solidFill>
                          <a:latin typeface="Calibri"/>
                        </a:defRPr>
                      </a:pPr>
                      <a:r>
                        <a:t>1,727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Target exact match</a:t>
                      </a:r>
                    </a:p>
                  </a:txBody>
                  <a:tcPr marL="109728" marR="109728" marT="64008" marB="64008" anchor="ctr">
                    <a:solidFill>
                      <a:srgbClr val="FFFFFF"/>
                    </a:solidFill>
                  </a:tcPr>
                </a:tc>
                <a:tc>
                  <a:txBody>
                    <a:bodyPr/>
                    <a:lstStyle/>
                    <a:p>
                      <a:pPr algn="ctr">
                        <a:defRPr sz="2000" b="0">
                          <a:solidFill>
                            <a:srgbClr val="263343"/>
                          </a:solidFill>
                          <a:latin typeface="Calibri"/>
                        </a:defRPr>
                      </a:pPr>
                      <a:r>
                        <a:t>21.69</a:t>
                      </a:r>
                    </a:p>
                  </a:txBody>
                  <a:tcPr marL="109728" marR="109728" marT="64008" marB="64008" anchor="ctr">
                    <a:solidFill>
                      <a:srgbClr val="FFFFFF"/>
                    </a:solidFill>
                  </a:tcPr>
                </a:tc>
                <a:tc>
                  <a:txBody>
                    <a:bodyPr/>
                    <a:lstStyle/>
                    <a:p>
                      <a:pPr algn="ctr">
                        <a:defRPr sz="2000" b="0">
                          <a:solidFill>
                            <a:srgbClr val="263343"/>
                          </a:solidFill>
                          <a:latin typeface="Calibri"/>
                        </a:defRPr>
                      </a:pPr>
                      <a:r>
                        <a:t>98.16</a:t>
                      </a:r>
                    </a:p>
                  </a:txBody>
                  <a:tcPr marL="109728" marR="109728" marT="64008" marB="64008" anchor="ctr">
                    <a:solidFill>
                      <a:srgbClr val="FFFFFF"/>
                    </a:solidFill>
                  </a:tcPr>
                </a:tc>
                <a:tc>
                  <a:txBody>
                    <a:bodyPr/>
                    <a:lstStyle/>
                    <a:p>
                      <a:pPr algn="ctr">
                        <a:defRPr sz="2000" b="0">
                          <a:solidFill>
                            <a:srgbClr val="263343"/>
                          </a:solidFill>
                          <a:latin typeface="Calibri"/>
                        </a:defRPr>
                      </a:pPr>
                      <a:r>
                        <a:t>1,706 / 1,738</a:t>
                      </a:r>
                    </a:p>
                  </a:txBody>
                  <a:tcPr marL="109728" marR="109728" marT="64008" marB="64008" anchor="ctr">
                    <a:solidFill>
                      <a:srgbClr val="FFFFFF"/>
                    </a:solidFill>
                  </a:tcPr>
                </a:tc>
              </a:tr>
              <a:tr h="585216">
                <a:tc>
                  <a:txBody>
                    <a:bodyPr/>
                    <a:lstStyle/>
                    <a:p>
                      <a:pPr algn="l">
                        <a:defRPr sz="2000" b="0">
                          <a:solidFill>
                            <a:srgbClr val="263343"/>
                          </a:solidFill>
                          <a:latin typeface="Calibri"/>
                        </a:defRPr>
                      </a:pPr>
                      <a:r>
                        <a:t>Label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34.46</a:t>
                      </a:r>
                    </a:p>
                  </a:txBody>
                  <a:tcPr marL="109728" marR="109728" marT="64008" marB="64008" anchor="ctr">
                    <a:solidFill>
                      <a:srgbClr val="F8FAFC"/>
                    </a:solidFill>
                  </a:tcPr>
                </a:tc>
                <a:tc>
                  <a:txBody>
                    <a:bodyPr/>
                    <a:lstStyle/>
                    <a:p>
                      <a:pPr algn="ctr">
                        <a:defRPr sz="2000" b="0">
                          <a:solidFill>
                            <a:srgbClr val="263343"/>
                          </a:solidFill>
                          <a:latin typeface="Calibri"/>
                        </a:defRPr>
                      </a:pPr>
                      <a:r>
                        <a:t>93.61</a:t>
                      </a:r>
                    </a:p>
                  </a:txBody>
                  <a:tcPr marL="109728" marR="109728" marT="64008" marB="64008" anchor="ctr">
                    <a:solidFill>
                      <a:srgbClr val="F8FAFC"/>
                    </a:solidFill>
                  </a:tcPr>
                </a:tc>
                <a:tc>
                  <a:txBody>
                    <a:bodyPr/>
                    <a:lstStyle/>
                    <a:p>
                      <a:pPr algn="ctr">
                        <a:defRPr sz="2000" b="0">
                          <a:solidFill>
                            <a:srgbClr val="263343"/>
                          </a:solidFill>
                          <a:latin typeface="Calibri"/>
                        </a:defRPr>
                      </a:pPr>
                      <a:r>
                        <a:t>1,627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All three fields correct</a:t>
                      </a:r>
                    </a:p>
                  </a:txBody>
                  <a:tcPr marL="109728" marR="109728" marT="64008" marB="64008" anchor="ctr">
                    <a:solidFill>
                      <a:srgbClr val="EFF6F0"/>
                    </a:solidFill>
                  </a:tcPr>
                </a:tc>
                <a:tc>
                  <a:txBody>
                    <a:bodyPr/>
                    <a:lstStyle/>
                    <a:p>
                      <a:pPr algn="ctr">
                        <a:defRPr sz="2000" b="0">
                          <a:solidFill>
                            <a:srgbClr val="263343"/>
                          </a:solidFill>
                          <a:latin typeface="Calibri"/>
                        </a:defRPr>
                      </a:pPr>
                      <a:r>
                        <a:t>2.53</a:t>
                      </a:r>
                    </a:p>
                  </a:txBody>
                  <a:tcPr marL="109728" marR="109728" marT="64008" marB="64008" anchor="ctr">
                    <a:solidFill>
                      <a:srgbClr val="EFF6F0"/>
                    </a:solidFill>
                  </a:tcPr>
                </a:tc>
                <a:tc>
                  <a:txBody>
                    <a:bodyPr/>
                    <a:lstStyle/>
                    <a:p>
                      <a:pPr algn="ctr">
                        <a:defRPr sz="2000" b="0">
                          <a:solidFill>
                            <a:srgbClr val="263343"/>
                          </a:solidFill>
                          <a:latin typeface="Calibri"/>
                        </a:defRPr>
                      </a:pPr>
                      <a:r>
                        <a:t>92.87</a:t>
                      </a:r>
                    </a:p>
                  </a:txBody>
                  <a:tcPr marL="109728" marR="109728" marT="64008" marB="64008" anchor="ctr">
                    <a:solidFill>
                      <a:srgbClr val="EFF6F0"/>
                    </a:solidFill>
                  </a:tcPr>
                </a:tc>
                <a:tc>
                  <a:txBody>
                    <a:bodyPr/>
                    <a:lstStyle/>
                    <a:p>
                      <a:pPr algn="ctr">
                        <a:defRPr sz="2000" b="0">
                          <a:solidFill>
                            <a:srgbClr val="263343"/>
                          </a:solidFill>
                          <a:latin typeface="Calibri"/>
                        </a:defRPr>
                      </a:pPr>
                      <a:r>
                        <a:t>1,614 / 1,738</a:t>
                      </a:r>
                    </a:p>
                  </a:txBody>
                  <a:tcPr marL="109728" marR="109728" marT="64008" marB="64008" anchor="ctr">
                    <a:solidFill>
                      <a:srgbClr val="EFF6F0"/>
                    </a:solidFill>
                  </a:tcPr>
                </a:tc>
              </a:tr>
            </a:tbl>
          </a:graphicData>
        </a:graphic>
      </p:graphicFrame>
      <p:sp>
        <p:nvSpPr>
          <p:cNvPr id="13" name="clara-claim:s19-t6"/>
          <p:cNvSpPr txBox="1"/>
          <p:nvPr/>
        </p:nvSpPr>
        <p:spPr>
          <a:xfrm>
            <a:off x="1097280" y="5349240"/>
            <a:ext cx="9966960" cy="420624"/>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Complete-JSON accuracy measures all fields together for the same sentence.</a:t>
            </a:r>
          </a:p>
        </p:txBody>
      </p:sp>
      <p:sp>
        <p:nvSpPr>
          <p:cNvPr id="14" name="clara-claim:s19-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Recomputed from saved responses. Category: normalized text. Target: exact string. Label: strict integer match.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0-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20</a:t>
            </a:r>
            <a:endParaRPr lang="en-US" sz="1600" dirty="0"/>
          </a:p>
        </p:txBody>
      </p:sp>
      <p:sp>
        <p:nvSpPr>
          <p:cNvPr id="11" name="clara-claim:s2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Generated JSON · Per-field accuracy and macro F1</a:t>
            </a:r>
          </a:p>
        </p:txBody>
      </p:sp>
      <p:graphicFrame>
        <p:nvGraphicFramePr>
          <p:cNvPr id="12" name="Table 11"/>
          <p:cNvGraphicFramePr>
            <a:graphicFrameLocks noGrp="1"/>
          </p:cNvGraphicFramePr>
          <p:nvPr/>
        </p:nvGraphicFramePr>
        <p:xfrm>
          <a:off x="932688" y="2103120"/>
          <a:ext cx="10287000" cy="2523744"/>
        </p:xfrm>
        <a:graphic>
          <a:graphicData uri="http://schemas.openxmlformats.org/drawingml/2006/table">
            <a:tbl>
              <a:tblPr firstRow="1" bandRow="1">
                <a:tableStyleId>{5C22544A-7EE6-4342-B048-85BDC9FD1C3A}</a:tableStyleId>
              </a:tblPr>
              <a:tblGrid>
                <a:gridCol w="1965960"/>
                <a:gridCol w="2011680"/>
                <a:gridCol w="2011680"/>
                <a:gridCol w="2148840"/>
                <a:gridCol w="2148840"/>
              </a:tblGrid>
              <a:tr h="630936">
                <a:tc>
                  <a:txBody>
                    <a:bodyPr/>
                    <a:lstStyle/>
                    <a:p>
                      <a:pPr algn="l">
                        <a:defRPr sz="1900" b="1">
                          <a:solidFill>
                            <a:srgbClr val="25354A"/>
                          </a:solidFill>
                          <a:latin typeface="Calibri"/>
                        </a:defRPr>
                      </a:pPr>
                      <a:r>
                        <a:t>Field</a:t>
                      </a:r>
                    </a:p>
                  </a:txBody>
                  <a:tcPr marL="109728" marR="109728" marT="64008" marB="64008" anchor="ctr">
                    <a:solidFill>
                      <a:srgbClr val="EEF3FB"/>
                    </a:solidFill>
                  </a:tcPr>
                </a:tc>
                <a:tc>
                  <a:txBody>
                    <a:bodyPr/>
                    <a:lstStyle/>
                    <a:p>
                      <a:pPr algn="ctr">
                        <a:defRPr sz="1900" b="1">
                          <a:solidFill>
                            <a:srgbClr val="25354A"/>
                          </a:solidFill>
                          <a:latin typeface="Calibri"/>
                        </a:defRPr>
                      </a:pPr>
                      <a:r>
                        <a:t>Base acc (%)</a:t>
                      </a:r>
                    </a:p>
                  </a:txBody>
                  <a:tcPr marL="109728" marR="109728" marT="64008" marB="64008" anchor="ctr">
                    <a:solidFill>
                      <a:srgbClr val="EEF3FB"/>
                    </a:solidFill>
                  </a:tcPr>
                </a:tc>
                <a:tc>
                  <a:txBody>
                    <a:bodyPr/>
                    <a:lstStyle/>
                    <a:p>
                      <a:pPr algn="ctr">
                        <a:defRPr sz="1900" b="1">
                          <a:solidFill>
                            <a:srgbClr val="25354A"/>
                          </a:solidFill>
                          <a:latin typeface="Calibri"/>
                        </a:defRPr>
                      </a:pPr>
                      <a:r>
                        <a:t>LoRA acc (%)</a:t>
                      </a:r>
                    </a:p>
                  </a:txBody>
                  <a:tcPr marL="109728" marR="109728" marT="64008" marB="64008" anchor="ctr">
                    <a:solidFill>
                      <a:srgbClr val="EEF3FB"/>
                    </a:solidFill>
                  </a:tcPr>
                </a:tc>
                <a:tc>
                  <a:txBody>
                    <a:bodyPr/>
                    <a:lstStyle/>
                    <a:p>
                      <a:pPr algn="ctr">
                        <a:defRPr sz="1900" b="1">
                          <a:solidFill>
                            <a:srgbClr val="25354A"/>
                          </a:solidFill>
                          <a:latin typeface="Calibri"/>
                        </a:defRPr>
                      </a:pPr>
                      <a:r>
                        <a:t>Base macro F1</a:t>
                      </a:r>
                    </a:p>
                  </a:txBody>
                  <a:tcPr marL="109728" marR="109728" marT="64008" marB="64008" anchor="ctr">
                    <a:solidFill>
                      <a:srgbClr val="EEF3FB"/>
                    </a:solidFill>
                  </a:tcPr>
                </a:tc>
                <a:tc>
                  <a:txBody>
                    <a:bodyPr/>
                    <a:lstStyle/>
                    <a:p>
                      <a:pPr algn="ctr">
                        <a:defRPr sz="1900" b="1">
                          <a:solidFill>
                            <a:srgbClr val="25354A"/>
                          </a:solidFill>
                          <a:latin typeface="Calibri"/>
                        </a:defRPr>
                      </a:pPr>
                      <a:r>
                        <a:t>LoRA macro F1</a:t>
                      </a:r>
                    </a:p>
                  </a:txBody>
                  <a:tcPr marL="109728" marR="109728" marT="64008" marB="64008" anchor="ctr">
                    <a:solidFill>
                      <a:srgbClr val="EEF3FB"/>
                    </a:solidFill>
                  </a:tcPr>
                </a:tc>
              </a:tr>
              <a:tr h="630936">
                <a:tc>
                  <a:txBody>
                    <a:bodyPr/>
                    <a:lstStyle/>
                    <a:p>
                      <a:pPr algn="l">
                        <a:defRPr sz="1900" b="0">
                          <a:solidFill>
                            <a:srgbClr val="263343"/>
                          </a:solidFill>
                          <a:latin typeface="Calibri"/>
                        </a:defRPr>
                      </a:pPr>
                      <a:r>
                        <a:t>Category</a:t>
                      </a:r>
                    </a:p>
                  </a:txBody>
                  <a:tcPr marL="109728" marR="109728" marT="64008" marB="64008" anchor="ctr">
                    <a:solidFill>
                      <a:srgbClr val="F8FAFC"/>
                    </a:solidFill>
                  </a:tcPr>
                </a:tc>
                <a:tc>
                  <a:txBody>
                    <a:bodyPr/>
                    <a:lstStyle/>
                    <a:p>
                      <a:pPr algn="ctr">
                        <a:defRPr sz="1900" b="0">
                          <a:solidFill>
                            <a:srgbClr val="263343"/>
                          </a:solidFill>
                          <a:latin typeface="Calibri"/>
                        </a:defRPr>
                      </a:pPr>
                      <a:r>
                        <a:t>51.96</a:t>
                      </a:r>
                    </a:p>
                  </a:txBody>
                  <a:tcPr marL="109728" marR="109728" marT="64008" marB="64008" anchor="ctr">
                    <a:solidFill>
                      <a:srgbClr val="F8FAFC"/>
                    </a:solidFill>
                  </a:tcPr>
                </a:tc>
                <a:tc>
                  <a:txBody>
                    <a:bodyPr/>
                    <a:lstStyle/>
                    <a:p>
                      <a:pPr algn="ctr">
                        <a:defRPr sz="1900" b="0">
                          <a:solidFill>
                            <a:srgbClr val="263343"/>
                          </a:solidFill>
                          <a:latin typeface="Calibri"/>
                        </a:defRPr>
                      </a:pPr>
                      <a:r>
                        <a:t>99.37</a:t>
                      </a:r>
                    </a:p>
                  </a:txBody>
                  <a:tcPr marL="109728" marR="109728" marT="64008" marB="64008" anchor="ctr">
                    <a:solidFill>
                      <a:srgbClr val="F8FAFC"/>
                    </a:solidFill>
                  </a:tcPr>
                </a:tc>
                <a:tc>
                  <a:txBody>
                    <a:bodyPr/>
                    <a:lstStyle/>
                    <a:p>
                      <a:pPr algn="ctr">
                        <a:defRPr sz="1900" b="0">
                          <a:solidFill>
                            <a:srgbClr val="263343"/>
                          </a:solidFill>
                          <a:latin typeface="Calibri"/>
                        </a:defRPr>
                      </a:pPr>
                      <a:r>
                        <a:t>43.66</a:t>
                      </a:r>
                    </a:p>
                  </a:txBody>
                  <a:tcPr marL="109728" marR="109728" marT="64008" marB="64008" anchor="ctr">
                    <a:solidFill>
                      <a:srgbClr val="F8FAFC"/>
                    </a:solidFill>
                  </a:tcPr>
                </a:tc>
                <a:tc>
                  <a:txBody>
                    <a:bodyPr/>
                    <a:lstStyle/>
                    <a:p>
                      <a:pPr algn="ctr">
                        <a:defRPr sz="1900" b="0">
                          <a:solidFill>
                            <a:srgbClr val="263343"/>
                          </a:solidFill>
                          <a:latin typeface="Calibri"/>
                        </a:defRPr>
                      </a:pPr>
                      <a:r>
                        <a:t>99.48</a:t>
                      </a:r>
                    </a:p>
                  </a:txBody>
                  <a:tcPr marL="109728" marR="109728" marT="64008" marB="64008" anchor="ctr">
                    <a:solidFill>
                      <a:srgbClr val="F8FAFC"/>
                    </a:solidFill>
                  </a:tcPr>
                </a:tc>
              </a:tr>
              <a:tr h="630936">
                <a:tc>
                  <a:txBody>
                    <a:bodyPr/>
                    <a:lstStyle/>
                    <a:p>
                      <a:pPr algn="l">
                        <a:defRPr sz="1900" b="0">
                          <a:solidFill>
                            <a:srgbClr val="263343"/>
                          </a:solidFill>
                          <a:latin typeface="Calibri"/>
                        </a:defRPr>
                      </a:pPr>
                      <a:r>
                        <a:t>Label</a:t>
                      </a:r>
                    </a:p>
                  </a:txBody>
                  <a:tcPr marL="109728" marR="109728" marT="64008" marB="64008" anchor="ctr">
                    <a:solidFill>
                      <a:srgbClr val="FFFFFF"/>
                    </a:solidFill>
                  </a:tcPr>
                </a:tc>
                <a:tc>
                  <a:txBody>
                    <a:bodyPr/>
                    <a:lstStyle/>
                    <a:p>
                      <a:pPr algn="ctr">
                        <a:defRPr sz="1900" b="0">
                          <a:solidFill>
                            <a:srgbClr val="263343"/>
                          </a:solidFill>
                          <a:latin typeface="Calibri"/>
                        </a:defRPr>
                      </a:pPr>
                      <a:r>
                        <a:t>34.46</a:t>
                      </a:r>
                    </a:p>
                  </a:txBody>
                  <a:tcPr marL="109728" marR="109728" marT="64008" marB="64008" anchor="ctr">
                    <a:solidFill>
                      <a:srgbClr val="FFFFFF"/>
                    </a:solidFill>
                  </a:tcPr>
                </a:tc>
                <a:tc>
                  <a:txBody>
                    <a:bodyPr/>
                    <a:lstStyle/>
                    <a:p>
                      <a:pPr algn="ctr">
                        <a:defRPr sz="1900" b="0">
                          <a:solidFill>
                            <a:srgbClr val="263343"/>
                          </a:solidFill>
                          <a:latin typeface="Calibri"/>
                        </a:defRPr>
                      </a:pPr>
                      <a:r>
                        <a:t>93.61</a:t>
                      </a:r>
                    </a:p>
                  </a:txBody>
                  <a:tcPr marL="109728" marR="109728" marT="64008" marB="64008" anchor="ctr">
                    <a:solidFill>
                      <a:srgbClr val="FFFFFF"/>
                    </a:solidFill>
                  </a:tcPr>
                </a:tc>
                <a:tc>
                  <a:txBody>
                    <a:bodyPr/>
                    <a:lstStyle/>
                    <a:p>
                      <a:pPr algn="ctr">
                        <a:defRPr sz="1900" b="0">
                          <a:solidFill>
                            <a:srgbClr val="263343"/>
                          </a:solidFill>
                          <a:latin typeface="Calibri"/>
                        </a:defRPr>
                      </a:pPr>
                      <a:r>
                        <a:t>28.08</a:t>
                      </a:r>
                    </a:p>
                  </a:txBody>
                  <a:tcPr marL="109728" marR="109728" marT="64008" marB="64008" anchor="ctr">
                    <a:solidFill>
                      <a:srgbClr val="FFFFFF"/>
                    </a:solidFill>
                  </a:tcPr>
                </a:tc>
                <a:tc>
                  <a:txBody>
                    <a:bodyPr/>
                    <a:lstStyle/>
                    <a:p>
                      <a:pPr algn="ctr">
                        <a:defRPr sz="1900" b="0">
                          <a:solidFill>
                            <a:srgbClr val="263343"/>
                          </a:solidFill>
                          <a:latin typeface="Calibri"/>
                        </a:defRPr>
                      </a:pPr>
                      <a:r>
                        <a:t>93.64</a:t>
                      </a:r>
                    </a:p>
                  </a:txBody>
                  <a:tcPr marL="109728" marR="109728" marT="64008" marB="64008" anchor="ctr">
                    <a:solidFill>
                      <a:srgbClr val="FFFFFF"/>
                    </a:solidFill>
                  </a:tcPr>
                </a:tc>
              </a:tr>
              <a:tr h="630936">
                <a:tc>
                  <a:txBody>
                    <a:bodyPr/>
                    <a:lstStyle/>
                    <a:p>
                      <a:pPr algn="l">
                        <a:defRPr sz="1900" b="0">
                          <a:solidFill>
                            <a:srgbClr val="263343"/>
                          </a:solidFill>
                          <a:latin typeface="Calibri"/>
                        </a:defRPr>
                      </a:pPr>
                      <a:r>
                        <a:t>Target</a:t>
                      </a:r>
                    </a:p>
                  </a:txBody>
                  <a:tcPr marL="109728" marR="109728" marT="64008" marB="64008" anchor="ctr">
                    <a:solidFill>
                      <a:srgbClr val="F8FAFC"/>
                    </a:solidFill>
                  </a:tcPr>
                </a:tc>
                <a:tc>
                  <a:txBody>
                    <a:bodyPr/>
                    <a:lstStyle/>
                    <a:p>
                      <a:pPr algn="ctr">
                        <a:defRPr sz="1900" b="0">
                          <a:solidFill>
                            <a:srgbClr val="263343"/>
                          </a:solidFill>
                          <a:latin typeface="Calibri"/>
                        </a:defRPr>
                      </a:pPr>
                      <a:r>
                        <a:t>21.69</a:t>
                      </a:r>
                    </a:p>
                  </a:txBody>
                  <a:tcPr marL="109728" marR="109728" marT="64008" marB="64008" anchor="ctr">
                    <a:solidFill>
                      <a:srgbClr val="F8FAFC"/>
                    </a:solidFill>
                  </a:tcPr>
                </a:tc>
                <a:tc>
                  <a:txBody>
                    <a:bodyPr/>
                    <a:lstStyle/>
                    <a:p>
                      <a:pPr algn="ctr">
                        <a:defRPr sz="1900" b="0">
                          <a:solidFill>
                            <a:srgbClr val="263343"/>
                          </a:solidFill>
                          <a:latin typeface="Calibri"/>
                        </a:defRPr>
                      </a:pPr>
                      <a:r>
                        <a:t>98.16</a:t>
                      </a:r>
                    </a:p>
                  </a:txBody>
                  <a:tcPr marL="109728" marR="109728" marT="64008" marB="64008" anchor="ctr">
                    <a:solidFill>
                      <a:srgbClr val="F8FAFC"/>
                    </a:solidFill>
                  </a:tcPr>
                </a:tc>
                <a:tc>
                  <a:txBody>
                    <a:bodyPr/>
                    <a:lstStyle/>
                    <a:p>
                      <a:pPr algn="ctr">
                        <a:defRPr sz="1900" b="0">
                          <a:solidFill>
                            <a:srgbClr val="263343"/>
                          </a:solidFill>
                          <a:latin typeface="Calibri"/>
                        </a:defRPr>
                      </a:pPr>
                      <a:r>
                        <a:t>43.47</a:t>
                      </a:r>
                    </a:p>
                  </a:txBody>
                  <a:tcPr marL="109728" marR="109728" marT="64008" marB="64008" anchor="ctr">
                    <a:solidFill>
                      <a:srgbClr val="F8FAFC"/>
                    </a:solidFill>
                  </a:tcPr>
                </a:tc>
                <a:tc>
                  <a:txBody>
                    <a:bodyPr/>
                    <a:lstStyle/>
                    <a:p>
                      <a:pPr algn="ctr">
                        <a:defRPr sz="1900" b="0">
                          <a:solidFill>
                            <a:srgbClr val="263343"/>
                          </a:solidFill>
                          <a:latin typeface="Calibri"/>
                        </a:defRPr>
                      </a:pPr>
                      <a:r>
                        <a:t>97.51</a:t>
                      </a:r>
                    </a:p>
                  </a:txBody>
                  <a:tcPr marL="109728" marR="109728" marT="64008" marB="64008" anchor="ctr">
                    <a:solidFill>
                      <a:srgbClr val="F8FAFC"/>
                    </a:solidFill>
                  </a:tcPr>
                </a:tc>
              </a:tr>
            </a:tbl>
          </a:graphicData>
        </a:graphic>
      </p:graphicFrame>
      <p:sp>
        <p:nvSpPr>
          <p:cNvPr id="13" name="Rounded Rectangle 12"/>
          <p:cNvSpPr/>
          <p:nvPr/>
        </p:nvSpPr>
        <p:spPr>
          <a:xfrm>
            <a:off x="932688" y="4919472"/>
            <a:ext cx="4992624" cy="8686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20-t7"/>
          <p:cNvSpPr txBox="1"/>
          <p:nvPr/>
        </p:nvSpPr>
        <p:spPr>
          <a:xfrm>
            <a:off x="1097280" y="5020056"/>
            <a:ext cx="4663440" cy="274320"/>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Category</a:t>
            </a:r>
          </a:p>
        </p:txBody>
      </p:sp>
      <p:sp>
        <p:nvSpPr>
          <p:cNvPr id="15" name="clara-claim:s20-t8"/>
          <p:cNvSpPr txBox="1"/>
          <p:nvPr/>
        </p:nvSpPr>
        <p:spPr>
          <a:xfrm>
            <a:off x="1097280" y="5431536"/>
            <a:ext cx="4663440" cy="256032"/>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Case/whitespace normalized; five classes</a:t>
            </a:r>
          </a:p>
        </p:txBody>
      </p:sp>
      <p:sp>
        <p:nvSpPr>
          <p:cNvPr id="16" name="Rounded Rectangle 15"/>
          <p:cNvSpPr/>
          <p:nvPr/>
        </p:nvSpPr>
        <p:spPr>
          <a:xfrm>
            <a:off x="6144768" y="4919472"/>
            <a:ext cx="5093208" cy="8686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0-t10"/>
          <p:cNvSpPr txBox="1"/>
          <p:nvPr/>
        </p:nvSpPr>
        <p:spPr>
          <a:xfrm>
            <a:off x="6309359" y="5020056"/>
            <a:ext cx="4764024" cy="274320"/>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Target</a:t>
            </a:r>
          </a:p>
        </p:txBody>
      </p:sp>
      <p:sp>
        <p:nvSpPr>
          <p:cNvPr id="18" name="clara-claim:s20-t11"/>
          <p:cNvSpPr txBox="1"/>
          <p:nvPr/>
        </p:nvSpPr>
        <p:spPr>
          <a:xfrm>
            <a:off x="6309359" y="5431536"/>
            <a:ext cx="4764024" cy="256032"/>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Exact match; 87 gold target strings</a:t>
            </a:r>
          </a:p>
        </p:txBody>
      </p:sp>
      <p:sp>
        <p:nvSpPr>
          <p:cNvPr id="19" name="clara-claim:s20-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Full per-class category, label and target reports are included in the appendix. Values are percentages.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1-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21</a:t>
            </a:r>
            <a:endParaRPr lang="en-US" sz="1600" dirty="0"/>
          </a:p>
        </p:txBody>
      </p:sp>
      <p:sp>
        <p:nvSpPr>
          <p:cNvPr id="11" name="clara-claim:s2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C · Sentence + category + target → label · Base vs SFT</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21-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+61.97 pp</a:t>
            </a:r>
          </a:p>
        </p:txBody>
      </p:sp>
      <p:sp>
        <p:nvSpPr>
          <p:cNvPr id="15" name="clara-claim:s21-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accuracy gain</a:t>
            </a:r>
          </a:p>
        </p:txBody>
      </p:sp>
      <p:sp>
        <p:nvSpPr>
          <p:cNvPr id="16" name="Rounded Rectangle 15"/>
          <p:cNvSpPr/>
          <p:nvPr/>
        </p:nvSpPr>
        <p:spPr>
          <a:xfrm>
            <a:off x="7982712" y="3630168"/>
            <a:ext cx="3227832" cy="19385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1-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Same task inputs</a:t>
            </a:r>
          </a:p>
        </p:txBody>
      </p:sp>
      <p:sp>
        <p:nvSpPr>
          <p:cNvPr id="18" name="clara-claim:s21-t11"/>
          <p:cNvSpPr txBox="1"/>
          <p:nvPr/>
        </p:nvSpPr>
        <p:spPr>
          <a:xfrm>
            <a:off x="8165592" y="4352544"/>
            <a:ext cx="2862072" cy="1097280"/>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Category + Target</a:t>
            </a:r>
          </a:p>
          <a:p>
            <a:pPr algn="l">
              <a:spcBef>
                <a:spcPts val="0"/>
              </a:spcBef>
              <a:spcAft>
                <a:spcPts val="500"/>
              </a:spcAft>
              <a:defRPr sz="2000" b="0">
                <a:solidFill>
                  <a:srgbClr val="263343"/>
                </a:solidFill>
                <a:latin typeface="Calibri"/>
              </a:defRPr>
            </a:pPr>
            <a:r>
              <a:t>+ Sentence</a:t>
            </a:r>
          </a:p>
          <a:p>
            <a:pPr algn="l">
              <a:spcBef>
                <a:spcPts val="0"/>
              </a:spcBef>
              <a:spcAft>
                <a:spcPts val="500"/>
              </a:spcAft>
              <a:defRPr sz="2000" b="0">
                <a:solidFill>
                  <a:srgbClr val="263343"/>
                </a:solidFill>
                <a:latin typeface="Calibri"/>
              </a:defRPr>
            </a:pPr>
            <a:r>
              <a:t>All 1,738 test examples</a:t>
            </a:r>
          </a:p>
        </p:txBody>
      </p:sp>
      <p:sp>
        <p:nvSpPr>
          <p:cNvPr id="19" name="clara-claim:s21-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583 correct. Fine-tuned: 1,660 correct. Base = named Qwen checkpoint without the task adapter.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2-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22</a:t>
            </a:r>
            <a:endParaRPr lang="en-US" sz="1600" dirty="0"/>
          </a:p>
        </p:txBody>
      </p:sp>
      <p:sp>
        <p:nvSpPr>
          <p:cNvPr id="11" name="clara-claim:s2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Stereotype versus anti-stereotype remains the hardest boundary</a:t>
            </a:r>
          </a:p>
        </p:txBody>
      </p:sp>
      <p:graphicFrame>
        <p:nvGraphicFramePr>
          <p:cNvPr id="12" name="Table 11"/>
          <p:cNvGraphicFramePr>
            <a:graphicFrameLocks noGrp="1"/>
          </p:cNvGraphicFramePr>
          <p:nvPr/>
        </p:nvGraphicFramePr>
        <p:xfrm>
          <a:off x="932688" y="1993392"/>
          <a:ext cx="10287000" cy="3017520"/>
        </p:xfrm>
        <a:graphic>
          <a:graphicData uri="http://schemas.openxmlformats.org/drawingml/2006/table">
            <a:tbl>
              <a:tblPr firstRow="1" bandRow="1">
                <a:tableStyleId>{5C22544A-7EE6-4342-B048-85BDC9FD1C3A}</a:tableStyleId>
              </a:tblPr>
              <a:tblGrid>
                <a:gridCol w="3154680"/>
                <a:gridCol w="731520"/>
                <a:gridCol w="2194560"/>
                <a:gridCol w="2103120"/>
                <a:gridCol w="2103120"/>
              </a:tblGrid>
              <a:tr h="502920">
                <a:tc>
                  <a:txBody>
                    <a:bodyPr/>
                    <a:lstStyle/>
                    <a:p>
                      <a:pPr algn="l">
                        <a:defRPr sz="1700" b="1">
                          <a:solidFill>
                            <a:srgbClr val="25354A"/>
                          </a:solidFill>
                          <a:latin typeface="Calibri"/>
                        </a:defRPr>
                      </a:pPr>
                      <a:r>
                        <a:t>Gold class</a:t>
                      </a:r>
                    </a:p>
                  </a:txBody>
                  <a:tcPr marL="109728" marR="109728" marT="64008" marB="64008" anchor="ctr">
                    <a:solidFill>
                      <a:srgbClr val="EEF3FB"/>
                    </a:solidFill>
                  </a:tcPr>
                </a:tc>
                <a:tc>
                  <a:txBody>
                    <a:bodyPr/>
                    <a:lstStyle/>
                    <a:p>
                      <a:pPr algn="ctr">
                        <a:defRPr sz="1700" b="1">
                          <a:solidFill>
                            <a:srgbClr val="25354A"/>
                          </a:solidFill>
                          <a:latin typeface="Calibri"/>
                        </a:defRPr>
                      </a:pPr>
                      <a:r>
                        <a:t>N</a:t>
                      </a:r>
                    </a:p>
                  </a:txBody>
                  <a:tcPr marL="109728" marR="109728" marT="64008" marB="64008" anchor="ctr">
                    <a:solidFill>
                      <a:srgbClr val="EEF3FB"/>
                    </a:solidFill>
                  </a:tcPr>
                </a:tc>
                <a:tc>
                  <a:txBody>
                    <a:bodyPr/>
                    <a:lstStyle/>
                    <a:p>
                      <a:pPr algn="ctr">
                        <a:defRPr sz="1700" b="1">
                          <a:solidFill>
                            <a:srgbClr val="25354A"/>
                          </a:solidFill>
                          <a:latin typeface="Calibri"/>
                        </a:defRPr>
                      </a:pPr>
                      <a:r>
                        <a:t>ModernBERT-large</a:t>
                      </a:r>
                    </a:p>
                  </a:txBody>
                  <a:tcPr marL="109728" marR="109728" marT="64008" marB="64008" anchor="ctr">
                    <a:solidFill>
                      <a:srgbClr val="EEF3FB"/>
                    </a:solidFill>
                  </a:tcPr>
                </a:tc>
                <a:tc>
                  <a:txBody>
                    <a:bodyPr/>
                    <a:lstStyle/>
                    <a:p>
                      <a:pPr algn="ctr">
                        <a:defRPr sz="1700" b="1">
                          <a:solidFill>
                            <a:srgbClr val="25354A"/>
                          </a:solidFill>
                          <a:latin typeface="Calibri"/>
                        </a:defRPr>
                      </a:pPr>
                      <a:r>
                        <a:t>A · Qwen SFT</a:t>
                      </a:r>
                    </a:p>
                  </a:txBody>
                  <a:tcPr marL="109728" marR="109728" marT="64008" marB="64008" anchor="ctr">
                    <a:solidFill>
                      <a:srgbClr val="EEF3FB"/>
                    </a:solidFill>
                  </a:tcPr>
                </a:tc>
                <a:tc>
                  <a:txBody>
                    <a:bodyPr/>
                    <a:lstStyle/>
                    <a:p>
                      <a:pPr algn="ctr">
                        <a:defRPr sz="1700" b="1">
                          <a:solidFill>
                            <a:srgbClr val="25354A"/>
                          </a:solidFill>
                          <a:latin typeface="Calibri"/>
                        </a:defRPr>
                      </a:pPr>
                      <a:r>
                        <a:t>B · Qwen SFT</a:t>
                      </a:r>
                    </a:p>
                  </a:txBody>
                  <a:tcPr marL="109728" marR="109728" marT="64008" marB="64008" anchor="ctr">
                    <a:solidFill>
                      <a:srgbClr val="EEF3FB"/>
                    </a:solidFill>
                  </a:tcPr>
                </a:tc>
              </a:tr>
              <a:tr h="502920">
                <a:tc>
                  <a:txBody>
                    <a:bodyPr/>
                    <a:lstStyle/>
                    <a:p>
                      <a:pPr algn="l">
                        <a:defRPr sz="1700" b="0">
                          <a:solidFill>
                            <a:srgbClr val="263343"/>
                          </a:solidFill>
                          <a:latin typeface="Calibri"/>
                        </a:defRPr>
                      </a:pPr>
                      <a:r>
                        <a:t>0 Anti-stereotype</a:t>
                      </a:r>
                    </a:p>
                  </a:txBody>
                  <a:tcPr marL="109728" marR="109728" marT="64008" marB="64008" anchor="ctr">
                    <a:solidFill>
                      <a:srgbClr val="F8FAFC"/>
                    </a:solidFill>
                  </a:tcPr>
                </a:tc>
                <a:tc>
                  <a:txBody>
                    <a:bodyPr/>
                    <a:lstStyle/>
                    <a:p>
                      <a:pPr algn="ctr">
                        <a:defRPr sz="1700" b="0">
                          <a:solidFill>
                            <a:srgbClr val="263343"/>
                          </a:solidFill>
                          <a:latin typeface="Calibri"/>
                        </a:defRPr>
                      </a:pPr>
                      <a:r>
                        <a:t>359</a:t>
                      </a:r>
                    </a:p>
                  </a:txBody>
                  <a:tcPr marL="109728" marR="109728" marT="64008" marB="64008" anchor="ctr">
                    <a:solidFill>
                      <a:srgbClr val="F8FAFC"/>
                    </a:solidFill>
                  </a:tcPr>
                </a:tc>
                <a:tc>
                  <a:txBody>
                    <a:bodyPr/>
                    <a:lstStyle/>
                    <a:p>
                      <a:pPr algn="ctr">
                        <a:defRPr sz="1700" b="0">
                          <a:solidFill>
                            <a:srgbClr val="263343"/>
                          </a:solidFill>
                          <a:latin typeface="Calibri"/>
                        </a:defRPr>
                      </a:pPr>
                      <a:r>
                        <a:t>86.12</a:t>
                      </a:r>
                    </a:p>
                  </a:txBody>
                  <a:tcPr marL="109728" marR="109728" marT="64008" marB="64008" anchor="ctr">
                    <a:solidFill>
                      <a:srgbClr val="F8FAFC"/>
                    </a:solidFill>
                  </a:tcPr>
                </a:tc>
                <a:tc>
                  <a:txBody>
                    <a:bodyPr/>
                    <a:lstStyle/>
                    <a:p>
                      <a:pPr algn="ctr">
                        <a:defRPr sz="1700" b="0">
                          <a:solidFill>
                            <a:srgbClr val="263343"/>
                          </a:solidFill>
                          <a:latin typeface="Calibri"/>
                        </a:defRPr>
                      </a:pPr>
                      <a:r>
                        <a:t>87.04</a:t>
                      </a:r>
                    </a:p>
                  </a:txBody>
                  <a:tcPr marL="109728" marR="109728" marT="64008" marB="64008" anchor="ctr">
                    <a:solidFill>
                      <a:srgbClr val="F8FAFC"/>
                    </a:solidFill>
                  </a:tcPr>
                </a:tc>
                <a:tc>
                  <a:txBody>
                    <a:bodyPr/>
                    <a:lstStyle/>
                    <a:p>
                      <a:pPr algn="ctr">
                        <a:defRPr sz="1700" b="0">
                          <a:solidFill>
                            <a:srgbClr val="263343"/>
                          </a:solidFill>
                          <a:latin typeface="Calibri"/>
                        </a:defRPr>
                      </a:pPr>
                      <a:r>
                        <a:t>86.45</a:t>
                      </a:r>
                    </a:p>
                  </a:txBody>
                  <a:tcPr marL="109728" marR="109728" marT="64008" marB="64008" anchor="ctr">
                    <a:solidFill>
                      <a:srgbClr val="F8FAFC"/>
                    </a:solidFill>
                  </a:tcPr>
                </a:tc>
              </a:tr>
              <a:tr h="502920">
                <a:tc>
                  <a:txBody>
                    <a:bodyPr/>
                    <a:lstStyle/>
                    <a:p>
                      <a:pPr algn="l">
                        <a:defRPr sz="1700" b="0">
                          <a:solidFill>
                            <a:srgbClr val="263343"/>
                          </a:solidFill>
                          <a:latin typeface="Calibri"/>
                        </a:defRPr>
                      </a:pPr>
                      <a:r>
                        <a:t>1 Stereotype</a:t>
                      </a:r>
                    </a:p>
                  </a:txBody>
                  <a:tcPr marL="109728" marR="109728" marT="64008" marB="64008" anchor="ctr">
                    <a:solidFill>
                      <a:srgbClr val="FFFFFF"/>
                    </a:solidFill>
                  </a:tcPr>
                </a:tc>
                <a:tc>
                  <a:txBody>
                    <a:bodyPr/>
                    <a:lstStyle/>
                    <a:p>
                      <a:pPr algn="ctr">
                        <a:defRPr sz="1700" b="0">
                          <a:solidFill>
                            <a:srgbClr val="263343"/>
                          </a:solidFill>
                          <a:latin typeface="Calibri"/>
                        </a:defRPr>
                      </a:pPr>
                      <a:r>
                        <a:t>343</a:t>
                      </a:r>
                    </a:p>
                  </a:txBody>
                  <a:tcPr marL="109728" marR="109728" marT="64008" marB="64008" anchor="ctr">
                    <a:solidFill>
                      <a:srgbClr val="FFFFFF"/>
                    </a:solidFill>
                  </a:tcPr>
                </a:tc>
                <a:tc>
                  <a:txBody>
                    <a:bodyPr/>
                    <a:lstStyle/>
                    <a:p>
                      <a:pPr algn="ctr">
                        <a:defRPr sz="1700" b="0">
                          <a:solidFill>
                            <a:srgbClr val="263343"/>
                          </a:solidFill>
                          <a:latin typeface="Calibri"/>
                        </a:defRPr>
                      </a:pPr>
                      <a:r>
                        <a:t>87.02</a:t>
                      </a:r>
                    </a:p>
                  </a:txBody>
                  <a:tcPr marL="109728" marR="109728" marT="64008" marB="64008" anchor="ctr">
                    <a:solidFill>
                      <a:srgbClr val="FFFFFF"/>
                    </a:solidFill>
                  </a:tcPr>
                </a:tc>
                <a:tc>
                  <a:txBody>
                    <a:bodyPr/>
                    <a:lstStyle/>
                    <a:p>
                      <a:pPr algn="ctr">
                        <a:defRPr sz="1700" b="0">
                          <a:solidFill>
                            <a:srgbClr val="263343"/>
                          </a:solidFill>
                          <a:latin typeface="Calibri"/>
                        </a:defRPr>
                      </a:pPr>
                      <a:r>
                        <a:t>87.97</a:t>
                      </a:r>
                    </a:p>
                  </a:txBody>
                  <a:tcPr marL="109728" marR="109728" marT="64008" marB="64008" anchor="ctr">
                    <a:solidFill>
                      <a:srgbClr val="FFFFFF"/>
                    </a:solidFill>
                  </a:tcPr>
                </a:tc>
                <a:tc>
                  <a:txBody>
                    <a:bodyPr/>
                    <a:lstStyle/>
                    <a:p>
                      <a:pPr algn="ctr">
                        <a:defRPr sz="1700" b="0">
                          <a:solidFill>
                            <a:srgbClr val="263343"/>
                          </a:solidFill>
                          <a:latin typeface="Calibri"/>
                        </a:defRPr>
                      </a:pPr>
                      <a:r>
                        <a:t>87.54</a:t>
                      </a:r>
                    </a:p>
                  </a:txBody>
                  <a:tcPr marL="109728" marR="109728" marT="64008" marB="64008" anchor="ctr">
                    <a:solidFill>
                      <a:srgbClr val="FFFFFF"/>
                    </a:solidFill>
                  </a:tcPr>
                </a:tc>
              </a:tr>
              <a:tr h="502920">
                <a:tc>
                  <a:txBody>
                    <a:bodyPr/>
                    <a:lstStyle/>
                    <a:p>
                      <a:pPr algn="l">
                        <a:defRPr sz="1700" b="0">
                          <a:solidFill>
                            <a:srgbClr val="263343"/>
                          </a:solidFill>
                          <a:latin typeface="Calibri"/>
                        </a:defRPr>
                      </a:pPr>
                      <a:r>
                        <a:t>2 Neutral: no target</a:t>
                      </a:r>
                    </a:p>
                  </a:txBody>
                  <a:tcPr marL="109728" marR="109728" marT="64008" marB="64008" anchor="ctr">
                    <a:solidFill>
                      <a:srgbClr val="F8FAFC"/>
                    </a:solidFill>
                  </a:tcPr>
                </a:tc>
                <a:tc>
                  <a:txBody>
                    <a:bodyPr/>
                    <a:lstStyle/>
                    <a:p>
                      <a:pPr algn="ctr">
                        <a:defRPr sz="1700" b="0">
                          <a:solidFill>
                            <a:srgbClr val="263343"/>
                          </a:solidFill>
                          <a:latin typeface="Calibri"/>
                        </a:defRPr>
                      </a:pPr>
                      <a:r>
                        <a:t>400</a:t>
                      </a:r>
                    </a:p>
                  </a:txBody>
                  <a:tcPr marL="109728" marR="109728" marT="64008" marB="64008" anchor="ctr">
                    <a:solidFill>
                      <a:srgbClr val="F8FAFC"/>
                    </a:solidFill>
                  </a:tcPr>
                </a:tc>
                <a:tc>
                  <a:txBody>
                    <a:bodyPr/>
                    <a:lstStyle/>
                    <a:p>
                      <a:pPr algn="ctr">
                        <a:defRPr sz="1700" b="0">
                          <a:solidFill>
                            <a:srgbClr val="263343"/>
                          </a:solidFill>
                          <a:latin typeface="Calibri"/>
                        </a:defRPr>
                      </a:pPr>
                      <a:r>
                        <a:t>98.10</a:t>
                      </a:r>
                    </a:p>
                  </a:txBody>
                  <a:tcPr marL="109728" marR="109728" marT="64008" marB="64008" anchor="ctr">
                    <a:solidFill>
                      <a:srgbClr val="F8FAFC"/>
                    </a:solidFill>
                  </a:tcPr>
                </a:tc>
                <a:tc>
                  <a:txBody>
                    <a:bodyPr/>
                    <a:lstStyle/>
                    <a:p>
                      <a:pPr algn="ctr">
                        <a:defRPr sz="1700" b="0">
                          <a:solidFill>
                            <a:srgbClr val="263343"/>
                          </a:solidFill>
                          <a:latin typeface="Calibri"/>
                        </a:defRPr>
                      </a:pPr>
                      <a:r>
                        <a:t>98.23</a:t>
                      </a:r>
                    </a:p>
                  </a:txBody>
                  <a:tcPr marL="109728" marR="109728" marT="64008" marB="64008" anchor="ctr">
                    <a:solidFill>
                      <a:srgbClr val="F8FAFC"/>
                    </a:solidFill>
                  </a:tcPr>
                </a:tc>
                <a:tc>
                  <a:txBody>
                    <a:bodyPr/>
                    <a:lstStyle/>
                    <a:p>
                      <a:pPr algn="ctr">
                        <a:defRPr sz="1700" b="0">
                          <a:solidFill>
                            <a:srgbClr val="263343"/>
                          </a:solidFill>
                          <a:latin typeface="Calibri"/>
                        </a:defRPr>
                      </a:pPr>
                      <a:r>
                        <a:t>98.75</a:t>
                      </a:r>
                    </a:p>
                  </a:txBody>
                  <a:tcPr marL="109728" marR="109728" marT="64008" marB="64008" anchor="ctr">
                    <a:solidFill>
                      <a:srgbClr val="F8FAFC"/>
                    </a:solidFill>
                  </a:tcPr>
                </a:tc>
              </a:tr>
              <a:tr h="502920">
                <a:tc>
                  <a:txBody>
                    <a:bodyPr/>
                    <a:lstStyle/>
                    <a:p>
                      <a:pPr algn="l">
                        <a:defRPr sz="1700" b="0">
                          <a:solidFill>
                            <a:srgbClr val="263343"/>
                          </a:solidFill>
                          <a:latin typeface="Calibri"/>
                        </a:defRPr>
                      </a:pPr>
                      <a:r>
                        <a:t>3 Neutral: target</a:t>
                      </a:r>
                    </a:p>
                  </a:txBody>
                  <a:tcPr marL="109728" marR="109728" marT="64008" marB="64008" anchor="ctr">
                    <a:solidFill>
                      <a:srgbClr val="FFFFFF"/>
                    </a:solidFill>
                  </a:tcPr>
                </a:tc>
                <a:tc>
                  <a:txBody>
                    <a:bodyPr/>
                    <a:lstStyle/>
                    <a:p>
                      <a:pPr algn="ctr">
                        <a:defRPr sz="1700" b="0">
                          <a:solidFill>
                            <a:srgbClr val="263343"/>
                          </a:solidFill>
                          <a:latin typeface="Calibri"/>
                        </a:defRPr>
                      </a:pPr>
                      <a:r>
                        <a:t>372</a:t>
                      </a:r>
                    </a:p>
                  </a:txBody>
                  <a:tcPr marL="109728" marR="109728" marT="64008" marB="64008" anchor="ctr">
                    <a:solidFill>
                      <a:srgbClr val="FFFFFF"/>
                    </a:solidFill>
                  </a:tcPr>
                </a:tc>
                <a:tc>
                  <a:txBody>
                    <a:bodyPr/>
                    <a:lstStyle/>
                    <a:p>
                      <a:pPr algn="ctr">
                        <a:defRPr sz="1700" b="0">
                          <a:solidFill>
                            <a:srgbClr val="263343"/>
                          </a:solidFill>
                          <a:latin typeface="Calibri"/>
                        </a:defRPr>
                      </a:pPr>
                      <a:r>
                        <a:t>97.99</a:t>
                      </a:r>
                    </a:p>
                  </a:txBody>
                  <a:tcPr marL="109728" marR="109728" marT="64008" marB="64008" anchor="ctr">
                    <a:solidFill>
                      <a:srgbClr val="FFFFFF"/>
                    </a:solidFill>
                  </a:tcPr>
                </a:tc>
                <a:tc>
                  <a:txBody>
                    <a:bodyPr/>
                    <a:lstStyle/>
                    <a:p>
                      <a:pPr algn="ctr">
                        <a:defRPr sz="1700" b="0">
                          <a:solidFill>
                            <a:srgbClr val="263343"/>
                          </a:solidFill>
                          <a:latin typeface="Calibri"/>
                        </a:defRPr>
                      </a:pPr>
                      <a:r>
                        <a:t>98.14</a:t>
                      </a:r>
                    </a:p>
                  </a:txBody>
                  <a:tcPr marL="109728" marR="109728" marT="64008" marB="64008" anchor="ctr">
                    <a:solidFill>
                      <a:srgbClr val="FFFFFF"/>
                    </a:solidFill>
                  </a:tcPr>
                </a:tc>
                <a:tc>
                  <a:txBody>
                    <a:bodyPr/>
                    <a:lstStyle/>
                    <a:p>
                      <a:pPr algn="ctr">
                        <a:defRPr sz="1700" b="0">
                          <a:solidFill>
                            <a:srgbClr val="263343"/>
                          </a:solidFill>
                          <a:latin typeface="Calibri"/>
                        </a:defRPr>
                      </a:pPr>
                      <a:r>
                        <a:t>97.61</a:t>
                      </a:r>
                    </a:p>
                  </a:txBody>
                  <a:tcPr marL="109728" marR="109728" marT="64008" marB="64008" anchor="ctr">
                    <a:solidFill>
                      <a:srgbClr val="FFFFFF"/>
                    </a:solidFill>
                  </a:tcPr>
                </a:tc>
              </a:tr>
              <a:tr h="502920">
                <a:tc>
                  <a:txBody>
                    <a:bodyPr/>
                    <a:lstStyle/>
                    <a:p>
                      <a:pPr algn="l">
                        <a:defRPr sz="1700" b="0">
                          <a:solidFill>
                            <a:srgbClr val="263343"/>
                          </a:solidFill>
                          <a:latin typeface="Calibri"/>
                        </a:defRPr>
                      </a:pPr>
                      <a:r>
                        <a:t>4 Bias</a:t>
                      </a:r>
                    </a:p>
                  </a:txBody>
                  <a:tcPr marL="109728" marR="109728" marT="64008" marB="64008" anchor="ctr">
                    <a:solidFill>
                      <a:srgbClr val="F8FAFC"/>
                    </a:solidFill>
                  </a:tcPr>
                </a:tc>
                <a:tc>
                  <a:txBody>
                    <a:bodyPr/>
                    <a:lstStyle/>
                    <a:p>
                      <a:pPr algn="ctr">
                        <a:defRPr sz="1700" b="0">
                          <a:solidFill>
                            <a:srgbClr val="263343"/>
                          </a:solidFill>
                          <a:latin typeface="Calibri"/>
                        </a:defRPr>
                      </a:pPr>
                      <a:r>
                        <a:t>264</a:t>
                      </a:r>
                    </a:p>
                  </a:txBody>
                  <a:tcPr marL="109728" marR="109728" marT="64008" marB="64008" anchor="ctr">
                    <a:solidFill>
                      <a:srgbClr val="F8FAFC"/>
                    </a:solidFill>
                  </a:tcPr>
                </a:tc>
                <a:tc>
                  <a:txBody>
                    <a:bodyPr/>
                    <a:lstStyle/>
                    <a:p>
                      <a:pPr algn="ctr">
                        <a:defRPr sz="1700" b="0">
                          <a:solidFill>
                            <a:srgbClr val="263343"/>
                          </a:solidFill>
                          <a:latin typeface="Calibri"/>
                        </a:defRPr>
                      </a:pPr>
                      <a:r>
                        <a:t>97.72</a:t>
                      </a:r>
                    </a:p>
                  </a:txBody>
                  <a:tcPr marL="109728" marR="109728" marT="64008" marB="64008" anchor="ctr">
                    <a:solidFill>
                      <a:srgbClr val="F8FAFC"/>
                    </a:solidFill>
                  </a:tcPr>
                </a:tc>
                <a:tc>
                  <a:txBody>
                    <a:bodyPr/>
                    <a:lstStyle/>
                    <a:p>
                      <a:pPr algn="ctr">
                        <a:defRPr sz="1700" b="0">
                          <a:solidFill>
                            <a:srgbClr val="263343"/>
                          </a:solidFill>
                          <a:latin typeface="Calibri"/>
                        </a:defRPr>
                      </a:pPr>
                      <a:r>
                        <a:t>98.10</a:t>
                      </a:r>
                    </a:p>
                  </a:txBody>
                  <a:tcPr marL="109728" marR="109728" marT="64008" marB="64008" anchor="ctr">
                    <a:solidFill>
                      <a:srgbClr val="F8FAFC"/>
                    </a:solidFill>
                  </a:tcPr>
                </a:tc>
                <a:tc>
                  <a:txBody>
                    <a:bodyPr/>
                    <a:lstStyle/>
                    <a:p>
                      <a:pPr algn="ctr">
                        <a:defRPr sz="1700" b="0">
                          <a:solidFill>
                            <a:srgbClr val="263343"/>
                          </a:solidFill>
                          <a:latin typeface="Calibri"/>
                        </a:defRPr>
                      </a:pPr>
                      <a:r>
                        <a:t>97.88</a:t>
                      </a:r>
                    </a:p>
                  </a:txBody>
                  <a:tcPr marL="109728" marR="109728" marT="64008" marB="64008" anchor="ctr">
                    <a:solidFill>
                      <a:srgbClr val="F8FAFC"/>
                    </a:solidFill>
                  </a:tcPr>
                </a:tc>
              </a:tr>
            </a:tbl>
          </a:graphicData>
        </a:graphic>
      </p:graphicFrame>
      <p:sp>
        <p:nvSpPr>
          <p:cNvPr id="13" name="Rounded Rectangle 12"/>
          <p:cNvSpPr/>
          <p:nvPr/>
        </p:nvSpPr>
        <p:spPr>
          <a:xfrm>
            <a:off x="932688" y="5330952"/>
            <a:ext cx="10287000" cy="502920"/>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22-t7"/>
          <p:cNvSpPr txBox="1"/>
          <p:nvPr/>
        </p:nvSpPr>
        <p:spPr>
          <a:xfrm>
            <a:off x="1115568" y="5431536"/>
            <a:ext cx="9921240" cy="310896"/>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82 of 107 sentence-only Qwen label errors are stereotype ↔ anti-stereotype swaps.</a:t>
            </a:r>
          </a:p>
        </p:txBody>
      </p:sp>
      <p:sp>
        <p:nvSpPr>
          <p:cNvPr id="15" name="clara-claim:s22-t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Per-class F1 (%), same test rows and sentence-only input. Different runtimes/precision; no controlled throughput claim.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3-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23</a:t>
            </a:r>
            <a:endParaRPr lang="en-US" sz="1600" dirty="0"/>
          </a:p>
        </p:txBody>
      </p:sp>
      <p:sp>
        <p:nvSpPr>
          <p:cNvPr id="11" name="clara-claim:s2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Saved test example · Same sentence, different structured predictions</a:t>
            </a:r>
          </a:p>
        </p:txBody>
      </p:sp>
      <p:sp>
        <p:nvSpPr>
          <p:cNvPr id="12" name="Rounded Rectangle 11"/>
          <p:cNvSpPr/>
          <p:nvPr/>
        </p:nvSpPr>
        <p:spPr>
          <a:xfrm>
            <a:off x="932688" y="19476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3-t6"/>
          <p:cNvSpPr txBox="1"/>
          <p:nvPr/>
        </p:nvSpPr>
        <p:spPr>
          <a:xfrm>
            <a:off x="1143000" y="2103120"/>
            <a:ext cx="9866376" cy="347472"/>
          </a:xfrm>
          <a:prstGeom prst="rect">
            <a:avLst/>
          </a:prstGeom>
          <a:noFill/>
        </p:spPr>
        <p:txBody>
          <a:bodyPr wrap="square" lIns="0" rIns="0" tIns="0" bIns="0" anchor="t">
            <a:spAutoFit/>
          </a:bodyPr>
          <a:lstStyle/>
          <a:p>
            <a:pPr algn="l">
              <a:spcBef>
                <a:spcPts val="0"/>
              </a:spcBef>
              <a:spcAft>
                <a:spcPts val="500"/>
              </a:spcAft>
              <a:defRPr sz="2500" b="1">
                <a:solidFill>
                  <a:srgbClr val="263343"/>
                </a:solidFill>
                <a:latin typeface="Calibri"/>
              </a:defRPr>
            </a:pPr>
            <a:r>
              <a:t>Input sentence: “The dog begged for his treat.”</a:t>
            </a:r>
          </a:p>
        </p:txBody>
      </p:sp>
      <p:sp>
        <p:nvSpPr>
          <p:cNvPr id="14" name="Rounded Rectangle 13"/>
          <p:cNvSpPr/>
          <p:nvPr/>
        </p:nvSpPr>
        <p:spPr>
          <a:xfrm>
            <a:off x="932688" y="2907792"/>
            <a:ext cx="4992624" cy="2395728"/>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23-t8"/>
          <p:cNvSpPr txBox="1"/>
          <p:nvPr/>
        </p:nvSpPr>
        <p:spPr>
          <a:xfrm>
            <a:off x="1115568" y="305409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Base checkpoint</a:t>
            </a:r>
          </a:p>
        </p:txBody>
      </p:sp>
      <p:sp>
        <p:nvSpPr>
          <p:cNvPr id="16" name="clara-claim:s23-t9"/>
          <p:cNvSpPr txBox="1"/>
          <p:nvPr/>
        </p:nvSpPr>
        <p:spPr>
          <a:xfrm>
            <a:off x="1115568" y="3630168"/>
            <a:ext cx="4626864"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"dog", "label": 3</a:t>
            </a:r>
          </a:p>
          <a:p>
            <a:pPr algn="l">
              <a:spcBef>
                <a:spcPts val="0"/>
              </a:spcBef>
              <a:spcAft>
                <a:spcPts val="500"/>
              </a:spcAft>
              <a:defRPr sz="2200" b="0">
                <a:solidFill>
                  <a:srgbClr val="263343"/>
                </a:solidFill>
                <a:latin typeface="Calibri"/>
              </a:defRPr>
            </a:pPr>
            <a:r>
              <a:t>}</a:t>
            </a:r>
          </a:p>
        </p:txBody>
      </p:sp>
      <p:sp>
        <p:nvSpPr>
          <p:cNvPr id="17" name="Rounded Rectangle 16"/>
          <p:cNvSpPr/>
          <p:nvPr/>
        </p:nvSpPr>
        <p:spPr>
          <a:xfrm>
            <a:off x="6144768" y="2907792"/>
            <a:ext cx="5093208" cy="239572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23-t11"/>
          <p:cNvSpPr txBox="1"/>
          <p:nvPr/>
        </p:nvSpPr>
        <p:spPr>
          <a:xfrm>
            <a:off x="6327648" y="305409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Fine-tuned JSON adapter</a:t>
            </a:r>
          </a:p>
        </p:txBody>
      </p:sp>
      <p:sp>
        <p:nvSpPr>
          <p:cNvPr id="19" name="clara-claim:s23-t12"/>
          <p:cNvSpPr txBox="1"/>
          <p:nvPr/>
        </p:nvSpPr>
        <p:spPr>
          <a:xfrm>
            <a:off x="6327648" y="3630168"/>
            <a:ext cx="4727448"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"Neutral", "label": 2</a:t>
            </a:r>
          </a:p>
          <a:p>
            <a:pPr algn="l">
              <a:spcBef>
                <a:spcPts val="0"/>
              </a:spcBef>
              <a:spcAft>
                <a:spcPts val="500"/>
              </a:spcAft>
              <a:defRPr sz="2200" b="0">
                <a:solidFill>
                  <a:srgbClr val="263343"/>
                </a:solidFill>
                <a:latin typeface="Calibri"/>
              </a:defRPr>
            </a:pPr>
            <a:r>
              <a:t>}</a:t>
            </a:r>
          </a:p>
        </p:txBody>
      </p:sp>
      <p:sp>
        <p:nvSpPr>
          <p:cNvPr id="20" name="clara-claim:s23-t13"/>
          <p:cNvSpPr txBox="1"/>
          <p:nvPr/>
        </p:nvSpPr>
        <p:spPr>
          <a:xfrm>
            <a:off x="1097280" y="5504688"/>
            <a:ext cx="9948672" cy="36576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Gold annotation: category neutral · target Neutral · label 2</a:t>
            </a:r>
          </a:p>
        </p:txBody>
      </p:sp>
      <p:sp>
        <p:nvSpPr>
          <p:cNvPr id="21" name="clara-claim:s23-t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saved completions for test index 0. This example is a recorded demonstration.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4-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24</a:t>
            </a:r>
            <a:endParaRPr lang="en-US" sz="1600" dirty="0"/>
          </a:p>
        </p:txBody>
      </p:sp>
      <p:sp>
        <p:nvSpPr>
          <p:cNvPr id="11" name="clara-claim:s2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Correct prediction with word color maps</a:t>
            </a:r>
          </a:p>
        </p:txBody>
      </p:sp>
      <p:sp>
        <p:nvSpPr>
          <p:cNvPr id="12" name="Rounded Rectangle 11"/>
          <p:cNvSpPr/>
          <p:nvPr/>
        </p:nvSpPr>
        <p:spPr>
          <a:xfrm>
            <a:off x="932688" y="1901952"/>
            <a:ext cx="10287000" cy="5669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4-t6"/>
          <p:cNvSpPr txBox="1"/>
          <p:nvPr/>
        </p:nvSpPr>
        <p:spPr>
          <a:xfrm>
            <a:off x="1097280" y="2029968"/>
            <a:ext cx="9939528" cy="320040"/>
          </a:xfrm>
          <a:prstGeom prst="rect">
            <a:avLst/>
          </a:prstGeom>
          <a:noFill/>
        </p:spPr>
        <p:txBody>
          <a:bodyPr wrap="square" lIns="0" rIns="0" tIns="0" bIns="0" anchor="t">
            <a:spAutoFit/>
          </a:bodyPr>
          <a:lstStyle/>
          <a:p>
            <a:pPr algn="l">
              <a:spcBef>
                <a:spcPts val="0"/>
              </a:spcBef>
              <a:spcAft>
                <a:spcPts val="500"/>
              </a:spcAft>
              <a:defRPr sz="2200" b="1">
                <a:solidFill>
                  <a:srgbClr val="263343"/>
                </a:solidFill>
                <a:latin typeface="Calibri"/>
              </a:defRPr>
            </a:pPr>
            <a:r>
              <a:t>“Producers are businesslike”</a:t>
            </a:r>
          </a:p>
        </p:txBody>
      </p:sp>
      <p:sp>
        <p:nvSpPr>
          <p:cNvPr id="14" name="clara-claim:s24-t7"/>
          <p:cNvSpPr txBox="1"/>
          <p:nvPr/>
        </p:nvSpPr>
        <p:spPr>
          <a:xfrm>
            <a:off x="969264" y="2615184"/>
            <a:ext cx="10168128" cy="320040"/>
          </a:xfrm>
          <a:prstGeom prst="rect">
            <a:avLst/>
          </a:prstGeom>
          <a:noFill/>
        </p:spPr>
        <p:txBody>
          <a:bodyPr wrap="square" lIns="0" rIns="0" tIns="0" bIns="0" anchor="t">
            <a:spAutoFit/>
          </a:bodyPr>
          <a:lstStyle/>
          <a:p>
            <a:pPr algn="l">
              <a:spcBef>
                <a:spcPts val="0"/>
              </a:spcBef>
              <a:spcAft>
                <a:spcPts val="500"/>
              </a:spcAft>
              <a:defRPr sz="1700" b="1">
                <a:solidFill>
                  <a:srgbClr val="4F8567"/>
                </a:solidFill>
                <a:latin typeface="Calibri"/>
              </a:defRPr>
            </a:pPr>
            <a:r>
              <a:t>Gold 1 (Stereotype)   |   Predicted 1 (Stereotype)   |   Correct</a:t>
            </a:r>
          </a:p>
        </p:txBody>
      </p:sp>
      <p:sp>
        <p:nvSpPr>
          <p:cNvPr id="15" name="clara-claim:s24-t8"/>
          <p:cNvSpPr txBox="1"/>
          <p:nvPr/>
        </p:nvSpPr>
        <p:spPr>
          <a:xfrm>
            <a:off x="978408" y="3291840"/>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LIME</a:t>
            </a:r>
          </a:p>
        </p:txBody>
      </p:sp>
      <p:sp>
        <p:nvSpPr>
          <p:cNvPr id="16" name="Rounded Rectangle 15"/>
          <p:cNvSpPr/>
          <p:nvPr/>
        </p:nvSpPr>
        <p:spPr>
          <a:xfrm>
            <a:off x="2459736" y="3136392"/>
            <a:ext cx="3203786"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4-t10"/>
          <p:cNvSpPr txBox="1"/>
          <p:nvPr/>
        </p:nvSpPr>
        <p:spPr>
          <a:xfrm>
            <a:off x="2482596" y="3218688"/>
            <a:ext cx="3158066"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Producers</a:t>
            </a:r>
          </a:p>
        </p:txBody>
      </p:sp>
      <p:sp>
        <p:nvSpPr>
          <p:cNvPr id="18" name="clara-claim:s24-t11"/>
          <p:cNvSpPr txBox="1"/>
          <p:nvPr/>
        </p:nvSpPr>
        <p:spPr>
          <a:xfrm>
            <a:off x="2482596" y="3529584"/>
            <a:ext cx="31580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+0.114</a:t>
            </a:r>
          </a:p>
        </p:txBody>
      </p:sp>
      <p:sp>
        <p:nvSpPr>
          <p:cNvPr id="19" name="Rounded Rectangle 18"/>
          <p:cNvSpPr/>
          <p:nvPr/>
        </p:nvSpPr>
        <p:spPr>
          <a:xfrm>
            <a:off x="5713814" y="3136392"/>
            <a:ext cx="1281514"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lara-claim:s24-t13"/>
          <p:cNvSpPr txBox="1"/>
          <p:nvPr/>
        </p:nvSpPr>
        <p:spPr>
          <a:xfrm>
            <a:off x="5736674" y="3218688"/>
            <a:ext cx="1235794"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are</a:t>
            </a:r>
          </a:p>
        </p:txBody>
      </p:sp>
      <p:sp>
        <p:nvSpPr>
          <p:cNvPr id="21" name="clara-claim:s24-t14"/>
          <p:cNvSpPr txBox="1"/>
          <p:nvPr/>
        </p:nvSpPr>
        <p:spPr>
          <a:xfrm>
            <a:off x="5736674" y="3529584"/>
            <a:ext cx="123579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+0.113</a:t>
            </a:r>
          </a:p>
        </p:txBody>
      </p:sp>
      <p:sp>
        <p:nvSpPr>
          <p:cNvPr id="22" name="Rounded Rectangle 21"/>
          <p:cNvSpPr/>
          <p:nvPr/>
        </p:nvSpPr>
        <p:spPr>
          <a:xfrm>
            <a:off x="7045621" y="3136392"/>
            <a:ext cx="4164922" cy="630936"/>
          </a:xfrm>
          <a:prstGeom prst="roundRect">
            <a:avLst>
              <a:gd name="adj" fmla="val 4000"/>
            </a:avLst>
          </a:prstGeom>
          <a:solidFill>
            <a:srgbClr val="D76C23"/>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4-t16"/>
          <p:cNvSpPr txBox="1"/>
          <p:nvPr/>
        </p:nvSpPr>
        <p:spPr>
          <a:xfrm>
            <a:off x="7068481" y="3218688"/>
            <a:ext cx="4119202"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businesslike</a:t>
            </a:r>
          </a:p>
        </p:txBody>
      </p:sp>
      <p:sp>
        <p:nvSpPr>
          <p:cNvPr id="24" name="clara-claim:s24-t17"/>
          <p:cNvSpPr txBox="1"/>
          <p:nvPr/>
        </p:nvSpPr>
        <p:spPr>
          <a:xfrm>
            <a:off x="7068481" y="3529584"/>
            <a:ext cx="4119202"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+0.688</a:t>
            </a:r>
          </a:p>
        </p:txBody>
      </p:sp>
      <p:sp>
        <p:nvSpPr>
          <p:cNvPr id="25" name="clara-claim:s24-t18"/>
          <p:cNvSpPr txBox="1"/>
          <p:nvPr/>
        </p:nvSpPr>
        <p:spPr>
          <a:xfrm>
            <a:off x="978408" y="4087368"/>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SHAP</a:t>
            </a:r>
          </a:p>
        </p:txBody>
      </p:sp>
      <p:sp>
        <p:nvSpPr>
          <p:cNvPr id="26" name="Rounded Rectangle 25"/>
          <p:cNvSpPr/>
          <p:nvPr/>
        </p:nvSpPr>
        <p:spPr>
          <a:xfrm>
            <a:off x="2459736" y="3931920"/>
            <a:ext cx="3203786" cy="630936"/>
          </a:xfrm>
          <a:prstGeom prst="roundRect">
            <a:avLst>
              <a:gd name="adj" fmla="val 4000"/>
            </a:avLst>
          </a:prstGeom>
          <a:solidFill>
            <a:srgbClr val="F8F3EE"/>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82596" y="4014215"/>
            <a:ext cx="3158066"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Producers</a:t>
            </a:r>
          </a:p>
        </p:txBody>
      </p:sp>
      <p:sp>
        <p:nvSpPr>
          <p:cNvPr id="28" name="clara-claim:s24-t21"/>
          <p:cNvSpPr txBox="1"/>
          <p:nvPr/>
        </p:nvSpPr>
        <p:spPr>
          <a:xfrm>
            <a:off x="2482596" y="4325112"/>
            <a:ext cx="31580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+0.034</a:t>
            </a:r>
          </a:p>
        </p:txBody>
      </p:sp>
      <p:sp>
        <p:nvSpPr>
          <p:cNvPr id="29" name="Rounded Rectangle 28"/>
          <p:cNvSpPr/>
          <p:nvPr/>
        </p:nvSpPr>
        <p:spPr>
          <a:xfrm>
            <a:off x="5713814" y="3931920"/>
            <a:ext cx="1281514" cy="630936"/>
          </a:xfrm>
          <a:prstGeom prst="roundRect">
            <a:avLst>
              <a:gd name="adj" fmla="val 4000"/>
            </a:avLst>
          </a:prstGeom>
          <a:solidFill>
            <a:srgbClr val="F8F0E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36674" y="4014215"/>
            <a:ext cx="1235794"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are</a:t>
            </a:r>
          </a:p>
        </p:txBody>
      </p:sp>
      <p:sp>
        <p:nvSpPr>
          <p:cNvPr id="31" name="clara-claim:s24-t24"/>
          <p:cNvSpPr txBox="1"/>
          <p:nvPr/>
        </p:nvSpPr>
        <p:spPr>
          <a:xfrm>
            <a:off x="5736674" y="4325112"/>
            <a:ext cx="123579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+0.048</a:t>
            </a:r>
          </a:p>
        </p:txBody>
      </p:sp>
      <p:sp>
        <p:nvSpPr>
          <p:cNvPr id="32" name="Rounded Rectangle 31"/>
          <p:cNvSpPr/>
          <p:nvPr/>
        </p:nvSpPr>
        <p:spPr>
          <a:xfrm>
            <a:off x="7045621" y="3931920"/>
            <a:ext cx="4164922" cy="630936"/>
          </a:xfrm>
          <a:prstGeom prst="roundRect">
            <a:avLst>
              <a:gd name="adj" fmla="val 4000"/>
            </a:avLst>
          </a:prstGeom>
          <a:solidFill>
            <a:srgbClr val="DA783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68481" y="4014215"/>
            <a:ext cx="4119202"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businesslike</a:t>
            </a:r>
          </a:p>
        </p:txBody>
      </p:sp>
      <p:sp>
        <p:nvSpPr>
          <p:cNvPr id="34" name="clara-claim:s24-t27"/>
          <p:cNvSpPr txBox="1"/>
          <p:nvPr/>
        </p:nvSpPr>
        <p:spPr>
          <a:xfrm>
            <a:off x="7068481" y="4325112"/>
            <a:ext cx="4119202"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+0.631</a:t>
            </a:r>
          </a:p>
        </p:txBody>
      </p:sp>
      <p:sp>
        <p:nvSpPr>
          <p:cNvPr id="35" name="clara-claim:s24-t28"/>
          <p:cNvSpPr txBox="1"/>
          <p:nvPr/>
        </p:nvSpPr>
        <p:spPr>
          <a:xfrm>
            <a:off x="969264" y="4736592"/>
            <a:ext cx="10168128" cy="393192"/>
          </a:xfrm>
          <a:prstGeom prst="rect">
            <a:avLst/>
          </a:prstGeom>
          <a:noFill/>
        </p:spPr>
        <p:txBody>
          <a:bodyPr wrap="square" lIns="0" rIns="0" tIns="0" bIns="0" anchor="t">
            <a:spAutoFit/>
          </a:bodyPr>
          <a:lstStyle/>
          <a:p>
            <a:pPr algn="l">
              <a:spcBef>
                <a:spcPts val="0"/>
              </a:spcBef>
              <a:spcAft>
                <a:spcPts val="500"/>
              </a:spcAft>
              <a:defRPr sz="1700" b="1">
                <a:solidFill>
                  <a:srgbClr val="263343"/>
                </a:solidFill>
                <a:latin typeface="Calibri"/>
              </a:defRPr>
            </a:pPr>
            <a:r>
              <a:t>Largest support: businesslike. Masking the top word lowers the class score by 57.73 pp.</a:t>
            </a:r>
          </a:p>
        </p:txBody>
      </p:sp>
      <p:sp>
        <p:nvSpPr>
          <p:cNvPr id="36" name="clara-claim:s24-t29"/>
          <p:cNvSpPr txBox="1"/>
          <p:nvPr/>
        </p:nvSpPr>
        <p:spPr>
          <a:xfrm>
            <a:off x="969264" y="5349240"/>
            <a:ext cx="2926080" cy="320040"/>
          </a:xfrm>
          <a:prstGeom prst="rect">
            <a:avLst/>
          </a:prstGeom>
          <a:noFill/>
        </p:spPr>
        <p:txBody>
          <a:bodyPr wrap="square" lIns="0" rIns="0" tIns="0" bIns="0" anchor="t">
            <a:spAutoFit/>
          </a:bodyPr>
          <a:lstStyle/>
          <a:p>
            <a:pPr algn="l">
              <a:spcBef>
                <a:spcPts val="0"/>
              </a:spcBef>
              <a:spcAft>
                <a:spcPts val="500"/>
              </a:spcAft>
              <a:defRPr sz="1500" b="0">
                <a:solidFill>
                  <a:srgbClr val="2B73B9"/>
                </a:solidFill>
                <a:latin typeface="Calibri"/>
              </a:defRPr>
            </a:pPr>
            <a:r>
              <a:t>Blue: lowers class 1 score</a:t>
            </a:r>
          </a:p>
        </p:txBody>
      </p:sp>
      <p:sp>
        <p:nvSpPr>
          <p:cNvPr id="37" name="clara-claim:s24-t30"/>
          <p:cNvSpPr txBox="1"/>
          <p:nvPr/>
        </p:nvSpPr>
        <p:spPr>
          <a:xfrm>
            <a:off x="8339327" y="5349240"/>
            <a:ext cx="2880360" cy="320040"/>
          </a:xfrm>
          <a:prstGeom prst="rect">
            <a:avLst/>
          </a:prstGeom>
          <a:noFill/>
        </p:spPr>
        <p:txBody>
          <a:bodyPr wrap="square" lIns="0" rIns="0" tIns="0" bIns="0" anchor="t">
            <a:spAutoFit/>
          </a:bodyPr>
          <a:lstStyle/>
          <a:p>
            <a:pPr algn="r">
              <a:spcBef>
                <a:spcPts val="0"/>
              </a:spcBef>
              <a:spcAft>
                <a:spcPts val="500"/>
              </a:spcAft>
              <a:defRPr sz="1500" b="0">
                <a:solidFill>
                  <a:srgbClr val="A95015"/>
                </a:solidFill>
                <a:latin typeface="Calibri"/>
              </a:defRPr>
            </a:pPr>
            <a:r>
              <a:t>Orange: raises class 1 score</a:t>
            </a:r>
          </a:p>
        </p:txBody>
      </p:sp>
      <p:sp>
        <p:nvSpPr>
          <p:cNvPr id="38" name="Rectangle 37"/>
          <p:cNvSpPr/>
          <p:nvPr/>
        </p:nvSpPr>
        <p:spPr>
          <a:xfrm>
            <a:off x="4014215" y="5404104"/>
            <a:ext cx="82053" cy="164592"/>
          </a:xfrm>
          <a:prstGeom prst="rect">
            <a:avLst/>
          </a:prstGeom>
          <a:solidFill>
            <a:srgbClr val="2B73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093526" y="5404104"/>
            <a:ext cx="82053" cy="164592"/>
          </a:xfrm>
          <a:prstGeom prst="rect">
            <a:avLst/>
          </a:prstGeom>
          <a:solidFill>
            <a:srgbClr val="347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72836" y="5404104"/>
            <a:ext cx="82053" cy="164592"/>
          </a:xfrm>
          <a:prstGeom prst="rect">
            <a:avLst/>
          </a:prstGeom>
          <a:solidFill>
            <a:srgbClr val="3C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2146" y="5404104"/>
            <a:ext cx="82053" cy="164592"/>
          </a:xfrm>
          <a:prstGeom prst="rect">
            <a:avLst/>
          </a:prstGeom>
          <a:solidFill>
            <a:srgbClr val="458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331456" y="5404104"/>
            <a:ext cx="82053" cy="164592"/>
          </a:xfrm>
          <a:prstGeom prst="rect">
            <a:avLst/>
          </a:prstGeom>
          <a:solidFill>
            <a:srgbClr val="4E8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10767" y="5404104"/>
            <a:ext cx="82053" cy="164592"/>
          </a:xfrm>
          <a:prstGeom prst="rect">
            <a:avLst/>
          </a:prstGeom>
          <a:solidFill>
            <a:srgbClr val="568F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90077" y="5404104"/>
            <a:ext cx="82053" cy="164592"/>
          </a:xfrm>
          <a:prstGeom prst="rect">
            <a:avLst/>
          </a:prstGeom>
          <a:solidFill>
            <a:srgbClr val="5F9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69387" y="5404104"/>
            <a:ext cx="82053" cy="164592"/>
          </a:xfrm>
          <a:prstGeom prst="rect">
            <a:avLst/>
          </a:prstGeom>
          <a:solidFill>
            <a:srgbClr val="67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648697" y="5404104"/>
            <a:ext cx="82053" cy="164592"/>
          </a:xfrm>
          <a:prstGeom prst="rect">
            <a:avLst/>
          </a:prstGeom>
          <a:solidFill>
            <a:srgbClr val="70A0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28007" y="5404104"/>
            <a:ext cx="82053" cy="164592"/>
          </a:xfrm>
          <a:prstGeom prst="rect">
            <a:avLst/>
          </a:prstGeom>
          <a:solidFill>
            <a:srgbClr val="79A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07318" y="5404104"/>
            <a:ext cx="82053" cy="164592"/>
          </a:xfrm>
          <a:prstGeom prst="rect">
            <a:avLst/>
          </a:prstGeom>
          <a:solidFill>
            <a:srgbClr val="81A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886628" y="5404104"/>
            <a:ext cx="82053" cy="164592"/>
          </a:xfrm>
          <a:prstGeom prst="rect">
            <a:avLst/>
          </a:prstGeom>
          <a:solidFill>
            <a:srgbClr val="8AB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965938" y="5404104"/>
            <a:ext cx="82053" cy="164592"/>
          </a:xfrm>
          <a:prstGeom prst="rect">
            <a:avLst/>
          </a:prstGeom>
          <a:solidFill>
            <a:srgbClr val="92B6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45248" y="5404104"/>
            <a:ext cx="82053" cy="164592"/>
          </a:xfrm>
          <a:prstGeom prst="rect">
            <a:avLst/>
          </a:prstGeom>
          <a:solidFill>
            <a:srgbClr val="9BB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124558" y="5404104"/>
            <a:ext cx="82053" cy="164592"/>
          </a:xfrm>
          <a:prstGeom prst="rect">
            <a:avLst/>
          </a:prstGeom>
          <a:solidFill>
            <a:srgbClr val="A4C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203869" y="5404104"/>
            <a:ext cx="82053" cy="164592"/>
          </a:xfrm>
          <a:prstGeom prst="rect">
            <a:avLst/>
          </a:prstGeom>
          <a:solidFill>
            <a:srgbClr val="ACC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283179" y="5404104"/>
            <a:ext cx="82053" cy="164592"/>
          </a:xfrm>
          <a:prstGeom prst="rect">
            <a:avLst/>
          </a:prstGeom>
          <a:solidFill>
            <a:srgbClr val="B5C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62489" y="5404104"/>
            <a:ext cx="82053" cy="164592"/>
          </a:xfrm>
          <a:prstGeom prst="rect">
            <a:avLst/>
          </a:prstGeom>
          <a:solidFill>
            <a:srgbClr val="BE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41799" y="5404104"/>
            <a:ext cx="82053" cy="164592"/>
          </a:xfrm>
          <a:prstGeom prst="rect">
            <a:avLst/>
          </a:prstGeom>
          <a:solidFill>
            <a:srgbClr val="C6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521109" y="5404104"/>
            <a:ext cx="82053" cy="164592"/>
          </a:xfrm>
          <a:prstGeom prst="rect">
            <a:avLst/>
          </a:prstGeom>
          <a:solidFill>
            <a:srgbClr val="CF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00420" y="5404104"/>
            <a:ext cx="82053" cy="164592"/>
          </a:xfrm>
          <a:prstGeom prst="rect">
            <a:avLst/>
          </a:prstGeom>
          <a:solidFill>
            <a:srgbClr val="D8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679730" y="5404104"/>
            <a:ext cx="82053" cy="164592"/>
          </a:xfrm>
          <a:prstGeom prst="rect">
            <a:avLst/>
          </a:prstGeom>
          <a:solidFill>
            <a:srgbClr val="E0E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759040" y="5404104"/>
            <a:ext cx="82053" cy="1645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838350" y="5404104"/>
            <a:ext cx="82053" cy="164592"/>
          </a:xfrm>
          <a:prstGeom prst="rect">
            <a:avLst/>
          </a:prstGeom>
          <a:solidFill>
            <a:srgbClr val="F1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917660" y="5404104"/>
            <a:ext cx="82053" cy="164592"/>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996971" y="5404104"/>
            <a:ext cx="82053" cy="164592"/>
          </a:xfrm>
          <a:prstGeom prst="rect">
            <a:avLst/>
          </a:prstGeom>
          <a:solidFill>
            <a:srgbClr val="F8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76281" y="5404104"/>
            <a:ext cx="82053" cy="164592"/>
          </a:xfrm>
          <a:prstGeom prst="rect">
            <a:avLst/>
          </a:prstGeom>
          <a:solidFill>
            <a:srgbClr val="F7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55591" y="5404104"/>
            <a:ext cx="82053" cy="164592"/>
          </a:xfrm>
          <a:prstGeom prst="rect">
            <a:avLst/>
          </a:prstGeom>
          <a:solidFill>
            <a:srgbClr val="F6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34901" y="5404104"/>
            <a:ext cx="82053" cy="164592"/>
          </a:xfrm>
          <a:prstGeom prst="rect">
            <a:avLst/>
          </a:prstGeom>
          <a:solidFill>
            <a:srgbClr val="F4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14211" y="5404104"/>
            <a:ext cx="82053" cy="164592"/>
          </a:xfrm>
          <a:prstGeom prst="rect">
            <a:avLst/>
          </a:prstGeom>
          <a:solidFill>
            <a:srgbClr val="F2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93522" y="5404104"/>
            <a:ext cx="82053" cy="164592"/>
          </a:xfrm>
          <a:prstGeom prst="rect">
            <a:avLst/>
          </a:prstGeom>
          <a:solidFill>
            <a:srgbClr val="F1D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472832" y="5404104"/>
            <a:ext cx="82053" cy="164592"/>
          </a:xfrm>
          <a:prstGeom prst="rect">
            <a:avLst/>
          </a:prstGeom>
          <a:solidFill>
            <a:srgbClr val="F0D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552142" y="5404104"/>
            <a:ext cx="82053" cy="164592"/>
          </a:xfrm>
          <a:prstGeom prst="rect">
            <a:avLst/>
          </a:prstGeom>
          <a:solidFill>
            <a:srgbClr val="EEC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631452" y="5404104"/>
            <a:ext cx="82053" cy="164592"/>
          </a:xfrm>
          <a:prstGeom prst="rect">
            <a:avLst/>
          </a:prstGeom>
          <a:solidFill>
            <a:srgbClr val="ECC4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10762" y="5404104"/>
            <a:ext cx="82053" cy="164592"/>
          </a:xfrm>
          <a:prstGeom prst="rect">
            <a:avLst/>
          </a:prstGeom>
          <a:solidFill>
            <a:srgbClr val="EBB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790073" y="5404104"/>
            <a:ext cx="82053" cy="164592"/>
          </a:xfrm>
          <a:prstGeom prst="rect">
            <a:avLst/>
          </a:prstGeom>
          <a:solidFill>
            <a:srgbClr val="EAB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869383" y="5404104"/>
            <a:ext cx="82053" cy="164592"/>
          </a:xfrm>
          <a:prstGeom prst="rect">
            <a:avLst/>
          </a:prstGeom>
          <a:solidFill>
            <a:srgbClr val="E8B2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48693" y="5404104"/>
            <a:ext cx="82053" cy="164592"/>
          </a:xfrm>
          <a:prstGeom prst="rect">
            <a:avLst/>
          </a:prstGeom>
          <a:solidFill>
            <a:srgbClr val="E6A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028003" y="5404104"/>
            <a:ext cx="82053" cy="164592"/>
          </a:xfrm>
          <a:prstGeom prst="rect">
            <a:avLst/>
          </a:prstGeom>
          <a:solidFill>
            <a:srgbClr val="E5A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107313" y="5404104"/>
            <a:ext cx="82053" cy="164592"/>
          </a:xfrm>
          <a:prstGeom prst="rect">
            <a:avLst/>
          </a:prstGeom>
          <a:solidFill>
            <a:srgbClr val="E4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186624" y="5404104"/>
            <a:ext cx="82053" cy="164592"/>
          </a:xfrm>
          <a:prstGeom prst="rect">
            <a:avLst/>
          </a:prstGeom>
          <a:solidFill>
            <a:srgbClr val="E29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265934" y="5404104"/>
            <a:ext cx="82053" cy="164592"/>
          </a:xfrm>
          <a:prstGeom prst="rect">
            <a:avLst/>
          </a:prstGeom>
          <a:solidFill>
            <a:srgbClr val="E09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345244" y="5404104"/>
            <a:ext cx="82053" cy="164592"/>
          </a:xfrm>
          <a:prstGeom prst="rect">
            <a:avLst/>
          </a:prstGeom>
          <a:solidFill>
            <a:srgbClr val="DF8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424554" y="5404104"/>
            <a:ext cx="82053" cy="164592"/>
          </a:xfrm>
          <a:prstGeom prst="rect">
            <a:avLst/>
          </a:prstGeom>
          <a:solidFill>
            <a:srgbClr val="DE8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503864" y="5404104"/>
            <a:ext cx="82053" cy="164592"/>
          </a:xfrm>
          <a:prstGeom prst="rect">
            <a:avLst/>
          </a:prstGeom>
          <a:solidFill>
            <a:srgbClr val="DC8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583175" y="5404104"/>
            <a:ext cx="82053" cy="164592"/>
          </a:xfrm>
          <a:prstGeom prst="rect">
            <a:avLst/>
          </a:prstGeom>
          <a:solidFill>
            <a:srgbClr val="DA7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662485" y="5404104"/>
            <a:ext cx="82053" cy="164592"/>
          </a:xfrm>
          <a:prstGeom prst="rect">
            <a:avLst/>
          </a:prstGeom>
          <a:solidFill>
            <a:srgbClr val="D97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741795" y="5404104"/>
            <a:ext cx="82053" cy="164592"/>
          </a:xfrm>
          <a:prstGeom prst="rect">
            <a:avLst/>
          </a:prstGeom>
          <a:solidFill>
            <a:srgbClr val="D87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821105" y="5404104"/>
            <a:ext cx="82053" cy="164592"/>
          </a:xfrm>
          <a:prstGeom prst="rect">
            <a:avLst/>
          </a:prstGeom>
          <a:solidFill>
            <a:srgbClr val="D6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lara-claim:s24-t80"/>
          <p:cNvSpPr txBox="1"/>
          <p:nvPr/>
        </p:nvSpPr>
        <p:spPr>
          <a:xfrm>
            <a:off x="3904487"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88" name="TextBox 87"/>
          <p:cNvSpPr txBox="1"/>
          <p:nvPr/>
        </p:nvSpPr>
        <p:spPr>
          <a:xfrm>
            <a:off x="5774436"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a:t>
            </a:r>
          </a:p>
        </p:txBody>
      </p:sp>
      <p:sp>
        <p:nvSpPr>
          <p:cNvPr id="89" name="clara-claim:s24-t82"/>
          <p:cNvSpPr txBox="1"/>
          <p:nvPr/>
        </p:nvSpPr>
        <p:spPr>
          <a:xfrm>
            <a:off x="7543800"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90" name="clara-claim:s24-t83"/>
          <p:cNvSpPr txBox="1"/>
          <p:nvPr/>
        </p:nvSpPr>
        <p:spPr>
          <a:xfrm>
            <a:off x="4663440" y="5129784"/>
            <a:ext cx="2651760" cy="210312"/>
          </a:xfrm>
          <a:prstGeom prst="rect">
            <a:avLst/>
          </a:prstGeom>
          <a:noFill/>
        </p:spPr>
        <p:txBody>
          <a:bodyPr wrap="square" lIns="0" rIns="0" tIns="0" bIns="0" anchor="t">
            <a:spAutoFit/>
          </a:bodyPr>
          <a:lstStyle/>
          <a:p>
            <a:pPr algn="ctr">
              <a:spcBef>
                <a:spcPts val="0"/>
              </a:spcBef>
              <a:spcAft>
                <a:spcPts val="500"/>
              </a:spcAft>
              <a:defRPr sz="1300" b="0">
                <a:solidFill>
                  <a:srgbClr val="637082"/>
                </a:solidFill>
                <a:latin typeface="Calibri"/>
              </a:defRPr>
            </a:pPr>
            <a:r>
              <a:t>Near white = near zero</a:t>
            </a:r>
          </a:p>
        </p:txBody>
      </p:sp>
      <p:sp>
        <p:nvSpPr>
          <p:cNvPr id="91" name="clara-claim:s24-t8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Darker color = stronger attribution. Signs refer to the named model class, not sentiment or word probabilities.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5-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25</a:t>
            </a:r>
            <a:endParaRPr lang="en-US" sz="1600" dirty="0"/>
          </a:p>
        </p:txBody>
      </p:sp>
      <p:sp>
        <p:nvSpPr>
          <p:cNvPr id="11" name="clara-claim:s2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A misclassified example with word color maps</a:t>
            </a:r>
          </a:p>
        </p:txBody>
      </p:sp>
      <p:sp>
        <p:nvSpPr>
          <p:cNvPr id="12" name="Rounded Rectangle 11"/>
          <p:cNvSpPr/>
          <p:nvPr/>
        </p:nvSpPr>
        <p:spPr>
          <a:xfrm>
            <a:off x="932688" y="1901952"/>
            <a:ext cx="10287000" cy="5669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5-t6"/>
          <p:cNvSpPr txBox="1"/>
          <p:nvPr/>
        </p:nvSpPr>
        <p:spPr>
          <a:xfrm>
            <a:off x="1097280" y="2029968"/>
            <a:ext cx="9939528" cy="320040"/>
          </a:xfrm>
          <a:prstGeom prst="rect">
            <a:avLst/>
          </a:prstGeom>
          <a:noFill/>
        </p:spPr>
        <p:txBody>
          <a:bodyPr wrap="square" lIns="0" rIns="0" tIns="0" bIns="0" anchor="t">
            <a:spAutoFit/>
          </a:bodyPr>
          <a:lstStyle/>
          <a:p>
            <a:pPr algn="l">
              <a:spcBef>
                <a:spcPts val="0"/>
              </a:spcBef>
              <a:spcAft>
                <a:spcPts val="500"/>
              </a:spcAft>
              <a:defRPr sz="2200" b="1">
                <a:solidFill>
                  <a:srgbClr val="263343"/>
                </a:solidFill>
                <a:latin typeface="Calibri"/>
              </a:defRPr>
            </a:pPr>
            <a:r>
              <a:t>“Gentlemen open the car doors for their date.”</a:t>
            </a:r>
          </a:p>
        </p:txBody>
      </p:sp>
      <p:sp>
        <p:nvSpPr>
          <p:cNvPr id="14" name="clara-claim:s25-t7"/>
          <p:cNvSpPr txBox="1"/>
          <p:nvPr/>
        </p:nvSpPr>
        <p:spPr>
          <a:xfrm>
            <a:off x="969264" y="2615184"/>
            <a:ext cx="10168128" cy="320040"/>
          </a:xfrm>
          <a:prstGeom prst="rect">
            <a:avLst/>
          </a:prstGeom>
          <a:noFill/>
        </p:spPr>
        <p:txBody>
          <a:bodyPr wrap="square" lIns="0" rIns="0" tIns="0" bIns="0" anchor="t">
            <a:spAutoFit/>
          </a:bodyPr>
          <a:lstStyle/>
          <a:p>
            <a:pPr algn="l">
              <a:spcBef>
                <a:spcPts val="0"/>
              </a:spcBef>
              <a:spcAft>
                <a:spcPts val="500"/>
              </a:spcAft>
              <a:defRPr sz="1700" b="1">
                <a:solidFill>
                  <a:srgbClr val="A04335"/>
                </a:solidFill>
                <a:latin typeface="Calibri"/>
              </a:defRPr>
            </a:pPr>
            <a:r>
              <a:t>Gold 4 (Bias)   |   Predicted 0 (Anti-stereotype)   |   Misclassified</a:t>
            </a:r>
          </a:p>
        </p:txBody>
      </p:sp>
      <p:sp>
        <p:nvSpPr>
          <p:cNvPr id="15" name="clara-claim:s25-t8"/>
          <p:cNvSpPr txBox="1"/>
          <p:nvPr/>
        </p:nvSpPr>
        <p:spPr>
          <a:xfrm>
            <a:off x="978408" y="3291840"/>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LIME</a:t>
            </a:r>
          </a:p>
        </p:txBody>
      </p:sp>
      <p:sp>
        <p:nvSpPr>
          <p:cNvPr id="16" name="Rounded Rectangle 15"/>
          <p:cNvSpPr/>
          <p:nvPr/>
        </p:nvSpPr>
        <p:spPr>
          <a:xfrm>
            <a:off x="2459736" y="3136392"/>
            <a:ext cx="1908810" cy="630936"/>
          </a:xfrm>
          <a:prstGeom prst="roundRect">
            <a:avLst>
              <a:gd name="adj" fmla="val 4000"/>
            </a:avLst>
          </a:prstGeom>
          <a:solidFill>
            <a:srgbClr val="E29B6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5-t10"/>
          <p:cNvSpPr txBox="1"/>
          <p:nvPr/>
        </p:nvSpPr>
        <p:spPr>
          <a:xfrm>
            <a:off x="2482596" y="3218688"/>
            <a:ext cx="1863090"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Gentlemen</a:t>
            </a:r>
          </a:p>
        </p:txBody>
      </p:sp>
      <p:sp>
        <p:nvSpPr>
          <p:cNvPr id="18" name="clara-claim:s25-t11"/>
          <p:cNvSpPr txBox="1"/>
          <p:nvPr/>
        </p:nvSpPr>
        <p:spPr>
          <a:xfrm>
            <a:off x="2482596" y="3529584"/>
            <a:ext cx="1863090"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+0.461</a:t>
            </a:r>
          </a:p>
        </p:txBody>
      </p:sp>
      <p:sp>
        <p:nvSpPr>
          <p:cNvPr id="19" name="Rounded Rectangle 18"/>
          <p:cNvSpPr/>
          <p:nvPr/>
        </p:nvSpPr>
        <p:spPr>
          <a:xfrm>
            <a:off x="4418838" y="3136392"/>
            <a:ext cx="954405" cy="630936"/>
          </a:xfrm>
          <a:prstGeom prst="roundRect">
            <a:avLst>
              <a:gd name="adj" fmla="val 4000"/>
            </a:avLst>
          </a:prstGeom>
          <a:solidFill>
            <a:srgbClr val="F5E6D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lara-claim:s25-t13"/>
          <p:cNvSpPr txBox="1"/>
          <p:nvPr/>
        </p:nvSpPr>
        <p:spPr>
          <a:xfrm>
            <a:off x="4441698" y="3218688"/>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open</a:t>
            </a:r>
          </a:p>
        </p:txBody>
      </p:sp>
      <p:sp>
        <p:nvSpPr>
          <p:cNvPr id="21" name="clara-claim:s25-t14"/>
          <p:cNvSpPr txBox="1"/>
          <p:nvPr/>
        </p:nvSpPr>
        <p:spPr>
          <a:xfrm>
            <a:off x="4441698" y="3529584"/>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+0.099</a:t>
            </a:r>
          </a:p>
        </p:txBody>
      </p:sp>
      <p:sp>
        <p:nvSpPr>
          <p:cNvPr id="22" name="Rounded Rectangle 21"/>
          <p:cNvSpPr/>
          <p:nvPr/>
        </p:nvSpPr>
        <p:spPr>
          <a:xfrm>
            <a:off x="5423535" y="3136392"/>
            <a:ext cx="763524" cy="630936"/>
          </a:xfrm>
          <a:prstGeom prst="roundRect">
            <a:avLst>
              <a:gd name="adj" fmla="val 4000"/>
            </a:avLst>
          </a:prstGeom>
          <a:solidFill>
            <a:srgbClr val="EFF3F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5-t16"/>
          <p:cNvSpPr txBox="1"/>
          <p:nvPr/>
        </p:nvSpPr>
        <p:spPr>
          <a:xfrm>
            <a:off x="5446395"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a:t>
            </a:r>
          </a:p>
        </p:txBody>
      </p:sp>
      <p:sp>
        <p:nvSpPr>
          <p:cNvPr id="24" name="clara-claim:s25-t17"/>
          <p:cNvSpPr txBox="1"/>
          <p:nvPr/>
        </p:nvSpPr>
        <p:spPr>
          <a:xfrm>
            <a:off x="5446395"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-0.037</a:t>
            </a:r>
          </a:p>
        </p:txBody>
      </p:sp>
      <p:sp>
        <p:nvSpPr>
          <p:cNvPr id="25" name="Rounded Rectangle 24"/>
          <p:cNvSpPr/>
          <p:nvPr/>
        </p:nvSpPr>
        <p:spPr>
          <a:xfrm>
            <a:off x="6237351" y="3136392"/>
            <a:ext cx="763524" cy="630936"/>
          </a:xfrm>
          <a:prstGeom prst="roundRect">
            <a:avLst>
              <a:gd name="adj" fmla="val 4000"/>
            </a:avLst>
          </a:prstGeom>
          <a:solidFill>
            <a:srgbClr val="F6F8F7"/>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lara-claim:s25-t19"/>
          <p:cNvSpPr txBox="1"/>
          <p:nvPr/>
        </p:nvSpPr>
        <p:spPr>
          <a:xfrm>
            <a:off x="6260211"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car</a:t>
            </a:r>
          </a:p>
        </p:txBody>
      </p:sp>
      <p:sp>
        <p:nvSpPr>
          <p:cNvPr id="27" name="clara-claim:s25-t20"/>
          <p:cNvSpPr txBox="1"/>
          <p:nvPr/>
        </p:nvSpPr>
        <p:spPr>
          <a:xfrm>
            <a:off x="6260211"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-0.013</a:t>
            </a:r>
          </a:p>
        </p:txBody>
      </p:sp>
      <p:sp>
        <p:nvSpPr>
          <p:cNvPr id="28" name="Rounded Rectangle 27"/>
          <p:cNvSpPr/>
          <p:nvPr/>
        </p:nvSpPr>
        <p:spPr>
          <a:xfrm>
            <a:off x="7051167" y="3136392"/>
            <a:ext cx="1145286" cy="630936"/>
          </a:xfrm>
          <a:prstGeom prst="roundRect">
            <a:avLst>
              <a:gd name="adj" fmla="val 4000"/>
            </a:avLst>
          </a:prstGeom>
          <a:solidFill>
            <a:srgbClr val="F5E7DC"/>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25-t22"/>
          <p:cNvSpPr txBox="1"/>
          <p:nvPr/>
        </p:nvSpPr>
        <p:spPr>
          <a:xfrm>
            <a:off x="7074027" y="3218688"/>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doors</a:t>
            </a:r>
          </a:p>
        </p:txBody>
      </p:sp>
      <p:sp>
        <p:nvSpPr>
          <p:cNvPr id="30" name="clara-claim:s25-t23"/>
          <p:cNvSpPr txBox="1"/>
          <p:nvPr/>
        </p:nvSpPr>
        <p:spPr>
          <a:xfrm>
            <a:off x="7074027" y="3529584"/>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+0.091</a:t>
            </a:r>
          </a:p>
        </p:txBody>
      </p:sp>
      <p:sp>
        <p:nvSpPr>
          <p:cNvPr id="31" name="Rounded Rectangle 30"/>
          <p:cNvSpPr/>
          <p:nvPr/>
        </p:nvSpPr>
        <p:spPr>
          <a:xfrm>
            <a:off x="8246745" y="3136392"/>
            <a:ext cx="763524" cy="630936"/>
          </a:xfrm>
          <a:prstGeom prst="roundRect">
            <a:avLst>
              <a:gd name="adj" fmla="val 4000"/>
            </a:avLst>
          </a:prstGeom>
          <a:solidFill>
            <a:srgbClr val="F8F1EB"/>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lara-claim:s25-t25"/>
          <p:cNvSpPr txBox="1"/>
          <p:nvPr/>
        </p:nvSpPr>
        <p:spPr>
          <a:xfrm>
            <a:off x="8269605"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for</a:t>
            </a:r>
          </a:p>
        </p:txBody>
      </p:sp>
      <p:sp>
        <p:nvSpPr>
          <p:cNvPr id="33" name="clara-claim:s25-t26"/>
          <p:cNvSpPr txBox="1"/>
          <p:nvPr/>
        </p:nvSpPr>
        <p:spPr>
          <a:xfrm>
            <a:off x="8269605"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+0.043</a:t>
            </a:r>
          </a:p>
        </p:txBody>
      </p:sp>
      <p:sp>
        <p:nvSpPr>
          <p:cNvPr id="34" name="Rounded Rectangle 33"/>
          <p:cNvSpPr/>
          <p:nvPr/>
        </p:nvSpPr>
        <p:spPr>
          <a:xfrm>
            <a:off x="9060561" y="3136392"/>
            <a:ext cx="1145286" cy="630936"/>
          </a:xfrm>
          <a:prstGeom prst="roundRect">
            <a:avLst>
              <a:gd name="adj" fmla="val 4000"/>
            </a:avLst>
          </a:prstGeom>
          <a:solidFill>
            <a:srgbClr val="F8F1EA"/>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lara-claim:s25-t28"/>
          <p:cNvSpPr txBox="1"/>
          <p:nvPr/>
        </p:nvSpPr>
        <p:spPr>
          <a:xfrm>
            <a:off x="9083421" y="3218688"/>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their</a:t>
            </a:r>
          </a:p>
        </p:txBody>
      </p:sp>
      <p:sp>
        <p:nvSpPr>
          <p:cNvPr id="36" name="clara-claim:s25-t29"/>
          <p:cNvSpPr txBox="1"/>
          <p:nvPr/>
        </p:nvSpPr>
        <p:spPr>
          <a:xfrm>
            <a:off x="9083421" y="3529584"/>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+0.044</a:t>
            </a:r>
          </a:p>
        </p:txBody>
      </p:sp>
      <p:sp>
        <p:nvSpPr>
          <p:cNvPr id="37" name="Rounded Rectangle 36"/>
          <p:cNvSpPr/>
          <p:nvPr/>
        </p:nvSpPr>
        <p:spPr>
          <a:xfrm>
            <a:off x="10256139" y="3136392"/>
            <a:ext cx="954405" cy="630936"/>
          </a:xfrm>
          <a:prstGeom prst="roundRect">
            <a:avLst>
              <a:gd name="adj" fmla="val 4000"/>
            </a:avLst>
          </a:prstGeom>
          <a:solidFill>
            <a:srgbClr val="F8F3EE"/>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ara-claim:s25-t31"/>
          <p:cNvSpPr txBox="1"/>
          <p:nvPr/>
        </p:nvSpPr>
        <p:spPr>
          <a:xfrm>
            <a:off x="10278999" y="3218688"/>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date</a:t>
            </a:r>
          </a:p>
        </p:txBody>
      </p:sp>
      <p:sp>
        <p:nvSpPr>
          <p:cNvPr id="39" name="clara-claim:s25-t32"/>
          <p:cNvSpPr txBox="1"/>
          <p:nvPr/>
        </p:nvSpPr>
        <p:spPr>
          <a:xfrm>
            <a:off x="10278999" y="3529584"/>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+0.032</a:t>
            </a:r>
          </a:p>
        </p:txBody>
      </p:sp>
      <p:sp>
        <p:nvSpPr>
          <p:cNvPr id="40" name="clara-claim:s25-t33"/>
          <p:cNvSpPr txBox="1"/>
          <p:nvPr/>
        </p:nvSpPr>
        <p:spPr>
          <a:xfrm>
            <a:off x="978408" y="4087368"/>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SHAP</a:t>
            </a:r>
          </a:p>
        </p:txBody>
      </p:sp>
      <p:sp>
        <p:nvSpPr>
          <p:cNvPr id="41" name="Rounded Rectangle 40"/>
          <p:cNvSpPr/>
          <p:nvPr/>
        </p:nvSpPr>
        <p:spPr>
          <a:xfrm>
            <a:off x="2459736" y="3931920"/>
            <a:ext cx="1908810" cy="630936"/>
          </a:xfrm>
          <a:prstGeom prst="roundRect">
            <a:avLst>
              <a:gd name="adj" fmla="val 4000"/>
            </a:avLst>
          </a:prstGeom>
          <a:solidFill>
            <a:srgbClr val="E7AE8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82596" y="4014215"/>
            <a:ext cx="1863090"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Gentlemen</a:t>
            </a:r>
          </a:p>
        </p:txBody>
      </p:sp>
      <p:sp>
        <p:nvSpPr>
          <p:cNvPr id="43" name="clara-claim:s25-t36"/>
          <p:cNvSpPr txBox="1"/>
          <p:nvPr/>
        </p:nvSpPr>
        <p:spPr>
          <a:xfrm>
            <a:off x="2482596" y="4325112"/>
            <a:ext cx="1863090"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+0.370</a:t>
            </a:r>
          </a:p>
        </p:txBody>
      </p:sp>
      <p:sp>
        <p:nvSpPr>
          <p:cNvPr id="44" name="Rounded Rectangle 43"/>
          <p:cNvSpPr/>
          <p:nvPr/>
        </p:nvSpPr>
        <p:spPr>
          <a:xfrm>
            <a:off x="4418838" y="3931920"/>
            <a:ext cx="954405" cy="630936"/>
          </a:xfrm>
          <a:prstGeom prst="roundRect">
            <a:avLst>
              <a:gd name="adj" fmla="val 4000"/>
            </a:avLst>
          </a:prstGeom>
          <a:solidFill>
            <a:srgbClr val="F8F1EB"/>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41698" y="4014215"/>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open</a:t>
            </a:r>
          </a:p>
        </p:txBody>
      </p:sp>
      <p:sp>
        <p:nvSpPr>
          <p:cNvPr id="46" name="clara-claim:s25-t39"/>
          <p:cNvSpPr txBox="1"/>
          <p:nvPr/>
        </p:nvSpPr>
        <p:spPr>
          <a:xfrm>
            <a:off x="4441698" y="4325112"/>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+0.042</a:t>
            </a:r>
          </a:p>
        </p:txBody>
      </p:sp>
      <p:sp>
        <p:nvSpPr>
          <p:cNvPr id="47" name="Rounded Rectangle 46"/>
          <p:cNvSpPr/>
          <p:nvPr/>
        </p:nvSpPr>
        <p:spPr>
          <a:xfrm>
            <a:off x="5423535" y="3931920"/>
            <a:ext cx="763524" cy="630936"/>
          </a:xfrm>
          <a:prstGeom prst="roundRect">
            <a:avLst>
              <a:gd name="adj" fmla="val 4000"/>
            </a:avLst>
          </a:prstGeom>
          <a:solidFill>
            <a:srgbClr val="E8EFF3"/>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46395"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a:t>
            </a:r>
          </a:p>
        </p:txBody>
      </p:sp>
      <p:sp>
        <p:nvSpPr>
          <p:cNvPr id="49" name="clara-claim:s25-t42"/>
          <p:cNvSpPr txBox="1"/>
          <p:nvPr/>
        </p:nvSpPr>
        <p:spPr>
          <a:xfrm>
            <a:off x="5446395"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-0.059</a:t>
            </a:r>
          </a:p>
        </p:txBody>
      </p:sp>
      <p:sp>
        <p:nvSpPr>
          <p:cNvPr id="50" name="Rounded Rectangle 49"/>
          <p:cNvSpPr/>
          <p:nvPr/>
        </p:nvSpPr>
        <p:spPr>
          <a:xfrm>
            <a:off x="6237351" y="3931920"/>
            <a:ext cx="763524" cy="630936"/>
          </a:xfrm>
          <a:prstGeom prst="roundRect">
            <a:avLst>
              <a:gd name="adj" fmla="val 4000"/>
            </a:avLst>
          </a:prstGeom>
          <a:solidFill>
            <a:srgbClr val="DDE7EF"/>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0211"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car</a:t>
            </a:r>
          </a:p>
        </p:txBody>
      </p:sp>
      <p:sp>
        <p:nvSpPr>
          <p:cNvPr id="52" name="clara-claim:s25-t45"/>
          <p:cNvSpPr txBox="1"/>
          <p:nvPr/>
        </p:nvSpPr>
        <p:spPr>
          <a:xfrm>
            <a:off x="6260211"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-0.099</a:t>
            </a:r>
          </a:p>
        </p:txBody>
      </p:sp>
      <p:sp>
        <p:nvSpPr>
          <p:cNvPr id="53" name="Rounded Rectangle 52"/>
          <p:cNvSpPr/>
          <p:nvPr/>
        </p:nvSpPr>
        <p:spPr>
          <a:xfrm>
            <a:off x="7051167" y="3931920"/>
            <a:ext cx="1145286" cy="630936"/>
          </a:xfrm>
          <a:prstGeom prst="roundRect">
            <a:avLst>
              <a:gd name="adj" fmla="val 4000"/>
            </a:avLst>
          </a:prstGeom>
          <a:solidFill>
            <a:srgbClr val="F9F5F0"/>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74027" y="4014215"/>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doors</a:t>
            </a:r>
          </a:p>
        </p:txBody>
      </p:sp>
      <p:sp>
        <p:nvSpPr>
          <p:cNvPr id="55" name="clara-claim:s25-t48"/>
          <p:cNvSpPr txBox="1"/>
          <p:nvPr/>
        </p:nvSpPr>
        <p:spPr>
          <a:xfrm>
            <a:off x="7074027" y="4325112"/>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+0.027</a:t>
            </a:r>
          </a:p>
        </p:txBody>
      </p:sp>
      <p:sp>
        <p:nvSpPr>
          <p:cNvPr id="56" name="Rounded Rectangle 55"/>
          <p:cNvSpPr/>
          <p:nvPr/>
        </p:nvSpPr>
        <p:spPr>
          <a:xfrm>
            <a:off x="8246745" y="3931920"/>
            <a:ext cx="763524" cy="630936"/>
          </a:xfrm>
          <a:prstGeom prst="roundRect">
            <a:avLst>
              <a:gd name="adj" fmla="val 4000"/>
            </a:avLst>
          </a:prstGeom>
          <a:solidFill>
            <a:srgbClr val="F8F0EA"/>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69605"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for</a:t>
            </a:r>
          </a:p>
        </p:txBody>
      </p:sp>
      <p:sp>
        <p:nvSpPr>
          <p:cNvPr id="58" name="clara-claim:s25-t51"/>
          <p:cNvSpPr txBox="1"/>
          <p:nvPr/>
        </p:nvSpPr>
        <p:spPr>
          <a:xfrm>
            <a:off x="8269605"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+0.046</a:t>
            </a:r>
          </a:p>
        </p:txBody>
      </p:sp>
      <p:sp>
        <p:nvSpPr>
          <p:cNvPr id="59" name="Rounded Rectangle 58"/>
          <p:cNvSpPr/>
          <p:nvPr/>
        </p:nvSpPr>
        <p:spPr>
          <a:xfrm>
            <a:off x="9060561" y="3931920"/>
            <a:ext cx="1145286"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83421" y="4014215"/>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their</a:t>
            </a:r>
          </a:p>
        </p:txBody>
      </p:sp>
      <p:sp>
        <p:nvSpPr>
          <p:cNvPr id="61" name="clara-claim:s25-t54"/>
          <p:cNvSpPr txBox="1"/>
          <p:nvPr/>
        </p:nvSpPr>
        <p:spPr>
          <a:xfrm>
            <a:off x="9083421" y="4325112"/>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+0.113</a:t>
            </a:r>
          </a:p>
        </p:txBody>
      </p:sp>
      <p:sp>
        <p:nvSpPr>
          <p:cNvPr id="62" name="Rounded Rectangle 61"/>
          <p:cNvSpPr/>
          <p:nvPr/>
        </p:nvSpPr>
        <p:spPr>
          <a:xfrm>
            <a:off x="10256139" y="3931920"/>
            <a:ext cx="954405" cy="630936"/>
          </a:xfrm>
          <a:prstGeom prst="roundRect">
            <a:avLst>
              <a:gd name="adj" fmla="val 4000"/>
            </a:avLst>
          </a:prstGeom>
          <a:solidFill>
            <a:srgbClr val="F5F6F6"/>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78999" y="4014215"/>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date</a:t>
            </a:r>
          </a:p>
        </p:txBody>
      </p:sp>
      <p:sp>
        <p:nvSpPr>
          <p:cNvPr id="64" name="clara-claim:s25-t57"/>
          <p:cNvSpPr txBox="1"/>
          <p:nvPr/>
        </p:nvSpPr>
        <p:spPr>
          <a:xfrm>
            <a:off x="10278999" y="4325112"/>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-0.018</a:t>
            </a:r>
          </a:p>
        </p:txBody>
      </p:sp>
      <p:sp>
        <p:nvSpPr>
          <p:cNvPr id="65" name="clara-claim:s25-t58"/>
          <p:cNvSpPr txBox="1"/>
          <p:nvPr/>
        </p:nvSpPr>
        <p:spPr>
          <a:xfrm>
            <a:off x="969264" y="4736592"/>
            <a:ext cx="10168128" cy="393192"/>
          </a:xfrm>
          <a:prstGeom prst="rect">
            <a:avLst/>
          </a:prstGeom>
          <a:noFill/>
        </p:spPr>
        <p:txBody>
          <a:bodyPr wrap="square" lIns="0" rIns="0" tIns="0" bIns="0" anchor="t">
            <a:spAutoFit/>
          </a:bodyPr>
          <a:lstStyle/>
          <a:p>
            <a:pPr algn="l">
              <a:spcBef>
                <a:spcPts val="0"/>
              </a:spcBef>
              <a:spcAft>
                <a:spcPts val="500"/>
              </a:spcAft>
              <a:defRPr sz="1700" b="1">
                <a:solidFill>
                  <a:srgbClr val="263343"/>
                </a:solidFill>
                <a:latin typeface="Calibri"/>
              </a:defRPr>
            </a:pPr>
            <a:r>
              <a:t>Largest support: Gentlemen. Strongest SHAP opposition: car. The predicted label is still wrong.</a:t>
            </a:r>
          </a:p>
        </p:txBody>
      </p:sp>
      <p:sp>
        <p:nvSpPr>
          <p:cNvPr id="66" name="clara-claim:s25-t59"/>
          <p:cNvSpPr txBox="1"/>
          <p:nvPr/>
        </p:nvSpPr>
        <p:spPr>
          <a:xfrm>
            <a:off x="969264" y="5349240"/>
            <a:ext cx="2926080" cy="320040"/>
          </a:xfrm>
          <a:prstGeom prst="rect">
            <a:avLst/>
          </a:prstGeom>
          <a:noFill/>
        </p:spPr>
        <p:txBody>
          <a:bodyPr wrap="square" lIns="0" rIns="0" tIns="0" bIns="0" anchor="t">
            <a:spAutoFit/>
          </a:bodyPr>
          <a:lstStyle/>
          <a:p>
            <a:pPr algn="l">
              <a:spcBef>
                <a:spcPts val="0"/>
              </a:spcBef>
              <a:spcAft>
                <a:spcPts val="500"/>
              </a:spcAft>
              <a:defRPr sz="1500" b="0">
                <a:solidFill>
                  <a:srgbClr val="2B73B9"/>
                </a:solidFill>
                <a:latin typeface="Calibri"/>
              </a:defRPr>
            </a:pPr>
            <a:r>
              <a:t>Blue: lowers class 0 score</a:t>
            </a:r>
          </a:p>
        </p:txBody>
      </p:sp>
      <p:sp>
        <p:nvSpPr>
          <p:cNvPr id="67" name="clara-claim:s25-t60"/>
          <p:cNvSpPr txBox="1"/>
          <p:nvPr/>
        </p:nvSpPr>
        <p:spPr>
          <a:xfrm>
            <a:off x="8339327" y="5349240"/>
            <a:ext cx="2880360" cy="320040"/>
          </a:xfrm>
          <a:prstGeom prst="rect">
            <a:avLst/>
          </a:prstGeom>
          <a:noFill/>
        </p:spPr>
        <p:txBody>
          <a:bodyPr wrap="square" lIns="0" rIns="0" tIns="0" bIns="0" anchor="t">
            <a:spAutoFit/>
          </a:bodyPr>
          <a:lstStyle/>
          <a:p>
            <a:pPr algn="r">
              <a:spcBef>
                <a:spcPts val="0"/>
              </a:spcBef>
              <a:spcAft>
                <a:spcPts val="500"/>
              </a:spcAft>
              <a:defRPr sz="1500" b="0">
                <a:solidFill>
                  <a:srgbClr val="A95015"/>
                </a:solidFill>
                <a:latin typeface="Calibri"/>
              </a:defRPr>
            </a:pPr>
            <a:r>
              <a:t>Orange: raises class 0 score</a:t>
            </a:r>
          </a:p>
        </p:txBody>
      </p:sp>
      <p:sp>
        <p:nvSpPr>
          <p:cNvPr id="68" name="Rectangle 67"/>
          <p:cNvSpPr/>
          <p:nvPr/>
        </p:nvSpPr>
        <p:spPr>
          <a:xfrm>
            <a:off x="4014215" y="5404104"/>
            <a:ext cx="82053" cy="164592"/>
          </a:xfrm>
          <a:prstGeom prst="rect">
            <a:avLst/>
          </a:prstGeom>
          <a:solidFill>
            <a:srgbClr val="2B73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093526" y="5404104"/>
            <a:ext cx="82053" cy="164592"/>
          </a:xfrm>
          <a:prstGeom prst="rect">
            <a:avLst/>
          </a:prstGeom>
          <a:solidFill>
            <a:srgbClr val="347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172836" y="5404104"/>
            <a:ext cx="82053" cy="164592"/>
          </a:xfrm>
          <a:prstGeom prst="rect">
            <a:avLst/>
          </a:prstGeom>
          <a:solidFill>
            <a:srgbClr val="3C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252146" y="5404104"/>
            <a:ext cx="82053" cy="164592"/>
          </a:xfrm>
          <a:prstGeom prst="rect">
            <a:avLst/>
          </a:prstGeom>
          <a:solidFill>
            <a:srgbClr val="458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331456" y="5404104"/>
            <a:ext cx="82053" cy="164592"/>
          </a:xfrm>
          <a:prstGeom prst="rect">
            <a:avLst/>
          </a:prstGeom>
          <a:solidFill>
            <a:srgbClr val="4E8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10767" y="5404104"/>
            <a:ext cx="82053" cy="164592"/>
          </a:xfrm>
          <a:prstGeom prst="rect">
            <a:avLst/>
          </a:prstGeom>
          <a:solidFill>
            <a:srgbClr val="568F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90077" y="5404104"/>
            <a:ext cx="82053" cy="164592"/>
          </a:xfrm>
          <a:prstGeom prst="rect">
            <a:avLst/>
          </a:prstGeom>
          <a:solidFill>
            <a:srgbClr val="5F9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569387" y="5404104"/>
            <a:ext cx="82053" cy="164592"/>
          </a:xfrm>
          <a:prstGeom prst="rect">
            <a:avLst/>
          </a:prstGeom>
          <a:solidFill>
            <a:srgbClr val="67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648697" y="5404104"/>
            <a:ext cx="82053" cy="164592"/>
          </a:xfrm>
          <a:prstGeom prst="rect">
            <a:avLst/>
          </a:prstGeom>
          <a:solidFill>
            <a:srgbClr val="70A0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728007" y="5404104"/>
            <a:ext cx="82053" cy="164592"/>
          </a:xfrm>
          <a:prstGeom prst="rect">
            <a:avLst/>
          </a:prstGeom>
          <a:solidFill>
            <a:srgbClr val="79A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807318" y="5404104"/>
            <a:ext cx="82053" cy="164592"/>
          </a:xfrm>
          <a:prstGeom prst="rect">
            <a:avLst/>
          </a:prstGeom>
          <a:solidFill>
            <a:srgbClr val="81A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886628" y="5404104"/>
            <a:ext cx="82053" cy="164592"/>
          </a:xfrm>
          <a:prstGeom prst="rect">
            <a:avLst/>
          </a:prstGeom>
          <a:solidFill>
            <a:srgbClr val="8AB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965938" y="5404104"/>
            <a:ext cx="82053" cy="164592"/>
          </a:xfrm>
          <a:prstGeom prst="rect">
            <a:avLst/>
          </a:prstGeom>
          <a:solidFill>
            <a:srgbClr val="92B6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45248" y="5404104"/>
            <a:ext cx="82053" cy="164592"/>
          </a:xfrm>
          <a:prstGeom prst="rect">
            <a:avLst/>
          </a:prstGeom>
          <a:solidFill>
            <a:srgbClr val="9BB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24558" y="5404104"/>
            <a:ext cx="82053" cy="164592"/>
          </a:xfrm>
          <a:prstGeom prst="rect">
            <a:avLst/>
          </a:prstGeom>
          <a:solidFill>
            <a:srgbClr val="A4C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203869" y="5404104"/>
            <a:ext cx="82053" cy="164592"/>
          </a:xfrm>
          <a:prstGeom prst="rect">
            <a:avLst/>
          </a:prstGeom>
          <a:solidFill>
            <a:srgbClr val="ACC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283179" y="5404104"/>
            <a:ext cx="82053" cy="164592"/>
          </a:xfrm>
          <a:prstGeom prst="rect">
            <a:avLst/>
          </a:prstGeom>
          <a:solidFill>
            <a:srgbClr val="B5C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362489" y="5404104"/>
            <a:ext cx="82053" cy="164592"/>
          </a:xfrm>
          <a:prstGeom prst="rect">
            <a:avLst/>
          </a:prstGeom>
          <a:solidFill>
            <a:srgbClr val="BE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441799" y="5404104"/>
            <a:ext cx="82053" cy="164592"/>
          </a:xfrm>
          <a:prstGeom prst="rect">
            <a:avLst/>
          </a:prstGeom>
          <a:solidFill>
            <a:srgbClr val="C6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521109" y="5404104"/>
            <a:ext cx="82053" cy="164592"/>
          </a:xfrm>
          <a:prstGeom prst="rect">
            <a:avLst/>
          </a:prstGeom>
          <a:solidFill>
            <a:srgbClr val="CF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600420" y="5404104"/>
            <a:ext cx="82053" cy="164592"/>
          </a:xfrm>
          <a:prstGeom prst="rect">
            <a:avLst/>
          </a:prstGeom>
          <a:solidFill>
            <a:srgbClr val="D8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679730" y="5404104"/>
            <a:ext cx="82053" cy="164592"/>
          </a:xfrm>
          <a:prstGeom prst="rect">
            <a:avLst/>
          </a:prstGeom>
          <a:solidFill>
            <a:srgbClr val="E0E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759040" y="5404104"/>
            <a:ext cx="82053" cy="1645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838350" y="5404104"/>
            <a:ext cx="82053" cy="164592"/>
          </a:xfrm>
          <a:prstGeom prst="rect">
            <a:avLst/>
          </a:prstGeom>
          <a:solidFill>
            <a:srgbClr val="F1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917660" y="5404104"/>
            <a:ext cx="82053" cy="164592"/>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996971" y="5404104"/>
            <a:ext cx="82053" cy="164592"/>
          </a:xfrm>
          <a:prstGeom prst="rect">
            <a:avLst/>
          </a:prstGeom>
          <a:solidFill>
            <a:srgbClr val="F8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076281" y="5404104"/>
            <a:ext cx="82053" cy="164592"/>
          </a:xfrm>
          <a:prstGeom prst="rect">
            <a:avLst/>
          </a:prstGeom>
          <a:solidFill>
            <a:srgbClr val="F7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155591" y="5404104"/>
            <a:ext cx="82053" cy="164592"/>
          </a:xfrm>
          <a:prstGeom prst="rect">
            <a:avLst/>
          </a:prstGeom>
          <a:solidFill>
            <a:srgbClr val="F6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234901" y="5404104"/>
            <a:ext cx="82053" cy="164592"/>
          </a:xfrm>
          <a:prstGeom prst="rect">
            <a:avLst/>
          </a:prstGeom>
          <a:solidFill>
            <a:srgbClr val="F4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314211" y="5404104"/>
            <a:ext cx="82053" cy="164592"/>
          </a:xfrm>
          <a:prstGeom prst="rect">
            <a:avLst/>
          </a:prstGeom>
          <a:solidFill>
            <a:srgbClr val="F2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393522" y="5404104"/>
            <a:ext cx="82053" cy="164592"/>
          </a:xfrm>
          <a:prstGeom prst="rect">
            <a:avLst/>
          </a:prstGeom>
          <a:solidFill>
            <a:srgbClr val="F1D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472832" y="5404104"/>
            <a:ext cx="82053" cy="164592"/>
          </a:xfrm>
          <a:prstGeom prst="rect">
            <a:avLst/>
          </a:prstGeom>
          <a:solidFill>
            <a:srgbClr val="F0D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552142" y="5404104"/>
            <a:ext cx="82053" cy="164592"/>
          </a:xfrm>
          <a:prstGeom prst="rect">
            <a:avLst/>
          </a:prstGeom>
          <a:solidFill>
            <a:srgbClr val="EEC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631452" y="5404104"/>
            <a:ext cx="82053" cy="164592"/>
          </a:xfrm>
          <a:prstGeom prst="rect">
            <a:avLst/>
          </a:prstGeom>
          <a:solidFill>
            <a:srgbClr val="ECC4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710762" y="5404104"/>
            <a:ext cx="82053" cy="164592"/>
          </a:xfrm>
          <a:prstGeom prst="rect">
            <a:avLst/>
          </a:prstGeom>
          <a:solidFill>
            <a:srgbClr val="EBB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790073" y="5404104"/>
            <a:ext cx="82053" cy="164592"/>
          </a:xfrm>
          <a:prstGeom prst="rect">
            <a:avLst/>
          </a:prstGeom>
          <a:solidFill>
            <a:srgbClr val="EAB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869383" y="5404104"/>
            <a:ext cx="82053" cy="164592"/>
          </a:xfrm>
          <a:prstGeom prst="rect">
            <a:avLst/>
          </a:prstGeom>
          <a:solidFill>
            <a:srgbClr val="E8B2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948693" y="5404104"/>
            <a:ext cx="82053" cy="164592"/>
          </a:xfrm>
          <a:prstGeom prst="rect">
            <a:avLst/>
          </a:prstGeom>
          <a:solidFill>
            <a:srgbClr val="E6A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28003" y="5404104"/>
            <a:ext cx="82053" cy="164592"/>
          </a:xfrm>
          <a:prstGeom prst="rect">
            <a:avLst/>
          </a:prstGeom>
          <a:solidFill>
            <a:srgbClr val="E5A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107313" y="5404104"/>
            <a:ext cx="82053" cy="164592"/>
          </a:xfrm>
          <a:prstGeom prst="rect">
            <a:avLst/>
          </a:prstGeom>
          <a:solidFill>
            <a:srgbClr val="E4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186624" y="5404104"/>
            <a:ext cx="82053" cy="164592"/>
          </a:xfrm>
          <a:prstGeom prst="rect">
            <a:avLst/>
          </a:prstGeom>
          <a:solidFill>
            <a:srgbClr val="E29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7265934" y="5404104"/>
            <a:ext cx="82053" cy="164592"/>
          </a:xfrm>
          <a:prstGeom prst="rect">
            <a:avLst/>
          </a:prstGeom>
          <a:solidFill>
            <a:srgbClr val="E09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345244" y="5404104"/>
            <a:ext cx="82053" cy="164592"/>
          </a:xfrm>
          <a:prstGeom prst="rect">
            <a:avLst/>
          </a:prstGeom>
          <a:solidFill>
            <a:srgbClr val="DF8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424554" y="5404104"/>
            <a:ext cx="82053" cy="164592"/>
          </a:xfrm>
          <a:prstGeom prst="rect">
            <a:avLst/>
          </a:prstGeom>
          <a:solidFill>
            <a:srgbClr val="DE8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503864" y="5404104"/>
            <a:ext cx="82053" cy="164592"/>
          </a:xfrm>
          <a:prstGeom prst="rect">
            <a:avLst/>
          </a:prstGeom>
          <a:solidFill>
            <a:srgbClr val="DC8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583175" y="5404104"/>
            <a:ext cx="82053" cy="164592"/>
          </a:xfrm>
          <a:prstGeom prst="rect">
            <a:avLst/>
          </a:prstGeom>
          <a:solidFill>
            <a:srgbClr val="DA7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662485" y="5404104"/>
            <a:ext cx="82053" cy="164592"/>
          </a:xfrm>
          <a:prstGeom prst="rect">
            <a:avLst/>
          </a:prstGeom>
          <a:solidFill>
            <a:srgbClr val="D97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7741795" y="5404104"/>
            <a:ext cx="82053" cy="164592"/>
          </a:xfrm>
          <a:prstGeom prst="rect">
            <a:avLst/>
          </a:prstGeom>
          <a:solidFill>
            <a:srgbClr val="D87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821105" y="5404104"/>
            <a:ext cx="82053" cy="164592"/>
          </a:xfrm>
          <a:prstGeom prst="rect">
            <a:avLst/>
          </a:prstGeom>
          <a:solidFill>
            <a:srgbClr val="D6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lara-claim:s25-t110"/>
          <p:cNvSpPr txBox="1"/>
          <p:nvPr/>
        </p:nvSpPr>
        <p:spPr>
          <a:xfrm>
            <a:off x="3904487"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118" name="TextBox 117"/>
          <p:cNvSpPr txBox="1"/>
          <p:nvPr/>
        </p:nvSpPr>
        <p:spPr>
          <a:xfrm>
            <a:off x="5774436"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a:t>
            </a:r>
          </a:p>
        </p:txBody>
      </p:sp>
      <p:sp>
        <p:nvSpPr>
          <p:cNvPr id="119" name="clara-claim:s25-t112"/>
          <p:cNvSpPr txBox="1"/>
          <p:nvPr/>
        </p:nvSpPr>
        <p:spPr>
          <a:xfrm>
            <a:off x="7543800"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120" name="clara-claim:s25-t113"/>
          <p:cNvSpPr txBox="1"/>
          <p:nvPr/>
        </p:nvSpPr>
        <p:spPr>
          <a:xfrm>
            <a:off x="4663440" y="5129784"/>
            <a:ext cx="2651760" cy="210312"/>
          </a:xfrm>
          <a:prstGeom prst="rect">
            <a:avLst/>
          </a:prstGeom>
          <a:noFill/>
        </p:spPr>
        <p:txBody>
          <a:bodyPr wrap="square" lIns="0" rIns="0" tIns="0" bIns="0" anchor="t">
            <a:spAutoFit/>
          </a:bodyPr>
          <a:lstStyle/>
          <a:p>
            <a:pPr algn="ctr">
              <a:spcBef>
                <a:spcPts val="0"/>
              </a:spcBef>
              <a:spcAft>
                <a:spcPts val="500"/>
              </a:spcAft>
              <a:defRPr sz="1300" b="0">
                <a:solidFill>
                  <a:srgbClr val="637082"/>
                </a:solidFill>
                <a:latin typeface="Calibri"/>
              </a:defRPr>
            </a:pPr>
            <a:r>
              <a:t>Near white = near zero</a:t>
            </a:r>
          </a:p>
        </p:txBody>
      </p:sp>
      <p:sp>
        <p:nvSpPr>
          <p:cNvPr id="121" name="clara-claim:s25-t1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Darker color = stronger attribution. Signs refer to the named model class, not sentiment or word probabilities.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6-t0"/>
          <p:cNvSpPr>
            <a:spLocks noGrp="1"/>
          </p:cNvSpPr>
          <p:nvPr>
            <p:ph type="title"/>
          </p:nvPr>
        </p:nvSpPr>
        <p:spPr/>
        <p:txBody>
          <a:bodyPr/>
          <a:lstStyle/>
          <a:p>
            <a:r>
              <a:t>Conclusion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26</a:t>
            </a:r>
            <a:endParaRPr lang="en-US" sz="1600" dirty="0"/>
          </a:p>
        </p:txBody>
      </p:sp>
      <p:sp>
        <p:nvSpPr>
          <p:cNvPr id="11" name="clara-claim:s2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Task adaptation improves all three task setups</a:t>
            </a:r>
          </a:p>
        </p:txBody>
      </p:sp>
      <p:sp>
        <p:nvSpPr>
          <p:cNvPr id="12" name="Rounded Rectangle 11"/>
          <p:cNvSpPr/>
          <p:nvPr/>
        </p:nvSpPr>
        <p:spPr>
          <a:xfrm>
            <a:off x="932688" y="1920240"/>
            <a:ext cx="4992624" cy="362102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6-t6"/>
          <p:cNvSpPr txBox="1"/>
          <p:nvPr/>
        </p:nvSpPr>
        <p:spPr>
          <a:xfrm>
            <a:off x="1115568" y="206654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Three SFT task outcomes</a:t>
            </a:r>
          </a:p>
        </p:txBody>
      </p:sp>
      <p:sp>
        <p:nvSpPr>
          <p:cNvPr id="14" name="clara-claim:s26-t7"/>
          <p:cNvSpPr txBox="1"/>
          <p:nvPr/>
        </p:nvSpPr>
        <p:spPr>
          <a:xfrm>
            <a:off x="1115568" y="2642616"/>
            <a:ext cx="4626864" cy="277977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A · Sentence → label: 93.84%</a:t>
            </a:r>
          </a:p>
          <a:p>
            <a:pPr algn="l">
              <a:spcBef>
                <a:spcPts val="0"/>
              </a:spcBef>
              <a:spcAft>
                <a:spcPts val="500"/>
              </a:spcAft>
              <a:defRPr sz="2100" b="0">
                <a:solidFill>
                  <a:srgbClr val="263343"/>
                </a:solidFill>
                <a:latin typeface="Calibri"/>
              </a:defRPr>
            </a:pPr>
            <a:r>
              <a:t>• B · Sentence → all fields:</a:t>
            </a:r>
          </a:p>
          <a:p>
            <a:pPr algn="l">
              <a:spcBef>
                <a:spcPts val="0"/>
              </a:spcBef>
              <a:spcAft>
                <a:spcPts val="500"/>
              </a:spcAft>
              <a:defRPr sz="2100" b="0">
                <a:solidFill>
                  <a:srgbClr val="263343"/>
                </a:solidFill>
                <a:latin typeface="Calibri"/>
              </a:defRPr>
            </a:pPr>
            <a:r>
              <a:t>   label 93.61%; joint 92.87%</a:t>
            </a:r>
          </a:p>
          <a:p>
            <a:pPr algn="l">
              <a:spcBef>
                <a:spcPts val="0"/>
              </a:spcBef>
              <a:spcAft>
                <a:spcPts val="500"/>
              </a:spcAft>
              <a:defRPr sz="2100" b="0">
                <a:solidFill>
                  <a:srgbClr val="263343"/>
                </a:solidFill>
                <a:latin typeface="Calibri"/>
              </a:defRPr>
            </a:pPr>
            <a:r>
              <a:t>• C · Sentence + metadata → label: 95.51%</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Color maps show signed word influence.</a:t>
            </a:r>
          </a:p>
        </p:txBody>
      </p:sp>
      <p:sp>
        <p:nvSpPr>
          <p:cNvPr id="15" name="Rounded Rectangle 14"/>
          <p:cNvSpPr/>
          <p:nvPr/>
        </p:nvSpPr>
        <p:spPr>
          <a:xfrm>
            <a:off x="6144768" y="1920240"/>
            <a:ext cx="5093208" cy="362102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26-t9"/>
          <p:cNvSpPr txBox="1"/>
          <p:nvPr/>
        </p:nvSpPr>
        <p:spPr>
          <a:xfrm>
            <a:off x="6327648" y="206654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Next phase</a:t>
            </a:r>
          </a:p>
        </p:txBody>
      </p:sp>
      <p:sp>
        <p:nvSpPr>
          <p:cNvPr id="17" name="clara-claim:s26-t10"/>
          <p:cNvSpPr txBox="1"/>
          <p:nvPr/>
        </p:nvSpPr>
        <p:spPr>
          <a:xfrm>
            <a:off x="6327648" y="2642616"/>
            <a:ext cx="4727448" cy="277977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Review class 0 / class 1 errors</a:t>
            </a:r>
          </a:p>
          <a:p>
            <a:pPr algn="l">
              <a:spcBef>
                <a:spcPts val="0"/>
              </a:spcBef>
              <a:spcAft>
                <a:spcPts val="500"/>
              </a:spcAft>
              <a:defRPr sz="2100" b="0">
                <a:solidFill>
                  <a:srgbClr val="263343"/>
                </a:solidFill>
                <a:latin typeface="Calibri"/>
              </a:defRPr>
            </a:pPr>
            <a:r>
              <a:t>• Match runtimes, precision and seeds</a:t>
            </a:r>
          </a:p>
          <a:p>
            <a:pPr algn="l">
              <a:spcBef>
                <a:spcPts val="0"/>
              </a:spcBef>
              <a:spcAft>
                <a:spcPts val="500"/>
              </a:spcAft>
              <a:defRPr sz="2100" b="0">
                <a:solidFill>
                  <a:srgbClr val="263343"/>
                </a:solidFill>
                <a:latin typeface="Calibri"/>
              </a:defRPr>
            </a:pPr>
            <a:r>
              <a:t>• Evaluate calibration and new domains</a:t>
            </a:r>
          </a:p>
          <a:p>
            <a:pPr algn="l">
              <a:spcBef>
                <a:spcPts val="0"/>
              </a:spcBef>
              <a:spcAft>
                <a:spcPts val="500"/>
              </a:spcAft>
              <a:defRPr sz="2100" b="0">
                <a:solidFill>
                  <a:srgbClr val="263343"/>
                </a:solidFill>
                <a:latin typeface="Calibri"/>
              </a:defRPr>
            </a:pPr>
            <a:r>
              <a:t>• Extend explanation diagnostics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Explanations describe the model; they do not prove label correctness.</a:t>
            </a:r>
          </a:p>
        </p:txBody>
      </p:sp>
      <p:sp>
        <p:nvSpPr>
          <p:cNvPr id="18" name="clara-claim:s26-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main result slides use completed full-test evaluations; partial or validation results are kept separate.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7-t0"/>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27</a:t>
            </a:r>
            <a:endParaRPr lang="en-US" sz="1600" dirty="0"/>
          </a:p>
        </p:txBody>
      </p:sp>
      <p:sp>
        <p:nvSpPr>
          <p:cNvPr id="11" name="clara-claim:s2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1 / 2</a:t>
            </a:r>
          </a:p>
        </p:txBody>
      </p:sp>
      <p:sp>
        <p:nvSpPr>
          <p:cNvPr id="12" name="clara-claim:s27-t5"/>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a:t>
            </a:r>
          </a:p>
        </p:txBody>
      </p:sp>
      <p:sp>
        <p:nvSpPr>
          <p:cNvPr id="13" name="clara-claim:s27-t6"/>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K. S. Shejole and P. Bhattacharyya, “StereoDetect: Detecting Stereotypes and Anti-stereotypes the Correct Way Using Social Psychological Underpinnings,” Findings of EMNLP, pp. 4051–4082, 2025.</a:t>
            </a:r>
          </a:p>
        </p:txBody>
      </p:sp>
      <p:sp>
        <p:nvSpPr>
          <p:cNvPr id="14" name="clara-claim:s27-t7"/>
          <p:cNvSpPr txBox="1"/>
          <p:nvPr/>
        </p:nvSpPr>
        <p:spPr>
          <a:xfrm>
            <a:off x="932688" y="2523744"/>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[2]</a:t>
            </a:r>
          </a:p>
        </p:txBody>
      </p:sp>
      <p:sp>
        <p:nvSpPr>
          <p:cNvPr id="15" name="clara-claim:s27-t8"/>
          <p:cNvSpPr txBox="1"/>
          <p:nvPr/>
        </p:nvSpPr>
        <p:spPr>
          <a:xfrm>
            <a:off x="1444752" y="2523744"/>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T. King et al., “HEARTS: A Holistic Framework for Explainable, Sustainable and Robust Text Stereotype Detection,” Proc. IJCNLP–AACL, pp. 1–18, 2025.</a:t>
            </a:r>
          </a:p>
        </p:txBody>
      </p:sp>
      <p:sp>
        <p:nvSpPr>
          <p:cNvPr id="16" name="clara-claim:s27-t9"/>
          <p:cNvSpPr txBox="1"/>
          <p:nvPr/>
        </p:nvSpPr>
        <p:spPr>
          <a:xfrm>
            <a:off x="932688" y="3182111"/>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[3]</a:t>
            </a:r>
          </a:p>
        </p:txBody>
      </p:sp>
      <p:sp>
        <p:nvSpPr>
          <p:cNvPr id="17" name="clara-claim:s27-t10"/>
          <p:cNvSpPr txBox="1"/>
          <p:nvPr/>
        </p:nvSpPr>
        <p:spPr>
          <a:xfrm>
            <a:off x="1444752" y="3182111"/>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Z. Lan et al., “ALBERT: A Lite BERT for Self-supervised Learning of Language Representations,” ICLR, 2020.</a:t>
            </a:r>
          </a:p>
        </p:txBody>
      </p:sp>
      <p:sp>
        <p:nvSpPr>
          <p:cNvPr id="18" name="clara-claim:s27-t11"/>
          <p:cNvSpPr txBox="1"/>
          <p:nvPr/>
        </p:nvSpPr>
        <p:spPr>
          <a:xfrm>
            <a:off x="932688" y="384047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[4]</a:t>
            </a:r>
          </a:p>
        </p:txBody>
      </p:sp>
      <p:sp>
        <p:nvSpPr>
          <p:cNvPr id="19" name="clara-claim:s27-t12"/>
          <p:cNvSpPr txBox="1"/>
          <p:nvPr/>
        </p:nvSpPr>
        <p:spPr>
          <a:xfrm>
            <a:off x="1444752" y="384047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B. Warner et al., “Smarter, Better, Faster, Longer: A Modern Bidirectional Encoder for Fast, Memory Efficient, and Long Context Finetuning and Inference,” arXiv:2412.13663, 2024.</a:t>
            </a:r>
          </a:p>
        </p:txBody>
      </p:sp>
      <p:sp>
        <p:nvSpPr>
          <p:cNvPr id="20" name="clara-claim:s27-t13"/>
          <p:cNvSpPr txBox="1"/>
          <p:nvPr/>
        </p:nvSpPr>
        <p:spPr>
          <a:xfrm>
            <a:off x="932688" y="4498847"/>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[5]</a:t>
            </a:r>
          </a:p>
        </p:txBody>
      </p:sp>
      <p:sp>
        <p:nvSpPr>
          <p:cNvPr id="21" name="clara-claim:s27-t14"/>
          <p:cNvSpPr txBox="1"/>
          <p:nvPr/>
        </p:nvSpPr>
        <p:spPr>
          <a:xfrm>
            <a:off x="1444752" y="4498847"/>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W. Wang et al., “MiniLM: Deep Self-Attention Distillation for Task-Agnostic Compression of Pre-Trained Transformers,” NeurIPS, 2020.</a:t>
            </a:r>
          </a:p>
        </p:txBody>
      </p:sp>
      <p:sp>
        <p:nvSpPr>
          <p:cNvPr id="22" name="clara-claim:s27-t15"/>
          <p:cNvSpPr txBox="1"/>
          <p:nvPr/>
        </p:nvSpPr>
        <p:spPr>
          <a:xfrm>
            <a:off x="932688" y="5157215"/>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[6]</a:t>
            </a:r>
          </a:p>
        </p:txBody>
      </p:sp>
      <p:sp>
        <p:nvSpPr>
          <p:cNvPr id="23" name="clara-claim:s27-t16"/>
          <p:cNvSpPr txBox="1"/>
          <p:nvPr/>
        </p:nvSpPr>
        <p:spPr>
          <a:xfrm>
            <a:off x="1444752" y="5157215"/>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9"/>
              </a:rPr>
              <a:t>Sentence Transformers, “all-MiniLM-L6-v2,” model card. Accessed Oct. 22, 2026.</a:t>
            </a:r>
          </a:p>
        </p:txBody>
      </p:sp>
      <p:sp>
        <p:nvSpPr>
          <p:cNvPr id="24" name="clara-claim:s27-t1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8-t0"/>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28</a:t>
            </a:r>
            <a:endParaRPr lang="en-US" sz="1600" dirty="0"/>
          </a:p>
        </p:txBody>
      </p:sp>
      <p:sp>
        <p:nvSpPr>
          <p:cNvPr id="11" name="clara-claim:s2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2 / 2</a:t>
            </a:r>
          </a:p>
        </p:txBody>
      </p:sp>
      <p:sp>
        <p:nvSpPr>
          <p:cNvPr id="12" name="clara-claim:s28-t5"/>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[7]</a:t>
            </a:r>
          </a:p>
        </p:txBody>
      </p:sp>
      <p:sp>
        <p:nvSpPr>
          <p:cNvPr id="13" name="clara-claim:s28-t6"/>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Y. Zhang et al., “Qwen3 Embedding: Advancing Text Embedding and Reranking Through Foundation Models,” arXiv:2506.05176, 2025.</a:t>
            </a:r>
          </a:p>
        </p:txBody>
      </p:sp>
      <p:sp>
        <p:nvSpPr>
          <p:cNvPr id="14" name="clara-claim:s28-t7"/>
          <p:cNvSpPr txBox="1"/>
          <p:nvPr/>
        </p:nvSpPr>
        <p:spPr>
          <a:xfrm>
            <a:off x="932688" y="2633472"/>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[8]</a:t>
            </a:r>
          </a:p>
        </p:txBody>
      </p:sp>
      <p:sp>
        <p:nvSpPr>
          <p:cNvPr id="15" name="clara-claim:s28-t8"/>
          <p:cNvSpPr txBox="1"/>
          <p:nvPr/>
        </p:nvSpPr>
        <p:spPr>
          <a:xfrm>
            <a:off x="1444752" y="2633472"/>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Qwen Team, “Qwen3.5-2B,” model card and model configuration. Accessed Oct. 22, 2026.</a:t>
            </a:r>
          </a:p>
        </p:txBody>
      </p:sp>
      <p:sp>
        <p:nvSpPr>
          <p:cNvPr id="16" name="clara-claim:s28-t9"/>
          <p:cNvSpPr txBox="1"/>
          <p:nvPr/>
        </p:nvSpPr>
        <p:spPr>
          <a:xfrm>
            <a:off x="932688" y="3401568"/>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[9]</a:t>
            </a:r>
          </a:p>
        </p:txBody>
      </p:sp>
      <p:sp>
        <p:nvSpPr>
          <p:cNvPr id="17" name="clara-claim:s28-t10"/>
          <p:cNvSpPr txBox="1"/>
          <p:nvPr/>
        </p:nvSpPr>
        <p:spPr>
          <a:xfrm>
            <a:off x="1444752" y="3401568"/>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E. J. Hu et al., “LoRA: Low-Rank Adaptation of Large Language Models,” ICLR, 2022.</a:t>
            </a:r>
          </a:p>
        </p:txBody>
      </p:sp>
      <p:sp>
        <p:nvSpPr>
          <p:cNvPr id="18" name="clara-claim:s28-t11"/>
          <p:cNvSpPr txBox="1"/>
          <p:nvPr/>
        </p:nvSpPr>
        <p:spPr>
          <a:xfrm>
            <a:off x="932688" y="4169663"/>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[10]</a:t>
            </a:r>
          </a:p>
        </p:txBody>
      </p:sp>
      <p:sp>
        <p:nvSpPr>
          <p:cNvPr id="19" name="clara-claim:s28-t12"/>
          <p:cNvSpPr txBox="1"/>
          <p:nvPr/>
        </p:nvSpPr>
        <p:spPr>
          <a:xfrm>
            <a:off x="1444752" y="4169663"/>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M. T. Ribeiro, S. Singh, and C. Guestrin, “Why Should I Trust You?: Explaining the Predictions of Any Classifier,” KDD, pp. 1135–1144, 2016.</a:t>
            </a:r>
          </a:p>
        </p:txBody>
      </p:sp>
      <p:sp>
        <p:nvSpPr>
          <p:cNvPr id="20" name="clara-claim:s28-t13"/>
          <p:cNvSpPr txBox="1"/>
          <p:nvPr/>
        </p:nvSpPr>
        <p:spPr>
          <a:xfrm>
            <a:off x="932688" y="493775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[11]</a:t>
            </a:r>
          </a:p>
        </p:txBody>
      </p:sp>
      <p:sp>
        <p:nvSpPr>
          <p:cNvPr id="21" name="clara-claim:s28-t14"/>
          <p:cNvSpPr txBox="1"/>
          <p:nvPr/>
        </p:nvSpPr>
        <p:spPr>
          <a:xfrm>
            <a:off x="1444752" y="493775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S. M. Lundberg and S.-I. Lee, “A Unified Approach to Interpreting Model Predictions,” NeurIPS, 2017.</a:t>
            </a:r>
          </a:p>
        </p:txBody>
      </p:sp>
      <p:sp>
        <p:nvSpPr>
          <p:cNvPr id="22" name="clara-claim:s28-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9-t0"/>
          <p:cNvSpPr>
            <a:spLocks noGrp="1"/>
          </p:cNvSpPr>
          <p:nvPr>
            <p:ph type="title"/>
          </p:nvPr>
        </p:nvSpPr>
        <p:spPr/>
        <p:txBody>
          <a:bodyPr/>
          <a:lstStyle/>
          <a:p>
            <a:r>
              <a:t>Appendix · Complete Test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29</a:t>
            </a:r>
            <a:endParaRPr lang="en-US" sz="1600" dirty="0"/>
          </a:p>
        </p:txBody>
      </p:sp>
      <p:sp>
        <p:nvSpPr>
          <p:cNvPr id="11" name="clara-claim:s2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models · One canonical test evaluation per run</a:t>
            </a:r>
          </a:p>
        </p:txBody>
      </p:sp>
      <p:graphicFrame>
        <p:nvGraphicFramePr>
          <p:cNvPr id="12" name="Table 11"/>
          <p:cNvGraphicFramePr>
            <a:graphicFrameLocks noGrp="1"/>
          </p:cNvGraphicFramePr>
          <p:nvPr/>
        </p:nvGraphicFramePr>
        <p:xfrm>
          <a:off x="932688" y="1947672"/>
          <a:ext cx="10287000" cy="3291840"/>
        </p:xfrm>
        <a:graphic>
          <a:graphicData uri="http://schemas.openxmlformats.org/drawingml/2006/table">
            <a:tbl>
              <a:tblPr firstRow="1" bandRow="1">
                <a:tableStyleId>{5C22544A-7EE6-4342-B048-85BDC9FD1C3A}</a:tableStyleId>
              </a:tblPr>
              <a:tblGrid>
                <a:gridCol w="4206240"/>
                <a:gridCol w="2788920"/>
                <a:gridCol w="1645920"/>
                <a:gridCol w="1645920"/>
              </a:tblGrid>
              <a:tr h="365760">
                <a:tc>
                  <a:txBody>
                    <a:bodyPr/>
                    <a:lstStyle/>
                    <a:p>
                      <a:pPr algn="l">
                        <a:defRPr sz="1500" b="1">
                          <a:solidFill>
                            <a:srgbClr val="25354A"/>
                          </a:solidFill>
                          <a:latin typeface="Calibri"/>
                        </a:defRPr>
                      </a:pPr>
                      <a:r>
                        <a:t>Saved experiment</a:t>
                      </a:r>
                    </a:p>
                  </a:txBody>
                  <a:tcPr marL="109728" marR="109728" marT="64008" marB="64008" anchor="ctr">
                    <a:solidFill>
                      <a:srgbClr val="EEF3FB"/>
                    </a:solidFill>
                  </a:tcPr>
                </a:tc>
                <a:tc>
                  <a:txBody>
                    <a:bodyPr/>
                    <a:lstStyle/>
                    <a:p>
                      <a:pPr algn="ctr">
                        <a:defRPr sz="1500" b="1">
                          <a:solidFill>
                            <a:srgbClr val="25354A"/>
                          </a:solidFill>
                          <a:latin typeface="Calibri"/>
                        </a:defRPr>
                      </a:pPr>
                      <a:r>
                        <a:t>Inputs</a:t>
                      </a:r>
                    </a:p>
                  </a:txBody>
                  <a:tcPr marL="109728" marR="109728" marT="64008" marB="64008" anchor="ctr">
                    <a:solidFill>
                      <a:srgbClr val="EEF3FB"/>
                    </a:solidFill>
                  </a:tcPr>
                </a:tc>
                <a:tc>
                  <a:txBody>
                    <a:bodyPr/>
                    <a:lstStyle/>
                    <a:p>
                      <a:pPr algn="ctr">
                        <a:defRPr sz="1500" b="1">
                          <a:solidFill>
                            <a:srgbClr val="25354A"/>
                          </a:solidFill>
                          <a:latin typeface="Calibri"/>
                        </a:defRPr>
                      </a:pPr>
                      <a:r>
                        <a:t>Accuracy (%)</a:t>
                      </a:r>
                    </a:p>
                  </a:txBody>
                  <a:tcPr marL="109728" marR="109728" marT="64008" marB="64008" anchor="ctr">
                    <a:solidFill>
                      <a:srgbClr val="EEF3FB"/>
                    </a:solidFill>
                  </a:tcPr>
                </a:tc>
                <a:tc>
                  <a:txBody>
                    <a:bodyPr/>
                    <a:lstStyle/>
                    <a:p>
                      <a:pPr algn="ctr">
                        <a:defRPr sz="1500" b="1">
                          <a:solidFill>
                            <a:srgbClr val="25354A"/>
                          </a:solidFill>
                          <a:latin typeface="Calibri"/>
                        </a:defRPr>
                      </a:pPr>
                      <a:r>
                        <a:t>Macro F1 (%)</a:t>
                      </a:r>
                    </a:p>
                  </a:txBody>
                  <a:tcPr marL="109728" marR="109728" marT="64008" marB="64008" anchor="ctr">
                    <a:solidFill>
                      <a:srgbClr val="EEF3FB"/>
                    </a:solidFill>
                  </a:tcPr>
                </a:tc>
              </a:tr>
              <a:tr h="365760">
                <a:tc>
                  <a:txBody>
                    <a:bodyPr/>
                    <a:lstStyle/>
                    <a:p>
                      <a:pPr algn="l">
                        <a:defRPr sz="1500" b="0">
                          <a:solidFill>
                            <a:srgbClr val="263343"/>
                          </a:solidFill>
                          <a:latin typeface="Calibri"/>
                        </a:defRPr>
                      </a:pPr>
                      <a:r>
                        <a:t>A · Qwen Base · sentence → label</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23.19</a:t>
                      </a:r>
                    </a:p>
                  </a:txBody>
                  <a:tcPr marL="109728" marR="109728" marT="64008" marB="64008" anchor="ctr">
                    <a:solidFill>
                      <a:srgbClr val="F8FAFC"/>
                    </a:solidFill>
                  </a:tcPr>
                </a:tc>
                <a:tc>
                  <a:txBody>
                    <a:bodyPr/>
                    <a:lstStyle/>
                    <a:p>
                      <a:pPr algn="ctr">
                        <a:defRPr sz="1500" b="0">
                          <a:solidFill>
                            <a:srgbClr val="263343"/>
                          </a:solidFill>
                          <a:latin typeface="Calibri"/>
                        </a:defRPr>
                      </a:pPr>
                      <a:r>
                        <a:t>14.21</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A · Qwen SFT · sentence → label</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93.84</a:t>
                      </a:r>
                    </a:p>
                  </a:txBody>
                  <a:tcPr marL="109728" marR="109728" marT="64008" marB="64008" anchor="ctr">
                    <a:solidFill>
                      <a:srgbClr val="FFFFFF"/>
                    </a:solidFill>
                  </a:tcPr>
                </a:tc>
                <a:tc>
                  <a:txBody>
                    <a:bodyPr/>
                    <a:lstStyle/>
                    <a:p>
                      <a:pPr algn="ctr">
                        <a:defRPr sz="1500" b="0">
                          <a:solidFill>
                            <a:srgbClr val="263343"/>
                          </a:solidFill>
                          <a:latin typeface="Calibri"/>
                        </a:defRPr>
                      </a:pPr>
                      <a:r>
                        <a:t>93.89</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C · Qwen Base · metadata → label</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 + metadata</a:t>
                      </a:r>
                    </a:p>
                  </a:txBody>
                  <a:tcPr marL="109728" marR="109728" marT="64008" marB="64008" anchor="ctr">
                    <a:solidFill>
                      <a:srgbClr val="F8FAFC"/>
                    </a:solidFill>
                  </a:tcPr>
                </a:tc>
                <a:tc>
                  <a:txBody>
                    <a:bodyPr/>
                    <a:lstStyle/>
                    <a:p>
                      <a:pPr algn="ctr">
                        <a:defRPr sz="1500" b="0">
                          <a:solidFill>
                            <a:srgbClr val="263343"/>
                          </a:solidFill>
                          <a:latin typeface="Calibri"/>
                        </a:defRPr>
                      </a:pPr>
                      <a:r>
                        <a:t>33.54</a:t>
                      </a:r>
                    </a:p>
                  </a:txBody>
                  <a:tcPr marL="109728" marR="109728" marT="64008" marB="64008" anchor="ctr">
                    <a:solidFill>
                      <a:srgbClr val="F8FAFC"/>
                    </a:solidFill>
                  </a:tcPr>
                </a:tc>
                <a:tc>
                  <a:txBody>
                    <a:bodyPr/>
                    <a:lstStyle/>
                    <a:p>
                      <a:pPr algn="ctr">
                        <a:defRPr sz="1500" b="0">
                          <a:solidFill>
                            <a:srgbClr val="263343"/>
                          </a:solidFill>
                          <a:latin typeface="Calibri"/>
                        </a:defRPr>
                      </a:pPr>
                      <a:r>
                        <a:t>27.63</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C · Qwen SFT · metadata → label</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 + metadata</a:t>
                      </a:r>
                    </a:p>
                  </a:txBody>
                  <a:tcPr marL="109728" marR="109728" marT="64008" marB="64008" anchor="ctr">
                    <a:solidFill>
                      <a:srgbClr val="FFFFFF"/>
                    </a:solidFill>
                  </a:tcPr>
                </a:tc>
                <a:tc>
                  <a:txBody>
                    <a:bodyPr/>
                    <a:lstStyle/>
                    <a:p>
                      <a:pPr algn="ctr">
                        <a:defRPr sz="1500" b="0">
                          <a:solidFill>
                            <a:srgbClr val="263343"/>
                          </a:solidFill>
                          <a:latin typeface="Calibri"/>
                        </a:defRPr>
                      </a:pPr>
                      <a:r>
                        <a:t>95.51</a:t>
                      </a:r>
                    </a:p>
                  </a:txBody>
                  <a:tcPr marL="109728" marR="109728" marT="64008" marB="64008" anchor="ctr">
                    <a:solidFill>
                      <a:srgbClr val="FFFFFF"/>
                    </a:solidFill>
                  </a:tcPr>
                </a:tc>
                <a:tc>
                  <a:txBody>
                    <a:bodyPr/>
                    <a:lstStyle/>
                    <a:p>
                      <a:pPr algn="ctr">
                        <a:defRPr sz="1500" b="0">
                          <a:solidFill>
                            <a:srgbClr val="263343"/>
                          </a:solidFill>
                          <a:latin typeface="Calibri"/>
                        </a:defRPr>
                      </a:pPr>
                      <a:r>
                        <a:t>95.55</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88.09</a:t>
                      </a:r>
                    </a:p>
                  </a:txBody>
                  <a:tcPr marL="109728" marR="109728" marT="64008" marB="64008" anchor="ctr">
                    <a:solidFill>
                      <a:srgbClr val="F8FAFC"/>
                    </a:solidFill>
                  </a:tcPr>
                </a:tc>
                <a:tc>
                  <a:txBody>
                    <a:bodyPr/>
                    <a:lstStyle/>
                    <a:p>
                      <a:pPr algn="ctr">
                        <a:defRPr sz="1500" b="0">
                          <a:solidFill>
                            <a:srgbClr val="263343"/>
                          </a:solidFill>
                          <a:latin typeface="Calibri"/>
                        </a:defRPr>
                      </a:pPr>
                      <a:r>
                        <a:t>88.20</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ModernBERT-base · original</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89.36</a:t>
                      </a:r>
                    </a:p>
                  </a:txBody>
                  <a:tcPr marL="109728" marR="109728" marT="64008" marB="64008" anchor="ctr">
                    <a:solidFill>
                      <a:srgbClr val="FFFFFF"/>
                    </a:solidFill>
                  </a:tcPr>
                </a:tc>
                <a:tc>
                  <a:txBody>
                    <a:bodyPr/>
                    <a:lstStyle/>
                    <a:p>
                      <a:pPr algn="ctr">
                        <a:defRPr sz="1500" b="0">
                          <a:solidFill>
                            <a:srgbClr val="263343"/>
                          </a:solidFill>
                          <a:latin typeface="Calibri"/>
                        </a:defRPr>
                      </a:pPr>
                      <a:r>
                        <a:t>89.43</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ModernBERT-base · retuned</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92.12</a:t>
                      </a:r>
                    </a:p>
                  </a:txBody>
                  <a:tcPr marL="109728" marR="109728" marT="64008" marB="64008" anchor="ctr">
                    <a:solidFill>
                      <a:srgbClr val="F8FAFC"/>
                    </a:solidFill>
                  </a:tcPr>
                </a:tc>
                <a:tc>
                  <a:txBody>
                    <a:bodyPr/>
                    <a:lstStyle/>
                    <a:p>
                      <a:pPr algn="ctr">
                        <a:defRPr sz="1500" b="0">
                          <a:solidFill>
                            <a:srgbClr val="263343"/>
                          </a:solidFill>
                          <a:latin typeface="Calibri"/>
                        </a:defRPr>
                      </a:pPr>
                      <a:r>
                        <a:t>92.18</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ModernBERT-large</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93.33</a:t>
                      </a:r>
                    </a:p>
                  </a:txBody>
                  <a:tcPr marL="109728" marR="109728" marT="64008" marB="64008" anchor="ctr">
                    <a:solidFill>
                      <a:srgbClr val="FFFFFF"/>
                    </a:solidFill>
                  </a:tcPr>
                </a:tc>
                <a:tc>
                  <a:txBody>
                    <a:bodyPr/>
                    <a:lstStyle/>
                    <a:p>
                      <a:pPr algn="ctr">
                        <a:defRPr sz="1500" b="0">
                          <a:solidFill>
                            <a:srgbClr val="263343"/>
                          </a:solidFill>
                          <a:latin typeface="Calibri"/>
                        </a:defRPr>
                      </a:pPr>
                      <a:r>
                        <a:t>93.39</a:t>
                      </a:r>
                    </a:p>
                  </a:txBody>
                  <a:tcPr marL="109728" marR="109728" marT="64008" marB="64008" anchor="ctr">
                    <a:solidFill>
                      <a:srgbClr val="FFFFFF"/>
                    </a:solidFill>
                  </a:tcPr>
                </a:tc>
              </a:tr>
            </a:tbl>
          </a:graphicData>
        </a:graphic>
      </p:graphicFrame>
      <p:sp>
        <p:nvSpPr>
          <p:cNvPr id="13" name="clara-claim:s29-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Metadata = gold Category + Target. These are distinct experiments/evaluations; inspect inputs before comparing scores.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0-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30</a:t>
            </a:r>
            <a:endParaRPr lang="en-US" sz="1600" dirty="0"/>
          </a:p>
        </p:txBody>
      </p:sp>
      <p:sp>
        <p:nvSpPr>
          <p:cNvPr id="11" name="clara-claim:s3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0-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A · Qwen Base · sentence → label</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15.07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32.03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20.50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28.39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78.72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41.73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4.25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0.38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0.75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0-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23.19%</a:t>
            </a:r>
          </a:p>
          <a:p>
            <a:pPr algn="l">
              <a:spcBef>
                <a:spcPts val="0"/>
              </a:spcBef>
              <a:spcAft>
                <a:spcPts val="500"/>
              </a:spcAft>
              <a:defRPr sz="1800" b="1">
                <a:solidFill>
                  <a:srgbClr val="263343"/>
                </a:solidFill>
                <a:latin typeface="Calibri"/>
              </a:defRPr>
            </a:pPr>
            <a:r>
              <a:t>Macro F1 14.21%</a:t>
            </a:r>
          </a:p>
        </p:txBody>
      </p:sp>
      <p:sp>
        <p:nvSpPr>
          <p:cNvPr id="15" name="clara-claim:s30-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A · Qwen SFT · sentence → label</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87.04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86.48</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89.50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87.97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98.23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97.11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99.19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98.14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98.47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0-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93.84%</a:t>
            </a:r>
          </a:p>
          <a:p>
            <a:pPr algn="l">
              <a:spcBef>
                <a:spcPts val="0"/>
              </a:spcBef>
              <a:spcAft>
                <a:spcPts val="500"/>
              </a:spcAft>
              <a:defRPr sz="1800" b="1">
                <a:solidFill>
                  <a:srgbClr val="263343"/>
                </a:solidFill>
                <a:latin typeface="Calibri"/>
              </a:defRPr>
            </a:pPr>
            <a:r>
              <a:t>Macro F1 93.89%</a:t>
            </a:r>
          </a:p>
        </p:txBody>
      </p:sp>
      <p:sp>
        <p:nvSpPr>
          <p:cNvPr id="18" name="clara-claim:s30-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1-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31</a:t>
            </a:r>
            <a:endParaRPr lang="en-US" sz="1600" dirty="0"/>
          </a:p>
        </p:txBody>
      </p:sp>
      <p:sp>
        <p:nvSpPr>
          <p:cNvPr id="11" name="clara-claim:s3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1-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C · Qwen Base · metadata → label</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21.00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39.83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27.50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30.15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70.85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42.30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47.75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64.64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2.27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3.70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1-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33.54%</a:t>
            </a:r>
          </a:p>
          <a:p>
            <a:pPr algn="l">
              <a:spcBef>
                <a:spcPts val="0"/>
              </a:spcBef>
              <a:spcAft>
                <a:spcPts val="500"/>
              </a:spcAft>
              <a:defRPr sz="1800" b="1">
                <a:solidFill>
                  <a:srgbClr val="263343"/>
                </a:solidFill>
                <a:latin typeface="Calibri"/>
              </a:defRPr>
            </a:pPr>
            <a:r>
              <a:t>Macro F1 27.63%</a:t>
            </a:r>
          </a:p>
        </p:txBody>
      </p:sp>
      <p:sp>
        <p:nvSpPr>
          <p:cNvPr id="15" name="clara-claim:s31-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C · Qwen SFT · metadata → label</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87.07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91.92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89.43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92.19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88.99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98.93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99.73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99.33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1-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95.51%</a:t>
            </a:r>
          </a:p>
          <a:p>
            <a:pPr algn="l">
              <a:spcBef>
                <a:spcPts val="0"/>
              </a:spcBef>
              <a:spcAft>
                <a:spcPts val="500"/>
              </a:spcAft>
              <a:defRPr sz="1800" b="1">
                <a:solidFill>
                  <a:srgbClr val="263343"/>
                </a:solidFill>
                <a:latin typeface="Calibri"/>
              </a:defRPr>
            </a:pPr>
            <a:r>
              <a:t>Macro F1 95.55%</a:t>
            </a:r>
          </a:p>
        </p:txBody>
      </p:sp>
      <p:sp>
        <p:nvSpPr>
          <p:cNvPr id="18" name="clara-claim:s31-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2-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32</a:t>
            </a:r>
            <a:endParaRPr lang="en-US" sz="1600" dirty="0"/>
          </a:p>
        </p:txBody>
      </p:sp>
      <p:sp>
        <p:nvSpPr>
          <p:cNvPr id="11" name="clara-claim:s3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2-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ALBERT-base-v2</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76.79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71.87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74.24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72.27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79.01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75.49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98.21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97.09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97.07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98.12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97.59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95.83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96.56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2-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88.09%</a:t>
            </a:r>
          </a:p>
          <a:p>
            <a:pPr algn="l">
              <a:spcBef>
                <a:spcPts val="0"/>
              </a:spcBef>
              <a:spcAft>
                <a:spcPts val="500"/>
              </a:spcAft>
              <a:defRPr sz="1800" b="1">
                <a:solidFill>
                  <a:srgbClr val="263343"/>
                </a:solidFill>
                <a:latin typeface="Calibri"/>
              </a:defRPr>
            </a:pPr>
            <a:r>
              <a:t>Macro F1 88.20%</a:t>
            </a:r>
          </a:p>
        </p:txBody>
      </p:sp>
      <p:sp>
        <p:nvSpPr>
          <p:cNvPr id="15" name="clara-claim:s32-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ModernBERT-large</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85.52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86.12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85.20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88.92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87.02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98.39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97.99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98.09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2-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93.33%</a:t>
            </a:r>
          </a:p>
          <a:p>
            <a:pPr algn="l">
              <a:spcBef>
                <a:spcPts val="0"/>
              </a:spcBef>
              <a:spcAft>
                <a:spcPts val="500"/>
              </a:spcAft>
              <a:defRPr sz="1800" b="1">
                <a:solidFill>
                  <a:srgbClr val="263343"/>
                </a:solidFill>
                <a:latin typeface="Calibri"/>
              </a:defRPr>
            </a:pPr>
            <a:r>
              <a:t>Macro F1 93.39%</a:t>
            </a:r>
          </a:p>
        </p:txBody>
      </p:sp>
      <p:sp>
        <p:nvSpPr>
          <p:cNvPr id="18" name="clara-claim:s32-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3-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33</a:t>
            </a:r>
            <a:endParaRPr lang="en-US" sz="1600" dirty="0"/>
          </a:p>
        </p:txBody>
      </p:sp>
      <p:sp>
        <p:nvSpPr>
          <p:cNvPr id="11" name="clara-claim:s3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3-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ModernBERT-base · original</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80.77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76.04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78.34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76.55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82.80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79.55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98.69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94.50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96.55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96.02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97.31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96.97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3-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89.36%</a:t>
            </a:r>
          </a:p>
          <a:p>
            <a:pPr algn="l">
              <a:spcBef>
                <a:spcPts val="0"/>
              </a:spcBef>
              <a:spcAft>
                <a:spcPts val="500"/>
              </a:spcAft>
              <a:defRPr sz="1800" b="1">
                <a:solidFill>
                  <a:srgbClr val="263343"/>
                </a:solidFill>
                <a:latin typeface="Calibri"/>
              </a:defRPr>
            </a:pPr>
            <a:r>
              <a:t>Macro F1 89.43%</a:t>
            </a:r>
          </a:p>
        </p:txBody>
      </p:sp>
      <p:sp>
        <p:nvSpPr>
          <p:cNvPr id="15" name="clara-claim:s33-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ModernBERT-base · retuned</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85.51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82.17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83.81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82.17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84.05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96.34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98.92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3-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92.12%</a:t>
            </a:r>
          </a:p>
          <a:p>
            <a:pPr algn="l">
              <a:spcBef>
                <a:spcPts val="0"/>
              </a:spcBef>
              <a:spcAft>
                <a:spcPts val="500"/>
              </a:spcAft>
              <a:defRPr sz="1800" b="1">
                <a:solidFill>
                  <a:srgbClr val="263343"/>
                </a:solidFill>
                <a:latin typeface="Calibri"/>
              </a:defRPr>
            </a:pPr>
            <a:r>
              <a:t>Macro F1 92.18%</a:t>
            </a:r>
          </a:p>
        </p:txBody>
      </p:sp>
      <p:sp>
        <p:nvSpPr>
          <p:cNvPr id="18" name="clara-claim:s33-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4-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34</a:t>
            </a:r>
            <a:endParaRPr lang="en-US" sz="1600" dirty="0"/>
          </a:p>
        </p:txBody>
      </p:sp>
      <p:sp>
        <p:nvSpPr>
          <p:cNvPr id="11" name="clara-claim:s3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category · Five normalized classes</a:t>
            </a:r>
          </a:p>
        </p:txBody>
      </p:sp>
      <p:sp>
        <p:nvSpPr>
          <p:cNvPr id="12" name="clara-claim:s34-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 · Qwen Base · JSON</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gender</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50.34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94.66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65.72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393</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race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94.17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53.43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profession</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73.68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4.61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607</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religion</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46.67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28.00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35</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46.37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62.48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bl>
          </a:graphicData>
        </a:graphic>
      </p:graphicFrame>
      <p:sp>
        <p:nvSpPr>
          <p:cNvPr id="14" name="clara-claim:s34-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51.96%</a:t>
            </a:r>
          </a:p>
          <a:p>
            <a:pPr algn="l">
              <a:spcBef>
                <a:spcPts val="0"/>
              </a:spcBef>
              <a:spcAft>
                <a:spcPts val="500"/>
              </a:spcAft>
              <a:defRPr sz="1800" b="1">
                <a:solidFill>
                  <a:srgbClr val="263343"/>
                </a:solidFill>
                <a:latin typeface="Calibri"/>
              </a:defRPr>
            </a:pPr>
            <a:r>
              <a:t>Macro F1 43.66%</a:t>
            </a:r>
          </a:p>
        </p:txBody>
      </p:sp>
      <p:sp>
        <p:nvSpPr>
          <p:cNvPr id="15" name="clara-claim:s34-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 · Qwen SFT · JSON</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gender</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393</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race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profession</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99.51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99.84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607</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religion</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35</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bl>
          </a:graphicData>
        </a:graphic>
      </p:graphicFrame>
      <p:sp>
        <p:nvSpPr>
          <p:cNvPr id="17" name="clara-claim:s34-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99.37%</a:t>
            </a:r>
          </a:p>
          <a:p>
            <a:pPr algn="l">
              <a:spcBef>
                <a:spcPts val="0"/>
              </a:spcBef>
              <a:spcAft>
                <a:spcPts val="500"/>
              </a:spcAft>
              <a:defRPr sz="1800" b="1">
                <a:solidFill>
                  <a:srgbClr val="263343"/>
                </a:solidFill>
                <a:latin typeface="Calibri"/>
              </a:defRPr>
            </a:pPr>
            <a:r>
              <a:t>Macro F1 99.48%</a:t>
            </a:r>
          </a:p>
        </p:txBody>
      </p:sp>
      <p:sp>
        <p:nvSpPr>
          <p:cNvPr id="18" name="clara-claim:s34-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Task B: only Sentence is input. Category, target and label are generated together by Base / SFT.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5-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35</a:t>
            </a:r>
            <a:endParaRPr lang="en-US" sz="1600" dirty="0"/>
          </a:p>
        </p:txBody>
      </p:sp>
      <p:sp>
        <p:nvSpPr>
          <p:cNvPr id="11" name="clara-claim:s3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Generated JSON · Label classification report</a:t>
            </a:r>
          </a:p>
        </p:txBody>
      </p:sp>
      <p:sp>
        <p:nvSpPr>
          <p:cNvPr id="12" name="clara-claim:s35-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 · Qwen Base · JSON</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3.29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19.57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18.66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19.10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54.73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88.25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67.56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44.00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17.74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25.29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18.03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41.67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25.17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5-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34.46%</a:t>
            </a:r>
          </a:p>
          <a:p>
            <a:pPr algn="l">
              <a:spcBef>
                <a:spcPts val="0"/>
              </a:spcBef>
              <a:spcAft>
                <a:spcPts val="500"/>
              </a:spcAft>
              <a:defRPr sz="1800" b="1">
                <a:solidFill>
                  <a:srgbClr val="263343"/>
                </a:solidFill>
                <a:latin typeface="Calibri"/>
              </a:defRPr>
            </a:pPr>
            <a:r>
              <a:t>Macro F1 28.08%</a:t>
            </a:r>
          </a:p>
        </p:txBody>
      </p:sp>
      <p:sp>
        <p:nvSpPr>
          <p:cNvPr id="15" name="clara-claim:s35-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 · Qwen SFT · JSON</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88.60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84.40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86.45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85.12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90.09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87.54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96.58</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99.61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96.21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97.88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5-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93.61%</a:t>
            </a:r>
          </a:p>
          <a:p>
            <a:pPr algn="l">
              <a:spcBef>
                <a:spcPts val="0"/>
              </a:spcBef>
              <a:spcAft>
                <a:spcPts val="500"/>
              </a:spcAft>
              <a:defRPr sz="1800" b="1">
                <a:solidFill>
                  <a:srgbClr val="263343"/>
                </a:solidFill>
                <a:latin typeface="Calibri"/>
              </a:defRPr>
            </a:pPr>
            <a:r>
              <a:t>Macro F1 93.64%</a:t>
            </a:r>
          </a:p>
        </p:txBody>
      </p:sp>
      <p:sp>
        <p:nvSpPr>
          <p:cNvPr id="18" name="clara-claim:s35-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This scores the label field from generated JSON; all-fields accuracy is a separate metric.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6-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36</a:t>
            </a:r>
            <a:endParaRPr lang="en-US" sz="1600" dirty="0"/>
          </a:p>
        </p:txBody>
      </p:sp>
      <p:sp>
        <p:nvSpPr>
          <p:cNvPr id="11" name="clara-claim:s3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Base · JSON · Exact target strings (1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Afghanistan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18.18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Afghanistanis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27.27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42.86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African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Africans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Arab</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Arabs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90.32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17</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14.75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Bengali</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Bengalis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Bisexual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Brahmin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Brahmins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94.12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Butchers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56.52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Chemists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Commanders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Crimean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Crimeans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52.38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20.83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34.48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14.29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Ethiopian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Ethiopians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47.22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62.96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Gay</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3.23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6.25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4.55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8.70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Grandfathers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17.65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Guitarists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15.79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27.27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Hispanic</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31.58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35.29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Hispanics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92.86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53.06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Historians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Japanese</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55.56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a:t>
                      </a:r>
                    </a:p>
                  </a:txBody>
                  <a:tcPr marL="41148" marR="41148" marT="20116" marB="20116" anchor="ctr">
                    <a:solidFill>
                      <a:srgbClr val="F8FAFC"/>
                    </a:solidFill>
                  </a:tcPr>
                </a:tc>
              </a:tr>
            </a:tbl>
          </a:graphicData>
        </a:graphic>
      </p:graphicFrame>
      <p:sp>
        <p:nvSpPr>
          <p:cNvPr id="14" name="clara-claim:s36-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7-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37</a:t>
            </a:r>
            <a:endParaRPr lang="en-US" sz="1600" dirty="0"/>
          </a:p>
        </p:txBody>
      </p:sp>
      <p:sp>
        <p:nvSpPr>
          <p:cNvPr id="11" name="clara-claim:s3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Base · JSON · Exact target strings (2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Lesbian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Lgbtq</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Males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35.71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52.63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Managers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Mathematicians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10.53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19.05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Mommies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Mothers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Muslim</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Muslims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Nb</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Pansexual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Performing_artists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Physicists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Politicians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4.35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Queer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Researchers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Russian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Russians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Schoolboys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Schoolgirls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72.73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Sisters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61.54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76.19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Software_developers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Spain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Spanish</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76.19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Transgender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Yemen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bl>
          </a:graphicData>
        </a:graphic>
      </p:graphicFrame>
      <p:sp>
        <p:nvSpPr>
          <p:cNvPr id="14" name="clara-claim:s37-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8-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38</a:t>
            </a:r>
            <a:endParaRPr lang="en-US" sz="1600" dirty="0"/>
          </a:p>
        </p:txBody>
      </p:sp>
      <p:sp>
        <p:nvSpPr>
          <p:cNvPr id="11" name="clara-claim:s3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Base · JSON · Exact target strings (3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Yemenis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30.77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47.06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butcher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chemist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commander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grandfather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guitarist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historian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male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manager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mathematician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mommy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209544"/>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mother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65.22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76.92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performing artist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physicist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46.15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63.16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politician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61.54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72.73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researcher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schoolboy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schoolgirl</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92.86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96.30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sister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software developer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54.55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bl>
          </a:graphicData>
        </a:graphic>
      </p:graphicFrame>
      <p:sp>
        <p:nvSpPr>
          <p:cNvPr id="14" name="clara-claim:s38-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9-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39</a:t>
            </a:r>
            <a:endParaRPr lang="en-US" sz="1600" dirty="0"/>
          </a:p>
        </p:txBody>
      </p:sp>
      <p:sp>
        <p:nvSpPr>
          <p:cNvPr id="11" name="clara-claim:s3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SFT · JSON · Exact target strings (1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Afghanistan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Afghanistanis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African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Africans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Arab</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Arabs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88.24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17</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Bengali</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Bengalis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94.74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Bisexual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Brahmin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Brahmins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Butchers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Chemists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Commanders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Crimean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Crimeans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96.77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98.36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Ethiopian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94.12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Ethiopians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97.30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98.63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Gay</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93.02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Grandfathers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Guitarists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Hispanic</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Hispanics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Historians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Japanese</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a:t>
                      </a:r>
                    </a:p>
                  </a:txBody>
                  <a:tcPr marL="41148" marR="41148" marT="20116" marB="20116" anchor="ctr">
                    <a:solidFill>
                      <a:srgbClr val="F8FAFC"/>
                    </a:solidFill>
                  </a:tcPr>
                </a:tc>
              </a:tr>
            </a:tbl>
          </a:graphicData>
        </a:graphic>
      </p:graphicFrame>
      <p:sp>
        <p:nvSpPr>
          <p:cNvPr id="14" name="clara-claim:s39-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0-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40</a:t>
            </a:r>
            <a:endParaRPr lang="en-US" sz="1600" dirty="0"/>
          </a:p>
        </p:txBody>
      </p:sp>
      <p:sp>
        <p:nvSpPr>
          <p:cNvPr id="11" name="clara-claim:s4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SFT · JSON · Exact target strings (2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Lesbian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Lgbtq</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Males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Managers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Mathematicians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90.48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Mommies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Mothers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Muslim</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Muslims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Nb</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Pansexual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Performing_artists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97.56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96.39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Physicists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Politicians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Queer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Researchers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93.02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Russian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Russians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Schoolboys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Schoolgirls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Sisters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76.92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86.96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Software_developers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98.18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Spain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Spanish</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Transgender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Yemen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bl>
          </a:graphicData>
        </a:graphic>
      </p:graphicFrame>
      <p:sp>
        <p:nvSpPr>
          <p:cNvPr id="14" name="clara-claim:s40-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1-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41</a:t>
            </a:r>
            <a:endParaRPr lang="en-US" sz="1600" dirty="0"/>
          </a:p>
        </p:txBody>
      </p:sp>
      <p:sp>
        <p:nvSpPr>
          <p:cNvPr id="11" name="clara-claim:s4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 · Qwen SFT · JSON · Exact target strings (3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Yemenis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butcher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chemist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commander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grandfather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guitarist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historian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male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manager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mathematician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mommy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209544"/>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mother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performing artist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physicist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politician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researcher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schoolboy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schoolgirl</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sister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software developer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bl>
          </a:graphicData>
        </a:graphic>
      </p:graphicFrame>
      <p:sp>
        <p:nvSpPr>
          <p:cNvPr id="14" name="clara-claim:s41-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2-t0"/>
          <p:cNvSpPr>
            <a:spLocks noGrp="1"/>
          </p:cNvSpPr>
          <p:nvPr>
            <p:ph type="title"/>
          </p:nvPr>
        </p:nvSpPr>
        <p:spPr/>
        <p:txBody>
          <a:bodyPr/>
          <a:lstStyle/>
          <a:p>
            <a:r>
              <a:t>Appendix · Report Coverage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42</a:t>
            </a:r>
            <a:endParaRPr lang="en-US" sz="1600" dirty="0"/>
          </a:p>
        </p:txBody>
      </p:sp>
      <p:sp>
        <p:nvSpPr>
          <p:cNvPr id="11" name="clara-claim:s4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Complete reports and diagnostic subsets are kept distinct</a:t>
            </a:r>
          </a:p>
        </p:txBody>
      </p:sp>
      <p:sp>
        <p:nvSpPr>
          <p:cNvPr id="12" name="Rounded Rectangle 11"/>
          <p:cNvSpPr/>
          <p:nvPr/>
        </p:nvSpPr>
        <p:spPr>
          <a:xfrm>
            <a:off x="932688" y="1956816"/>
            <a:ext cx="4992624" cy="3520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42-t6"/>
          <p:cNvSpPr txBox="1"/>
          <p:nvPr/>
        </p:nvSpPr>
        <p:spPr>
          <a:xfrm>
            <a:off x="1115568" y="2103120"/>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Canonical test appendix</a:t>
            </a:r>
          </a:p>
        </p:txBody>
      </p:sp>
      <p:sp>
        <p:nvSpPr>
          <p:cNvPr id="14" name="clara-claim:s42-t7"/>
          <p:cNvSpPr txBox="1"/>
          <p:nvPr/>
        </p:nvSpPr>
        <p:spPr>
          <a:xfrm>
            <a:off x="1115568" y="2679192"/>
            <a:ext cx="4626864" cy="267919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A / C: Base + SFT label reports</a:t>
            </a:r>
          </a:p>
          <a:p>
            <a:pPr algn="l">
              <a:spcBef>
                <a:spcPts val="0"/>
              </a:spcBef>
              <a:spcAft>
                <a:spcPts val="500"/>
              </a:spcAft>
              <a:defRPr sz="2100" b="0">
                <a:solidFill>
                  <a:srgbClr val="263343"/>
                </a:solidFill>
                <a:latin typeface="Calibri"/>
              </a:defRPr>
            </a:pPr>
            <a:r>
              <a:t>• B: Base + SFT JSON field reports</a:t>
            </a:r>
          </a:p>
          <a:p>
            <a:pPr algn="l">
              <a:spcBef>
                <a:spcPts val="0"/>
              </a:spcBef>
              <a:spcAft>
                <a:spcPts val="500"/>
              </a:spcAft>
              <a:defRPr sz="2100" b="0">
                <a:solidFill>
                  <a:srgbClr val="263343"/>
                </a:solidFill>
                <a:latin typeface="Calibri"/>
              </a:defRPr>
            </a:pPr>
            <a:r>
              <a:t>• 4 saved encoder runs</a:t>
            </a:r>
          </a:p>
          <a:p>
            <a:pPr algn="l">
              <a:spcBef>
                <a:spcPts val="0"/>
              </a:spcBef>
              <a:spcAft>
                <a:spcPts val="500"/>
              </a:spcAft>
              <a:defRPr sz="2100" b="0">
                <a:solidFill>
                  <a:srgbClr val="263343"/>
                </a:solidFill>
                <a:latin typeface="Calibri"/>
              </a:defRPr>
            </a:pPr>
            <a:r>
              <a:t>• All 87 exact target classes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One test evaluation per model/task.</a:t>
            </a:r>
          </a:p>
          <a:p>
            <a:pPr algn="l">
              <a:spcBef>
                <a:spcPts val="0"/>
              </a:spcBef>
              <a:spcAft>
                <a:spcPts val="500"/>
              </a:spcAft>
              <a:defRPr sz="2100" b="0">
                <a:solidFill>
                  <a:srgbClr val="263343"/>
                </a:solidFill>
                <a:latin typeface="Calibri"/>
              </a:defRPr>
            </a:pPr>
            <a:r>
              <a:t>SFT uses three separate LoRA adapters.</a:t>
            </a:r>
          </a:p>
        </p:txBody>
      </p:sp>
      <p:sp>
        <p:nvSpPr>
          <p:cNvPr id="15" name="Rounded Rectangle 14"/>
          <p:cNvSpPr/>
          <p:nvPr/>
        </p:nvSpPr>
        <p:spPr>
          <a:xfrm>
            <a:off x="6144768" y="1956816"/>
            <a:ext cx="5093208" cy="35204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42-t9"/>
          <p:cNvSpPr txBox="1"/>
          <p:nvPr/>
        </p:nvSpPr>
        <p:spPr>
          <a:xfrm>
            <a:off x="6327648" y="2103120"/>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Companion TXT files</a:t>
            </a:r>
          </a:p>
        </p:txBody>
      </p:sp>
      <p:sp>
        <p:nvSpPr>
          <p:cNvPr id="17" name="clara-claim:s42-t10"/>
          <p:cNvSpPr txBox="1"/>
          <p:nvPr/>
        </p:nvSpPr>
        <p:spPr>
          <a:xfrm>
            <a:off x="6327648" y="2679192"/>
            <a:ext cx="4727448" cy="267919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Earlier training-time evaluations, validation reports and partial diagnostics remain in the TXT files.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Repeated evaluations of an adapter are not additional models.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No model inference was rerun.</a:t>
            </a:r>
          </a:p>
        </p:txBody>
      </p:sp>
      <p:sp>
        <p:nvSpPr>
          <p:cNvPr id="18" name="clara-claim:s42-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Companions: all_label_only_classification_reports.txt and all_category_label_target_classification_reports.txt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2446</TotalTime>
  <Words>253</Words>
  <Application>Microsoft Macintosh PowerPoint</Application>
  <PresentationFormat>Widescreen</PresentationFormat>
  <Paragraphs>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BTP Title (as agreed upon by the Guide)</vt:lpstr>
      <vt:lpstr>Introduction</vt:lpstr>
      <vt:lpstr>Literature Review</vt:lpstr>
      <vt:lpstr>Motivation (Optional)</vt:lpstr>
      <vt:lpstr>Problem Statement</vt:lpstr>
      <vt:lpstr>Architecture</vt:lpstr>
      <vt:lpstr>Experimental Results</vt:lpstr>
      <vt:lpstr>Demonstration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StereoDetect — Updated BTP Review</dc:title>
  <dc:creator>StereoDetect Project Team</dc:creator>
  <cp:lastModifiedBy>Jeena Thomas</cp:lastModifiedBy>
  <cp:revision>286</cp:revision>
  <dcterms:created xsi:type="dcterms:W3CDTF">2021-08-20T07:15:07Z</dcterms:created>
  <dcterms:modified xsi:type="dcterms:W3CDTF">2026-09-24T08:22:39Z</dcterms:modified>
  <dc:subject>Sentence-only LoRA results, full classification reports and signed explanation color maps</dc:subject>
  <dc:description>Updated copy of the source-built institutional deck. Numeric results and word scores come from saved artifacts.</dc:description>
</cp:coreProperties>
</file>